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61" r:id="rId2"/>
    <p:sldId id="296" r:id="rId3"/>
    <p:sldId id="350" r:id="rId4"/>
    <p:sldId id="337" r:id="rId5"/>
    <p:sldId id="359" r:id="rId6"/>
    <p:sldId id="351" r:id="rId7"/>
    <p:sldId id="341" r:id="rId8"/>
    <p:sldId id="333" r:id="rId9"/>
    <p:sldId id="344" r:id="rId10"/>
    <p:sldId id="360" r:id="rId11"/>
    <p:sldId id="334" r:id="rId12"/>
    <p:sldId id="352" r:id="rId13"/>
    <p:sldId id="339" r:id="rId14"/>
    <p:sldId id="365" r:id="rId15"/>
    <p:sldId id="364" r:id="rId16"/>
    <p:sldId id="366" r:id="rId17"/>
    <p:sldId id="368" r:id="rId18"/>
    <p:sldId id="376" r:id="rId19"/>
    <p:sldId id="353" r:id="rId20"/>
    <p:sldId id="343" r:id="rId21"/>
    <p:sldId id="370" r:id="rId22"/>
    <p:sldId id="371" r:id="rId23"/>
    <p:sldId id="372" r:id="rId24"/>
    <p:sldId id="373" r:id="rId25"/>
    <p:sldId id="377" r:id="rId26"/>
    <p:sldId id="379" r:id="rId27"/>
    <p:sldId id="380" r:id="rId28"/>
    <p:sldId id="383" r:id="rId29"/>
    <p:sldId id="354" r:id="rId30"/>
    <p:sldId id="340" r:id="rId31"/>
    <p:sldId id="346" r:id="rId32"/>
    <p:sldId id="375" r:id="rId33"/>
    <p:sldId id="318" r:id="rId34"/>
  </p:sldIdLst>
  <p:sldSz cx="12192000" cy="6858000"/>
  <p:notesSz cx="6858000" cy="9144000"/>
  <p:custDataLst>
    <p:tags r:id="rId36"/>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703" userDrawn="1">
          <p15:clr>
            <a:srgbClr val="A4A3A4"/>
          </p15:clr>
        </p15:guide>
        <p15:guide id="2" orient="horz" pos="2024" userDrawn="1">
          <p15:clr>
            <a:srgbClr val="A4A3A4"/>
          </p15:clr>
        </p15:guide>
        <p15:guide id="3" pos="1060" userDrawn="1">
          <p15:clr>
            <a:srgbClr val="A4A3A4"/>
          </p15:clr>
        </p15:guide>
        <p15:guide id="4" pos="62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A8EF2"/>
    <a:srgbClr val="DAF3F3"/>
    <a:srgbClr val="D9571D"/>
    <a:srgbClr val="F05F06"/>
    <a:srgbClr val="4A66AC"/>
    <a:srgbClr val="FF9999"/>
    <a:srgbClr val="FFCCCC"/>
    <a:srgbClr val="D5E8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40"/>
    <p:restoredTop sz="84289" autoAdjust="0"/>
  </p:normalViewPr>
  <p:slideViewPr>
    <p:cSldViewPr snapToGrid="0" showGuides="1">
      <p:cViewPr varScale="1">
        <p:scale>
          <a:sx n="73" d="100"/>
          <a:sy n="73" d="100"/>
        </p:scale>
        <p:origin x="490" y="58"/>
      </p:cViewPr>
      <p:guideLst>
        <p:guide orient="horz" pos="703"/>
        <p:guide orient="horz" pos="2024"/>
        <p:guide pos="1060"/>
        <p:guide pos="6207"/>
      </p:guideLst>
    </p:cSldViewPr>
  </p:slideViewPr>
  <p:notesTextViewPr>
    <p:cViewPr>
      <p:scale>
        <a:sx n="100" d="100"/>
        <a:sy n="100" d="100"/>
      </p:scale>
      <p:origin x="0" y="0"/>
    </p:cViewPr>
  </p:notesTextViewPr>
  <p:sorterViewPr showFormatting="0">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9A0DE60-D8C0-438A-8D87-DC1DC95125F3}" type="doc">
      <dgm:prSet loTypeId="urn:microsoft.com/office/officeart/2005/8/layout/vList2#1" loCatId="list" qsTypeId="urn:microsoft.com/office/officeart/2005/8/quickstyle/simple1#1" qsCatId="simple" csTypeId="urn:microsoft.com/office/officeart/2005/8/colors/accent1_2#1" csCatId="accent1" phldr="1"/>
      <dgm:spPr/>
      <dgm:t>
        <a:bodyPr/>
        <a:lstStyle/>
        <a:p>
          <a:endParaRPr lang="zh-CN" altLang="en-US"/>
        </a:p>
      </dgm:t>
    </dgm:pt>
    <dgm:pt modelId="{00A32C13-0410-4AC1-B68E-44D562A456B4}">
      <dgm:prSet phldrT="[文本]" phldr="0" custT="1"/>
      <dgm:spPr>
        <a:solidFill>
          <a:schemeClr val="accent1">
            <a:lumMod val="60000"/>
            <a:lumOff val="40000"/>
          </a:schemeClr>
        </a:solidFill>
      </dgm:spPr>
      <dgm:t>
        <a:bodyPr vert="horz" wrap="square"/>
        <a:lstStyle/>
        <a:p>
          <a:pPr>
            <a:lnSpc>
              <a:spcPct val="100000"/>
            </a:lnSpc>
            <a:spcBef>
              <a:spcPct val="0"/>
            </a:spcBef>
            <a:spcAft>
              <a:spcPct val="35000"/>
            </a:spcAft>
          </a:pPr>
          <a:r>
            <a:rPr lang="zh-CN" altLang="en-US" sz="1800" dirty="0" smtClean="0">
              <a:solidFill>
                <a:schemeClr val="tx1"/>
              </a:solidFill>
              <a:latin typeface="微软雅黑" panose="020B0503020204020204" pitchFamily="34" charset="-122"/>
              <a:ea typeface="微软雅黑" panose="020B0503020204020204" pitchFamily="34" charset="-122"/>
            </a:rPr>
            <a:t>聚合商内部风险</a:t>
          </a:r>
          <a:endParaRPr lang="zh-CN" altLang="en-US" sz="1800" dirty="0">
            <a:solidFill>
              <a:schemeClr val="tx1"/>
            </a:solidFill>
            <a:latin typeface="微软雅黑" panose="020B0503020204020204" pitchFamily="34" charset="-122"/>
            <a:ea typeface="微软雅黑" panose="020B0503020204020204" pitchFamily="34" charset="-122"/>
          </a:endParaRPr>
        </a:p>
      </dgm:t>
    </dgm:pt>
    <dgm:pt modelId="{A89C5F8A-A729-4C19-B5B7-A50740B66467}" type="parTrans" cxnId="{31803935-B162-457B-92F4-F35D131C311A}">
      <dgm:prSet/>
      <dgm:spPr/>
      <dgm:t>
        <a:bodyPr/>
        <a:lstStyle/>
        <a:p>
          <a:endParaRPr lang="zh-CN" altLang="en-US"/>
        </a:p>
      </dgm:t>
    </dgm:pt>
    <dgm:pt modelId="{8B0D1A02-9702-4C9A-AB58-8CB4465A7647}" type="sibTrans" cxnId="{31803935-B162-457B-92F4-F35D131C311A}">
      <dgm:prSet/>
      <dgm:spPr/>
      <dgm:t>
        <a:bodyPr/>
        <a:lstStyle/>
        <a:p>
          <a:endParaRPr lang="zh-CN" altLang="en-US"/>
        </a:p>
      </dgm:t>
    </dgm:pt>
    <dgm:pt modelId="{A62B85D4-FAFE-43B9-BA5C-35433D734B83}">
      <dgm:prSet phldrT="[文本]" phldr="0" custT="1"/>
      <dgm:spPr/>
      <dgm:t>
        <a:bodyPr vert="horz" wrap="square"/>
        <a:lstStyle/>
        <a:p>
          <a:pPr>
            <a:lnSpc>
              <a:spcPct val="100000"/>
            </a:lnSpc>
            <a:spcBef>
              <a:spcPct val="0"/>
            </a:spcBef>
            <a:spcAft>
              <a:spcPct val="20000"/>
            </a:spcAft>
          </a:pPr>
          <a:r>
            <a:rPr lang="zh-CN" altLang="en-US" sz="1400" dirty="0" smtClean="0">
              <a:latin typeface="微软雅黑" panose="020B0503020204020204" pitchFamily="34" charset="-122"/>
              <a:ea typeface="微软雅黑" panose="020B0503020204020204" pitchFamily="34" charset="-122"/>
            </a:rPr>
            <a:t>聚合商整合的响应资源十分庞杂，在聚合商运营过程中，部分资源存在一定不确定性无法正常响应，导致聚合商遭遇内部风险损失。</a:t>
          </a:r>
          <a:endParaRPr lang="zh-CN" altLang="en-US" sz="1400" dirty="0">
            <a:latin typeface="微软雅黑" panose="020B0503020204020204" pitchFamily="34" charset="-122"/>
            <a:ea typeface="微软雅黑" panose="020B0503020204020204" pitchFamily="34" charset="-122"/>
          </a:endParaRPr>
        </a:p>
      </dgm:t>
    </dgm:pt>
    <dgm:pt modelId="{D0808EC4-0B77-440E-8F3C-839752F03FA5}" type="parTrans" cxnId="{31A5E324-3BAD-46BF-8C1E-AB03E6AC582E}">
      <dgm:prSet/>
      <dgm:spPr/>
      <dgm:t>
        <a:bodyPr/>
        <a:lstStyle/>
        <a:p>
          <a:endParaRPr lang="zh-CN" altLang="en-US"/>
        </a:p>
      </dgm:t>
    </dgm:pt>
    <dgm:pt modelId="{64C0686A-45C1-4551-BDE8-CEA6FD1C07E3}" type="sibTrans" cxnId="{31A5E324-3BAD-46BF-8C1E-AB03E6AC582E}">
      <dgm:prSet/>
      <dgm:spPr/>
      <dgm:t>
        <a:bodyPr/>
        <a:lstStyle/>
        <a:p>
          <a:endParaRPr lang="zh-CN" altLang="en-US"/>
        </a:p>
      </dgm:t>
    </dgm:pt>
    <dgm:pt modelId="{102A6AD4-BD73-49CF-B86B-C8B53AD3A032}">
      <dgm:prSet phldrT="[文本]" phldr="0" custT="1"/>
      <dgm:spPr>
        <a:solidFill>
          <a:schemeClr val="accent1">
            <a:lumMod val="60000"/>
            <a:lumOff val="40000"/>
          </a:schemeClr>
        </a:solidFill>
      </dgm:spPr>
      <dgm:t>
        <a:bodyPr vert="horz" wrap="square"/>
        <a:lstStyle/>
        <a:p>
          <a:pPr>
            <a:lnSpc>
              <a:spcPct val="100000"/>
            </a:lnSpc>
            <a:spcBef>
              <a:spcPct val="0"/>
            </a:spcBef>
            <a:spcAft>
              <a:spcPct val="35000"/>
            </a:spcAft>
          </a:pPr>
          <a:r>
            <a:rPr lang="zh-CN" altLang="en-US" sz="1800" dirty="0" smtClean="0">
              <a:solidFill>
                <a:schemeClr val="tx1"/>
              </a:solidFill>
              <a:latin typeface="微软雅黑" panose="020B0503020204020204" pitchFamily="34" charset="-122"/>
              <a:ea typeface="微软雅黑" panose="020B0503020204020204" pitchFamily="34" charset="-122"/>
            </a:rPr>
            <a:t>聚合商外部风险</a:t>
          </a:r>
          <a:endParaRPr lang="zh-CN" altLang="en-US" sz="1800" dirty="0">
            <a:solidFill>
              <a:schemeClr val="tx1"/>
            </a:solidFill>
            <a:latin typeface="微软雅黑" panose="020B0503020204020204" pitchFamily="34" charset="-122"/>
            <a:ea typeface="微软雅黑" panose="020B0503020204020204" pitchFamily="34" charset="-122"/>
          </a:endParaRPr>
        </a:p>
      </dgm:t>
    </dgm:pt>
    <dgm:pt modelId="{9FE4BC39-3DF0-4656-95E4-9D6A13950D71}" type="parTrans" cxnId="{94E98952-9D9B-4696-8585-E97A0A578EB3}">
      <dgm:prSet/>
      <dgm:spPr/>
      <dgm:t>
        <a:bodyPr/>
        <a:lstStyle/>
        <a:p>
          <a:endParaRPr lang="zh-CN" altLang="en-US"/>
        </a:p>
      </dgm:t>
    </dgm:pt>
    <dgm:pt modelId="{ACE34592-AA48-4C08-A29B-7D5655F5FF82}" type="sibTrans" cxnId="{94E98952-9D9B-4696-8585-E97A0A578EB3}">
      <dgm:prSet/>
      <dgm:spPr/>
      <dgm:t>
        <a:bodyPr/>
        <a:lstStyle/>
        <a:p>
          <a:endParaRPr lang="zh-CN" altLang="en-US"/>
        </a:p>
      </dgm:t>
    </dgm:pt>
    <dgm:pt modelId="{31A6FA2A-113D-4C1F-90EA-8A7778289DE3}">
      <dgm:prSet phldrT="[文本]" phldr="0" custT="1"/>
      <dgm:spPr/>
      <dgm:t>
        <a:bodyPr vert="horz" wrap="square"/>
        <a:lstStyle/>
        <a:p>
          <a:pPr>
            <a:lnSpc>
              <a:spcPct val="100000"/>
            </a:lnSpc>
            <a:spcBef>
              <a:spcPct val="0"/>
            </a:spcBef>
            <a:spcAft>
              <a:spcPct val="20000"/>
            </a:spcAft>
          </a:pPr>
          <a:r>
            <a:rPr lang="zh-CN" altLang="en-US" sz="1400" dirty="0" smtClean="0">
              <a:latin typeface="微软雅黑" panose="020B0503020204020204" pitchFamily="34" charset="-122"/>
              <a:ea typeface="微软雅黑" panose="020B0503020204020204" pitchFamily="34" charset="-122"/>
            </a:rPr>
            <a:t>聚合商的需求侧缺乏防御方法和手段，导致存在许多漏洞可以被攻击者用来进行虚假数据注入攻击以实现其恶意目的。</a:t>
          </a:r>
          <a:endParaRPr lang="zh-CN" altLang="en-US" sz="1400" dirty="0">
            <a:latin typeface="微软雅黑" panose="020B0503020204020204" pitchFamily="34" charset="-122"/>
            <a:ea typeface="微软雅黑" panose="020B0503020204020204" pitchFamily="34" charset="-122"/>
          </a:endParaRPr>
        </a:p>
      </dgm:t>
    </dgm:pt>
    <dgm:pt modelId="{1C13D38A-27D1-49B0-BA35-E2B8F2D0A04C}" type="parTrans" cxnId="{5A4855B5-7D30-4AEC-9685-C4AEFCAB8A9B}">
      <dgm:prSet/>
      <dgm:spPr/>
      <dgm:t>
        <a:bodyPr/>
        <a:lstStyle/>
        <a:p>
          <a:endParaRPr lang="zh-CN" altLang="en-US"/>
        </a:p>
      </dgm:t>
    </dgm:pt>
    <dgm:pt modelId="{BED60D9E-706A-4D76-A9BA-F46B36A6925F}" type="sibTrans" cxnId="{5A4855B5-7D30-4AEC-9685-C4AEFCAB8A9B}">
      <dgm:prSet/>
      <dgm:spPr/>
      <dgm:t>
        <a:bodyPr/>
        <a:lstStyle/>
        <a:p>
          <a:endParaRPr lang="zh-CN" altLang="en-US"/>
        </a:p>
      </dgm:t>
    </dgm:pt>
    <dgm:pt modelId="{10CC3019-2028-4307-8DA8-1F00E40A7D05}">
      <dgm:prSet phldrT="[文本]" phldr="0" custT="1"/>
      <dgm:spPr>
        <a:solidFill>
          <a:schemeClr val="accent1">
            <a:lumMod val="60000"/>
            <a:lumOff val="40000"/>
          </a:schemeClr>
        </a:solidFill>
      </dgm:spPr>
      <dgm:t>
        <a:bodyPr vert="horz" wrap="square"/>
        <a:lstStyle/>
        <a:p>
          <a:pPr>
            <a:lnSpc>
              <a:spcPct val="100000"/>
            </a:lnSpc>
            <a:spcBef>
              <a:spcPct val="0"/>
            </a:spcBef>
            <a:spcAft>
              <a:spcPct val="35000"/>
            </a:spcAft>
          </a:pPr>
          <a:r>
            <a:rPr lang="en-US" altLang="zh-CN" sz="18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MECPS</a:t>
          </a:r>
          <a:r>
            <a:rPr lang="zh-CN" altLang="en-US" sz="18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经济调度</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dgm:t>
    </dgm:pt>
    <dgm:pt modelId="{17C1316C-CBC1-466B-B01D-32149569DA53}" type="parTrans" cxnId="{9679A551-F8EA-4466-90FC-D900DCC4D337}">
      <dgm:prSet/>
      <dgm:spPr/>
      <dgm:t>
        <a:bodyPr/>
        <a:lstStyle/>
        <a:p>
          <a:endParaRPr lang="zh-CN" altLang="en-US"/>
        </a:p>
      </dgm:t>
    </dgm:pt>
    <dgm:pt modelId="{894EAFEF-0E90-46B7-80ED-40C5D9895BC7}" type="sibTrans" cxnId="{9679A551-F8EA-4466-90FC-D900DCC4D337}">
      <dgm:prSet/>
      <dgm:spPr/>
      <dgm:t>
        <a:bodyPr/>
        <a:lstStyle/>
        <a:p>
          <a:endParaRPr lang="zh-CN" altLang="en-US"/>
        </a:p>
      </dgm:t>
    </dgm:pt>
    <dgm:pt modelId="{704B15D5-AE30-4499-A18A-9BF08481E0EF}">
      <dgm:prSet phldrT="[文本]" phldr="0" custT="1"/>
      <dgm:spPr/>
      <dgm:t>
        <a:bodyPr vert="horz" wrap="square"/>
        <a:lstStyle/>
        <a:p>
          <a:pPr>
            <a:lnSpc>
              <a:spcPct val="100000"/>
            </a:lnSpc>
            <a:spcBef>
              <a:spcPct val="0"/>
            </a:spcBef>
            <a:spcAft>
              <a:spcPct val="20000"/>
            </a:spcAft>
          </a:pPr>
          <a:r>
            <a:rPr lang="zh-CN" altLang="en-US" sz="1400" dirty="0" smtClean="0">
              <a:latin typeface="微软雅黑" panose="020B0503020204020204" pitchFamily="34" charset="-122"/>
              <a:ea typeface="微软雅黑" panose="020B0503020204020204" pitchFamily="34" charset="-122"/>
            </a:rPr>
            <a:t>经济调度作为多能信息物理系统运行中的一个重要问题，在解决复杂的系统调度问题上，分布式优化方法具有鲁棒性和扩展性的优势。</a:t>
          </a:r>
          <a:endParaRPr lang="zh-CN" altLang="en-US" sz="1400" dirty="0">
            <a:latin typeface="微软雅黑" panose="020B0503020204020204" pitchFamily="34" charset="-122"/>
            <a:ea typeface="微软雅黑" panose="020B0503020204020204" pitchFamily="34" charset="-122"/>
          </a:endParaRPr>
        </a:p>
      </dgm:t>
    </dgm:pt>
    <dgm:pt modelId="{BB37132B-2D2D-4C38-BE8D-EB49F2FAAFD2}" type="parTrans" cxnId="{2AB2A653-E028-4B8F-B972-7BE623493E8C}">
      <dgm:prSet/>
      <dgm:spPr/>
      <dgm:t>
        <a:bodyPr/>
        <a:lstStyle/>
        <a:p>
          <a:endParaRPr lang="zh-CN" altLang="en-US"/>
        </a:p>
      </dgm:t>
    </dgm:pt>
    <dgm:pt modelId="{B8A92226-F80E-417F-A7FA-9D9DA9C78AE9}" type="sibTrans" cxnId="{2AB2A653-E028-4B8F-B972-7BE623493E8C}">
      <dgm:prSet/>
      <dgm:spPr/>
      <dgm:t>
        <a:bodyPr/>
        <a:lstStyle/>
        <a:p>
          <a:endParaRPr lang="zh-CN" altLang="en-US"/>
        </a:p>
      </dgm:t>
    </dgm:pt>
    <dgm:pt modelId="{D82269CE-1D07-44D2-92DC-8483B5491A09}">
      <dgm:prSet phldrT="[文本]" phldr="0" custT="1"/>
      <dgm:spPr>
        <a:solidFill>
          <a:schemeClr val="accent1">
            <a:lumMod val="60000"/>
            <a:lumOff val="40000"/>
          </a:schemeClr>
        </a:solidFill>
      </dgm:spPr>
      <dgm:t>
        <a:bodyPr vert="horz" wrap="square"/>
        <a:lstStyle/>
        <a:p>
          <a:pPr>
            <a:lnSpc>
              <a:spcPct val="100000"/>
            </a:lnSpc>
            <a:spcBef>
              <a:spcPct val="0"/>
            </a:spcBef>
            <a:spcAft>
              <a:spcPct val="35000"/>
            </a:spcAft>
          </a:pPr>
          <a:r>
            <a:rPr lang="zh-CN" altLang="en-US" sz="1800" dirty="0" smtClean="0">
              <a:solidFill>
                <a:schemeClr val="tx1"/>
              </a:solidFill>
              <a:latin typeface="微软雅黑" panose="020B0503020204020204" pitchFamily="34" charset="-122"/>
              <a:ea typeface="微软雅黑" panose="020B0503020204020204" pitchFamily="34" charset="-122"/>
            </a:rPr>
            <a:t>隐私保护</a:t>
          </a:r>
          <a:endParaRPr lang="zh-CN" altLang="en-US" sz="1800" dirty="0">
            <a:solidFill>
              <a:schemeClr val="tx1"/>
            </a:solidFill>
            <a:latin typeface="微软雅黑" panose="020B0503020204020204" pitchFamily="34" charset="-122"/>
            <a:ea typeface="微软雅黑" panose="020B0503020204020204" pitchFamily="34" charset="-122"/>
          </a:endParaRPr>
        </a:p>
      </dgm:t>
    </dgm:pt>
    <dgm:pt modelId="{ED08D8F8-F764-4402-8B18-7BB7108D8E57}" type="parTrans" cxnId="{66053615-7F96-4CE2-88F4-9AB0FA91FE00}">
      <dgm:prSet/>
      <dgm:spPr/>
      <dgm:t>
        <a:bodyPr/>
        <a:lstStyle/>
        <a:p>
          <a:endParaRPr lang="zh-CN" altLang="en-US"/>
        </a:p>
      </dgm:t>
    </dgm:pt>
    <dgm:pt modelId="{321F4438-2AE3-473D-944C-82BA81EF719C}" type="sibTrans" cxnId="{66053615-7F96-4CE2-88F4-9AB0FA91FE00}">
      <dgm:prSet/>
      <dgm:spPr/>
      <dgm:t>
        <a:bodyPr/>
        <a:lstStyle/>
        <a:p>
          <a:endParaRPr lang="zh-CN" altLang="en-US"/>
        </a:p>
      </dgm:t>
    </dgm:pt>
    <dgm:pt modelId="{60D59CC7-DD71-4036-B6DD-F800BDB81C0D}">
      <dgm:prSet phldrT="[文本]" phldr="0" custT="1"/>
      <dgm:spPr/>
      <dgm:t>
        <a:bodyPr vert="horz" wrap="square"/>
        <a:lstStyle/>
        <a:p>
          <a:pPr>
            <a:lnSpc>
              <a:spcPct val="100000"/>
            </a:lnSpc>
            <a:spcBef>
              <a:spcPct val="0"/>
            </a:spcBef>
            <a:spcAft>
              <a:spcPct val="20000"/>
            </a:spcAft>
          </a:pPr>
          <a:r>
            <a:rPr lang="zh-CN" altLang="en-US" sz="1400" dirty="0" smtClean="0">
              <a:latin typeface="微软雅黑" panose="020B0503020204020204" pitchFamily="34" charset="-122"/>
              <a:ea typeface="微软雅黑" panose="020B0503020204020204" pitchFamily="34" charset="-122"/>
            </a:rPr>
            <a:t>多智能体系统的隐私信息在传递过程大多缺少保护，这会导致网络攻击者通过窃取多智能体系统中的关键隐私信息，然后进行攻击准备或者直接发动攻击。</a:t>
          </a:r>
          <a:endParaRPr lang="zh-CN" altLang="en-US" sz="1400" dirty="0">
            <a:latin typeface="微软雅黑" panose="020B0503020204020204" pitchFamily="34" charset="-122"/>
            <a:ea typeface="微软雅黑" panose="020B0503020204020204" pitchFamily="34" charset="-122"/>
          </a:endParaRPr>
        </a:p>
      </dgm:t>
    </dgm:pt>
    <dgm:pt modelId="{A2B46843-E80A-4DDD-B9D0-660AC06B3221}" type="parTrans" cxnId="{E5489DD4-3D0C-442D-A1E1-C479122596B1}">
      <dgm:prSet/>
      <dgm:spPr/>
      <dgm:t>
        <a:bodyPr/>
        <a:lstStyle/>
        <a:p>
          <a:endParaRPr lang="zh-CN" altLang="en-US"/>
        </a:p>
      </dgm:t>
    </dgm:pt>
    <dgm:pt modelId="{48B822D1-1B49-41CA-AD3C-8E3301370444}" type="sibTrans" cxnId="{E5489DD4-3D0C-442D-A1E1-C479122596B1}">
      <dgm:prSet/>
      <dgm:spPr/>
      <dgm:t>
        <a:bodyPr/>
        <a:lstStyle/>
        <a:p>
          <a:endParaRPr lang="zh-CN" altLang="en-US"/>
        </a:p>
      </dgm:t>
    </dgm:pt>
    <dgm:pt modelId="{D13B7277-1BD7-46F8-928E-51D0167477F1}" type="pres">
      <dgm:prSet presAssocID="{C9A0DE60-D8C0-438A-8D87-DC1DC95125F3}" presName="linear" presStyleCnt="0">
        <dgm:presLayoutVars>
          <dgm:animLvl val="lvl"/>
          <dgm:resizeHandles val="exact"/>
        </dgm:presLayoutVars>
      </dgm:prSet>
      <dgm:spPr/>
      <dgm:t>
        <a:bodyPr/>
        <a:lstStyle/>
        <a:p>
          <a:endParaRPr lang="zh-CN" altLang="en-US"/>
        </a:p>
      </dgm:t>
    </dgm:pt>
    <dgm:pt modelId="{4DE5FC07-637A-49A3-BD13-F95330F93EB9}" type="pres">
      <dgm:prSet presAssocID="{00A32C13-0410-4AC1-B68E-44D562A456B4}" presName="parentText" presStyleLbl="node1" presStyleIdx="0" presStyleCnt="4" custScaleY="37130">
        <dgm:presLayoutVars>
          <dgm:chMax val="0"/>
          <dgm:bulletEnabled val="1"/>
        </dgm:presLayoutVars>
      </dgm:prSet>
      <dgm:spPr/>
      <dgm:t>
        <a:bodyPr/>
        <a:lstStyle/>
        <a:p>
          <a:endParaRPr lang="zh-CN" altLang="en-US"/>
        </a:p>
      </dgm:t>
    </dgm:pt>
    <dgm:pt modelId="{76B7974E-40FE-4DDF-A5A1-7BECB56353FE}" type="pres">
      <dgm:prSet presAssocID="{00A32C13-0410-4AC1-B68E-44D562A456B4}" presName="childText" presStyleLbl="revTx" presStyleIdx="0" presStyleCnt="4">
        <dgm:presLayoutVars>
          <dgm:bulletEnabled val="1"/>
        </dgm:presLayoutVars>
      </dgm:prSet>
      <dgm:spPr/>
      <dgm:t>
        <a:bodyPr/>
        <a:lstStyle/>
        <a:p>
          <a:endParaRPr lang="zh-CN" altLang="en-US"/>
        </a:p>
      </dgm:t>
    </dgm:pt>
    <dgm:pt modelId="{E51BA0BC-1785-4B0A-BC18-191651F5C3ED}" type="pres">
      <dgm:prSet presAssocID="{102A6AD4-BD73-49CF-B86B-C8B53AD3A032}" presName="parentText" presStyleLbl="node1" presStyleIdx="1" presStyleCnt="4" custScaleY="32971" custLinFactNeighborY="-795">
        <dgm:presLayoutVars>
          <dgm:chMax val="0"/>
          <dgm:bulletEnabled val="1"/>
        </dgm:presLayoutVars>
      </dgm:prSet>
      <dgm:spPr/>
      <dgm:t>
        <a:bodyPr/>
        <a:lstStyle/>
        <a:p>
          <a:endParaRPr lang="zh-CN" altLang="en-US"/>
        </a:p>
      </dgm:t>
    </dgm:pt>
    <dgm:pt modelId="{2F8566A8-C095-417A-8698-D7AE3358DB3D}" type="pres">
      <dgm:prSet presAssocID="{102A6AD4-BD73-49CF-B86B-C8B53AD3A032}" presName="childText" presStyleLbl="revTx" presStyleIdx="1" presStyleCnt="4" custLinFactNeighborY="3918">
        <dgm:presLayoutVars>
          <dgm:bulletEnabled val="1"/>
        </dgm:presLayoutVars>
      </dgm:prSet>
      <dgm:spPr/>
      <dgm:t>
        <a:bodyPr/>
        <a:lstStyle/>
        <a:p>
          <a:endParaRPr lang="zh-CN" altLang="en-US"/>
        </a:p>
      </dgm:t>
    </dgm:pt>
    <dgm:pt modelId="{40BA7F9D-C4D7-4B52-A9EF-4BF776852BEE}" type="pres">
      <dgm:prSet presAssocID="{10CC3019-2028-4307-8DA8-1F00E40A7D05}" presName="parentText" presStyleLbl="node1" presStyleIdx="2" presStyleCnt="4" custScaleY="37049" custLinFactNeighborY="-1114">
        <dgm:presLayoutVars>
          <dgm:chMax val="0"/>
          <dgm:bulletEnabled val="1"/>
        </dgm:presLayoutVars>
      </dgm:prSet>
      <dgm:spPr/>
      <dgm:t>
        <a:bodyPr/>
        <a:lstStyle/>
        <a:p>
          <a:endParaRPr lang="zh-CN" altLang="en-US"/>
        </a:p>
      </dgm:t>
    </dgm:pt>
    <dgm:pt modelId="{4F00E9F9-D030-4BD1-9C8A-8DC2E1973559}" type="pres">
      <dgm:prSet presAssocID="{10CC3019-2028-4307-8DA8-1F00E40A7D05}" presName="childText" presStyleLbl="revTx" presStyleIdx="2" presStyleCnt="4" custScaleY="116945" custLinFactNeighborY="637">
        <dgm:presLayoutVars>
          <dgm:bulletEnabled val="1"/>
        </dgm:presLayoutVars>
      </dgm:prSet>
      <dgm:spPr/>
      <dgm:t>
        <a:bodyPr/>
        <a:lstStyle/>
        <a:p>
          <a:endParaRPr lang="zh-CN" altLang="en-US"/>
        </a:p>
      </dgm:t>
    </dgm:pt>
    <dgm:pt modelId="{7AA7BA31-8A5C-40B9-B161-68A323C2D98E}" type="pres">
      <dgm:prSet presAssocID="{D82269CE-1D07-44D2-92DC-8483B5491A09}" presName="parentText" presStyleLbl="node1" presStyleIdx="3" presStyleCnt="4" custScaleY="35666" custLinFactNeighborY="-5274">
        <dgm:presLayoutVars>
          <dgm:chMax val="0"/>
          <dgm:bulletEnabled val="1"/>
        </dgm:presLayoutVars>
      </dgm:prSet>
      <dgm:spPr/>
      <dgm:t>
        <a:bodyPr/>
        <a:lstStyle/>
        <a:p>
          <a:endParaRPr lang="zh-CN" altLang="en-US"/>
        </a:p>
      </dgm:t>
    </dgm:pt>
    <dgm:pt modelId="{8AFEDB38-9052-473B-B791-62F9B2C160C3}" type="pres">
      <dgm:prSet presAssocID="{D82269CE-1D07-44D2-92DC-8483B5491A09}" presName="childText" presStyleLbl="revTx" presStyleIdx="3" presStyleCnt="4">
        <dgm:presLayoutVars>
          <dgm:bulletEnabled val="1"/>
        </dgm:presLayoutVars>
      </dgm:prSet>
      <dgm:spPr/>
      <dgm:t>
        <a:bodyPr/>
        <a:lstStyle/>
        <a:p>
          <a:endParaRPr lang="zh-CN" altLang="en-US"/>
        </a:p>
      </dgm:t>
    </dgm:pt>
  </dgm:ptLst>
  <dgm:cxnLst>
    <dgm:cxn modelId="{A1BD5E4D-5606-474E-A59D-CB77A7185B46}" type="presOf" srcId="{C9A0DE60-D8C0-438A-8D87-DC1DC95125F3}" destId="{D13B7277-1BD7-46F8-928E-51D0167477F1}" srcOrd="0" destOrd="0" presId="urn:microsoft.com/office/officeart/2005/8/layout/vList2#1"/>
    <dgm:cxn modelId="{5A4855B5-7D30-4AEC-9685-C4AEFCAB8A9B}" srcId="{102A6AD4-BD73-49CF-B86B-C8B53AD3A032}" destId="{31A6FA2A-113D-4C1F-90EA-8A7778289DE3}" srcOrd="0" destOrd="0" parTransId="{1C13D38A-27D1-49B0-BA35-E2B8F2D0A04C}" sibTransId="{BED60D9E-706A-4D76-A9BA-F46B36A6925F}"/>
    <dgm:cxn modelId="{2546477E-DE58-45DB-8E4A-7A636F22F8FE}" type="presOf" srcId="{102A6AD4-BD73-49CF-B86B-C8B53AD3A032}" destId="{E51BA0BC-1785-4B0A-BC18-191651F5C3ED}" srcOrd="0" destOrd="0" presId="urn:microsoft.com/office/officeart/2005/8/layout/vList2#1"/>
    <dgm:cxn modelId="{9B68B4FB-5AAB-4C69-9D2C-E0E9F71E432C}" type="presOf" srcId="{A62B85D4-FAFE-43B9-BA5C-35433D734B83}" destId="{76B7974E-40FE-4DDF-A5A1-7BECB56353FE}" srcOrd="0" destOrd="0" presId="urn:microsoft.com/office/officeart/2005/8/layout/vList2#1"/>
    <dgm:cxn modelId="{31803935-B162-457B-92F4-F35D131C311A}" srcId="{C9A0DE60-D8C0-438A-8D87-DC1DC95125F3}" destId="{00A32C13-0410-4AC1-B68E-44D562A456B4}" srcOrd="0" destOrd="0" parTransId="{A89C5F8A-A729-4C19-B5B7-A50740B66467}" sibTransId="{8B0D1A02-9702-4C9A-AB58-8CB4465A7647}"/>
    <dgm:cxn modelId="{A66BE37B-8EED-4B76-AA35-23ACD43A950F}" type="presOf" srcId="{10CC3019-2028-4307-8DA8-1F00E40A7D05}" destId="{40BA7F9D-C4D7-4B52-A9EF-4BF776852BEE}" srcOrd="0" destOrd="0" presId="urn:microsoft.com/office/officeart/2005/8/layout/vList2#1"/>
    <dgm:cxn modelId="{66053615-7F96-4CE2-88F4-9AB0FA91FE00}" srcId="{C9A0DE60-D8C0-438A-8D87-DC1DC95125F3}" destId="{D82269CE-1D07-44D2-92DC-8483B5491A09}" srcOrd="3" destOrd="0" parTransId="{ED08D8F8-F764-4402-8B18-7BB7108D8E57}" sibTransId="{321F4438-2AE3-473D-944C-82BA81EF719C}"/>
    <dgm:cxn modelId="{31A5E324-3BAD-46BF-8C1E-AB03E6AC582E}" srcId="{00A32C13-0410-4AC1-B68E-44D562A456B4}" destId="{A62B85D4-FAFE-43B9-BA5C-35433D734B83}" srcOrd="0" destOrd="0" parTransId="{D0808EC4-0B77-440E-8F3C-839752F03FA5}" sibTransId="{64C0686A-45C1-4551-BDE8-CEA6FD1C07E3}"/>
    <dgm:cxn modelId="{D9DBC6A1-0291-4C20-AC31-61F6723A7E05}" type="presOf" srcId="{00A32C13-0410-4AC1-B68E-44D562A456B4}" destId="{4DE5FC07-637A-49A3-BD13-F95330F93EB9}" srcOrd="0" destOrd="0" presId="urn:microsoft.com/office/officeart/2005/8/layout/vList2#1"/>
    <dgm:cxn modelId="{9679A551-F8EA-4466-90FC-D900DCC4D337}" srcId="{C9A0DE60-D8C0-438A-8D87-DC1DC95125F3}" destId="{10CC3019-2028-4307-8DA8-1F00E40A7D05}" srcOrd="2" destOrd="0" parTransId="{17C1316C-CBC1-466B-B01D-32149569DA53}" sibTransId="{894EAFEF-0E90-46B7-80ED-40C5D9895BC7}"/>
    <dgm:cxn modelId="{A57A44DE-3BC3-484F-853F-68FAA024A010}" type="presOf" srcId="{60D59CC7-DD71-4036-B6DD-F800BDB81C0D}" destId="{8AFEDB38-9052-473B-B791-62F9B2C160C3}" srcOrd="0" destOrd="0" presId="urn:microsoft.com/office/officeart/2005/8/layout/vList2#1"/>
    <dgm:cxn modelId="{94E98952-9D9B-4696-8585-E97A0A578EB3}" srcId="{C9A0DE60-D8C0-438A-8D87-DC1DC95125F3}" destId="{102A6AD4-BD73-49CF-B86B-C8B53AD3A032}" srcOrd="1" destOrd="0" parTransId="{9FE4BC39-3DF0-4656-95E4-9D6A13950D71}" sibTransId="{ACE34592-AA48-4C08-A29B-7D5655F5FF82}"/>
    <dgm:cxn modelId="{5A3CD578-252C-44C1-BE54-8F98EEA3D28D}" type="presOf" srcId="{D82269CE-1D07-44D2-92DC-8483B5491A09}" destId="{7AA7BA31-8A5C-40B9-B161-68A323C2D98E}" srcOrd="0" destOrd="0" presId="urn:microsoft.com/office/officeart/2005/8/layout/vList2#1"/>
    <dgm:cxn modelId="{9502FB7E-68C1-4D27-B72C-1B46AD7C0016}" type="presOf" srcId="{31A6FA2A-113D-4C1F-90EA-8A7778289DE3}" destId="{2F8566A8-C095-417A-8698-D7AE3358DB3D}" srcOrd="0" destOrd="0" presId="urn:microsoft.com/office/officeart/2005/8/layout/vList2#1"/>
    <dgm:cxn modelId="{E5489DD4-3D0C-442D-A1E1-C479122596B1}" srcId="{D82269CE-1D07-44D2-92DC-8483B5491A09}" destId="{60D59CC7-DD71-4036-B6DD-F800BDB81C0D}" srcOrd="0" destOrd="0" parTransId="{A2B46843-E80A-4DDD-B9D0-660AC06B3221}" sibTransId="{48B822D1-1B49-41CA-AD3C-8E3301370444}"/>
    <dgm:cxn modelId="{DF9C2AFC-73E6-4C13-8571-489336B801C8}" type="presOf" srcId="{704B15D5-AE30-4499-A18A-9BF08481E0EF}" destId="{4F00E9F9-D030-4BD1-9C8A-8DC2E1973559}" srcOrd="0" destOrd="0" presId="urn:microsoft.com/office/officeart/2005/8/layout/vList2#1"/>
    <dgm:cxn modelId="{2AB2A653-E028-4B8F-B972-7BE623493E8C}" srcId="{10CC3019-2028-4307-8DA8-1F00E40A7D05}" destId="{704B15D5-AE30-4499-A18A-9BF08481E0EF}" srcOrd="0" destOrd="0" parTransId="{BB37132B-2D2D-4C38-BE8D-EB49F2FAAFD2}" sibTransId="{B8A92226-F80E-417F-A7FA-9D9DA9C78AE9}"/>
    <dgm:cxn modelId="{95B1EB3E-E7D6-4CFE-9AFB-1287F38B6042}" type="presParOf" srcId="{D13B7277-1BD7-46F8-928E-51D0167477F1}" destId="{4DE5FC07-637A-49A3-BD13-F95330F93EB9}" srcOrd="0" destOrd="0" presId="urn:microsoft.com/office/officeart/2005/8/layout/vList2#1"/>
    <dgm:cxn modelId="{6928779F-5939-4F37-88A5-E4C8B06F4187}" type="presParOf" srcId="{D13B7277-1BD7-46F8-928E-51D0167477F1}" destId="{76B7974E-40FE-4DDF-A5A1-7BECB56353FE}" srcOrd="1" destOrd="0" presId="urn:microsoft.com/office/officeart/2005/8/layout/vList2#1"/>
    <dgm:cxn modelId="{00BB939C-5742-41B7-B05B-749BD4F538FD}" type="presParOf" srcId="{D13B7277-1BD7-46F8-928E-51D0167477F1}" destId="{E51BA0BC-1785-4B0A-BC18-191651F5C3ED}" srcOrd="2" destOrd="0" presId="urn:microsoft.com/office/officeart/2005/8/layout/vList2#1"/>
    <dgm:cxn modelId="{FA9D7610-D8D8-48B8-A7D5-1BA7CDD959F9}" type="presParOf" srcId="{D13B7277-1BD7-46F8-928E-51D0167477F1}" destId="{2F8566A8-C095-417A-8698-D7AE3358DB3D}" srcOrd="3" destOrd="0" presId="urn:microsoft.com/office/officeart/2005/8/layout/vList2#1"/>
    <dgm:cxn modelId="{EAE71006-BF0B-4C58-AB91-E04CC1536CDB}" type="presParOf" srcId="{D13B7277-1BD7-46F8-928E-51D0167477F1}" destId="{40BA7F9D-C4D7-4B52-A9EF-4BF776852BEE}" srcOrd="4" destOrd="0" presId="urn:microsoft.com/office/officeart/2005/8/layout/vList2#1"/>
    <dgm:cxn modelId="{5281095B-B6D3-40A9-9515-1884B1B8E8A4}" type="presParOf" srcId="{D13B7277-1BD7-46F8-928E-51D0167477F1}" destId="{4F00E9F9-D030-4BD1-9C8A-8DC2E1973559}" srcOrd="5" destOrd="0" presId="urn:microsoft.com/office/officeart/2005/8/layout/vList2#1"/>
    <dgm:cxn modelId="{AA5204C5-A6F1-4235-BA91-313EE869FA48}" type="presParOf" srcId="{D13B7277-1BD7-46F8-928E-51D0167477F1}" destId="{7AA7BA31-8A5C-40B9-B161-68A323C2D98E}" srcOrd="6" destOrd="0" presId="urn:microsoft.com/office/officeart/2005/8/layout/vList2#1"/>
    <dgm:cxn modelId="{1BF08B17-E8C0-4477-9C91-55C585F35D36}" type="presParOf" srcId="{D13B7277-1BD7-46F8-928E-51D0167477F1}" destId="{8AFEDB38-9052-473B-B791-62F9B2C160C3}" srcOrd="7" destOrd="0" presId="urn:microsoft.com/office/officeart/2005/8/layout/vList2#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E5FC07-637A-49A3-BD13-F95330F93EB9}">
      <dsp:nvSpPr>
        <dsp:cNvPr id="0" name=""/>
        <dsp:cNvSpPr/>
      </dsp:nvSpPr>
      <dsp:spPr bwMode="white">
        <a:xfrm>
          <a:off x="0" y="1923"/>
          <a:ext cx="4458878" cy="319733"/>
        </a:xfrm>
        <a:prstGeom prst="round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100000"/>
            </a:lnSpc>
            <a:spcBef>
              <a:spcPct val="0"/>
            </a:spcBef>
            <a:spcAft>
              <a:spcPct val="35000"/>
            </a:spcAft>
          </a:pPr>
          <a:r>
            <a:rPr lang="zh-CN" altLang="en-US" sz="1800" kern="1200" dirty="0" smtClean="0">
              <a:solidFill>
                <a:schemeClr val="tx1"/>
              </a:solidFill>
              <a:latin typeface="微软雅黑" panose="020B0503020204020204" pitchFamily="34" charset="-122"/>
              <a:ea typeface="微软雅黑" panose="020B0503020204020204" pitchFamily="34" charset="-122"/>
            </a:rPr>
            <a:t>聚合商内部风险</a:t>
          </a:r>
          <a:endParaRPr lang="zh-CN" altLang="en-US" sz="1800" kern="1200" dirty="0">
            <a:solidFill>
              <a:schemeClr val="tx1"/>
            </a:solidFill>
            <a:latin typeface="微软雅黑" panose="020B0503020204020204" pitchFamily="34" charset="-122"/>
            <a:ea typeface="微软雅黑" panose="020B0503020204020204" pitchFamily="34" charset="-122"/>
          </a:endParaRPr>
        </a:p>
      </dsp:txBody>
      <dsp:txXfrm>
        <a:off x="15608" y="17531"/>
        <a:ext cx="4427662" cy="288517"/>
      </dsp:txXfrm>
    </dsp:sp>
    <dsp:sp modelId="{76B7974E-40FE-4DDF-A5A1-7BECB56353FE}">
      <dsp:nvSpPr>
        <dsp:cNvPr id="0" name=""/>
        <dsp:cNvSpPr/>
      </dsp:nvSpPr>
      <dsp:spPr bwMode="white">
        <a:xfrm>
          <a:off x="0" y="321657"/>
          <a:ext cx="4458878" cy="952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69" tIns="17780" rIns="99568" bIns="17780" numCol="1" spcCol="1270" anchor="t" anchorCtr="0">
          <a:noAutofit/>
        </a:bodyPr>
        <a:lstStyle/>
        <a:p>
          <a:pPr marL="114300" lvl="1" indent="-114300" algn="l" defTabSz="622300">
            <a:lnSpc>
              <a:spcPct val="100000"/>
            </a:lnSpc>
            <a:spcBef>
              <a:spcPct val="0"/>
            </a:spcBef>
            <a:spcAft>
              <a:spcPct val="20000"/>
            </a:spcAft>
            <a:buChar char="••"/>
          </a:pPr>
          <a:r>
            <a:rPr lang="zh-CN" altLang="en-US" sz="1400" kern="1200" dirty="0" smtClean="0">
              <a:latin typeface="微软雅黑" panose="020B0503020204020204" pitchFamily="34" charset="-122"/>
              <a:ea typeface="微软雅黑" panose="020B0503020204020204" pitchFamily="34" charset="-122"/>
            </a:rPr>
            <a:t>聚合商整合的响应资源十分庞杂，在聚合商运营过程中，部分资源存在一定不确定性无法正常响应，导致聚合商遭遇内部风险损失。</a:t>
          </a:r>
          <a:endParaRPr lang="zh-CN" altLang="en-US" sz="1400" kern="1200" dirty="0">
            <a:latin typeface="微软雅黑" panose="020B0503020204020204" pitchFamily="34" charset="-122"/>
            <a:ea typeface="微软雅黑" panose="020B0503020204020204" pitchFamily="34" charset="-122"/>
          </a:endParaRPr>
        </a:p>
      </dsp:txBody>
      <dsp:txXfrm>
        <a:off x="0" y="321657"/>
        <a:ext cx="4458878" cy="952200"/>
      </dsp:txXfrm>
    </dsp:sp>
    <dsp:sp modelId="{E51BA0BC-1785-4B0A-BC18-191651F5C3ED}">
      <dsp:nvSpPr>
        <dsp:cNvPr id="0" name=""/>
        <dsp:cNvSpPr/>
      </dsp:nvSpPr>
      <dsp:spPr bwMode="white">
        <a:xfrm>
          <a:off x="0" y="1266287"/>
          <a:ext cx="4458878" cy="283919"/>
        </a:xfrm>
        <a:prstGeom prst="round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100000"/>
            </a:lnSpc>
            <a:spcBef>
              <a:spcPct val="0"/>
            </a:spcBef>
            <a:spcAft>
              <a:spcPct val="35000"/>
            </a:spcAft>
          </a:pPr>
          <a:r>
            <a:rPr lang="zh-CN" altLang="en-US" sz="1800" kern="1200" dirty="0" smtClean="0">
              <a:solidFill>
                <a:schemeClr val="tx1"/>
              </a:solidFill>
              <a:latin typeface="微软雅黑" panose="020B0503020204020204" pitchFamily="34" charset="-122"/>
              <a:ea typeface="微软雅黑" panose="020B0503020204020204" pitchFamily="34" charset="-122"/>
            </a:rPr>
            <a:t>聚合商外部风险</a:t>
          </a:r>
          <a:endParaRPr lang="zh-CN" altLang="en-US" sz="1800" kern="1200" dirty="0">
            <a:solidFill>
              <a:schemeClr val="tx1"/>
            </a:solidFill>
            <a:latin typeface="微软雅黑" panose="020B0503020204020204" pitchFamily="34" charset="-122"/>
            <a:ea typeface="微软雅黑" panose="020B0503020204020204" pitchFamily="34" charset="-122"/>
          </a:endParaRPr>
        </a:p>
      </dsp:txBody>
      <dsp:txXfrm>
        <a:off x="13860" y="1280147"/>
        <a:ext cx="4431158" cy="256199"/>
      </dsp:txXfrm>
    </dsp:sp>
    <dsp:sp modelId="{2F8566A8-C095-417A-8698-D7AE3358DB3D}">
      <dsp:nvSpPr>
        <dsp:cNvPr id="0" name=""/>
        <dsp:cNvSpPr/>
      </dsp:nvSpPr>
      <dsp:spPr bwMode="white">
        <a:xfrm>
          <a:off x="0" y="1591515"/>
          <a:ext cx="4458878" cy="952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69" tIns="17780" rIns="99568" bIns="17780" numCol="1" spcCol="1270" anchor="t" anchorCtr="0">
          <a:noAutofit/>
        </a:bodyPr>
        <a:lstStyle/>
        <a:p>
          <a:pPr marL="114300" lvl="1" indent="-114300" algn="l" defTabSz="622300">
            <a:lnSpc>
              <a:spcPct val="100000"/>
            </a:lnSpc>
            <a:spcBef>
              <a:spcPct val="0"/>
            </a:spcBef>
            <a:spcAft>
              <a:spcPct val="20000"/>
            </a:spcAft>
            <a:buChar char="••"/>
          </a:pPr>
          <a:r>
            <a:rPr lang="zh-CN" altLang="en-US" sz="1400" kern="1200" dirty="0" smtClean="0">
              <a:latin typeface="微软雅黑" panose="020B0503020204020204" pitchFamily="34" charset="-122"/>
              <a:ea typeface="微软雅黑" panose="020B0503020204020204" pitchFamily="34" charset="-122"/>
            </a:rPr>
            <a:t>聚合商的需求侧缺乏防御方法和手段，导致存在许多漏洞可以被攻击者用来进行虚假数据注入攻击以实现其恶意目的。</a:t>
          </a:r>
          <a:endParaRPr lang="zh-CN" altLang="en-US" sz="1400" kern="1200" dirty="0">
            <a:latin typeface="微软雅黑" panose="020B0503020204020204" pitchFamily="34" charset="-122"/>
            <a:ea typeface="微软雅黑" panose="020B0503020204020204" pitchFamily="34" charset="-122"/>
          </a:endParaRPr>
        </a:p>
      </dsp:txBody>
      <dsp:txXfrm>
        <a:off x="0" y="1591515"/>
        <a:ext cx="4458878" cy="952200"/>
      </dsp:txXfrm>
    </dsp:sp>
    <dsp:sp modelId="{40BA7F9D-C4D7-4B52-A9EF-4BF776852BEE}">
      <dsp:nvSpPr>
        <dsp:cNvPr id="0" name=""/>
        <dsp:cNvSpPr/>
      </dsp:nvSpPr>
      <dsp:spPr bwMode="white">
        <a:xfrm>
          <a:off x="0" y="2499369"/>
          <a:ext cx="4458878" cy="319036"/>
        </a:xfrm>
        <a:prstGeom prst="round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100000"/>
            </a:lnSpc>
            <a:spcBef>
              <a:spcPct val="0"/>
            </a:spcBef>
            <a:spcAft>
              <a:spcPct val="35000"/>
            </a:spcAft>
          </a:pPr>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MECPS</a:t>
          </a:r>
          <a:r>
            <a:rPr lang="zh-CN" altLang="en-US"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经济调度</a:t>
          </a:r>
          <a:endParaRPr lang="zh-CN" altLang="en-US" sz="18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dsp:txBody>
      <dsp:txXfrm>
        <a:off x="15574" y="2514943"/>
        <a:ext cx="4427730" cy="287888"/>
      </dsp:txXfrm>
    </dsp:sp>
    <dsp:sp modelId="{4F00E9F9-D030-4BD1-9C8A-8DC2E1973559}">
      <dsp:nvSpPr>
        <dsp:cNvPr id="0" name=""/>
        <dsp:cNvSpPr/>
      </dsp:nvSpPr>
      <dsp:spPr bwMode="white">
        <a:xfrm>
          <a:off x="0" y="2834498"/>
          <a:ext cx="4458878" cy="1113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69" tIns="17780" rIns="99568" bIns="17780" numCol="1" spcCol="1270" anchor="t" anchorCtr="0">
          <a:noAutofit/>
        </a:bodyPr>
        <a:lstStyle/>
        <a:p>
          <a:pPr marL="114300" lvl="1" indent="-114300" algn="l" defTabSz="622300">
            <a:lnSpc>
              <a:spcPct val="100000"/>
            </a:lnSpc>
            <a:spcBef>
              <a:spcPct val="0"/>
            </a:spcBef>
            <a:spcAft>
              <a:spcPct val="20000"/>
            </a:spcAft>
            <a:buChar char="••"/>
          </a:pPr>
          <a:r>
            <a:rPr lang="zh-CN" altLang="en-US" sz="1400" kern="1200" dirty="0" smtClean="0">
              <a:latin typeface="微软雅黑" panose="020B0503020204020204" pitchFamily="34" charset="-122"/>
              <a:ea typeface="微软雅黑" panose="020B0503020204020204" pitchFamily="34" charset="-122"/>
            </a:rPr>
            <a:t>经济调度作为多能信息物理系统运行中的一个重要问题，在解决复杂的系统调度问题上，分布式优化方法具有鲁棒性和扩展性的优势。</a:t>
          </a:r>
          <a:endParaRPr lang="zh-CN" altLang="en-US" sz="1400" kern="1200" dirty="0">
            <a:latin typeface="微软雅黑" panose="020B0503020204020204" pitchFamily="34" charset="-122"/>
            <a:ea typeface="微软雅黑" panose="020B0503020204020204" pitchFamily="34" charset="-122"/>
          </a:endParaRPr>
        </a:p>
      </dsp:txBody>
      <dsp:txXfrm>
        <a:off x="0" y="2834498"/>
        <a:ext cx="4458878" cy="1113550"/>
      </dsp:txXfrm>
    </dsp:sp>
    <dsp:sp modelId="{7AA7BA31-8A5C-40B9-B161-68A323C2D98E}">
      <dsp:nvSpPr>
        <dsp:cNvPr id="0" name=""/>
        <dsp:cNvSpPr/>
      </dsp:nvSpPr>
      <dsp:spPr bwMode="white">
        <a:xfrm>
          <a:off x="0" y="3892344"/>
          <a:ext cx="4458878" cy="307127"/>
        </a:xfrm>
        <a:prstGeom prst="round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100000"/>
            </a:lnSpc>
            <a:spcBef>
              <a:spcPct val="0"/>
            </a:spcBef>
            <a:spcAft>
              <a:spcPct val="35000"/>
            </a:spcAft>
          </a:pPr>
          <a:r>
            <a:rPr lang="zh-CN" altLang="en-US" sz="1800" kern="1200" dirty="0" smtClean="0">
              <a:solidFill>
                <a:schemeClr val="tx1"/>
              </a:solidFill>
              <a:latin typeface="微软雅黑" panose="020B0503020204020204" pitchFamily="34" charset="-122"/>
              <a:ea typeface="微软雅黑" panose="020B0503020204020204" pitchFamily="34" charset="-122"/>
            </a:rPr>
            <a:t>隐私保护</a:t>
          </a:r>
          <a:endParaRPr lang="zh-CN" altLang="en-US" sz="1800" kern="1200" dirty="0">
            <a:solidFill>
              <a:schemeClr val="tx1"/>
            </a:solidFill>
            <a:latin typeface="微软雅黑" panose="020B0503020204020204" pitchFamily="34" charset="-122"/>
            <a:ea typeface="微软雅黑" panose="020B0503020204020204" pitchFamily="34" charset="-122"/>
          </a:endParaRPr>
        </a:p>
      </dsp:txBody>
      <dsp:txXfrm>
        <a:off x="14993" y="3907337"/>
        <a:ext cx="4428892" cy="277141"/>
      </dsp:txXfrm>
    </dsp:sp>
    <dsp:sp modelId="{8AFEDB38-9052-473B-B791-62F9B2C160C3}">
      <dsp:nvSpPr>
        <dsp:cNvPr id="0" name=""/>
        <dsp:cNvSpPr/>
      </dsp:nvSpPr>
      <dsp:spPr bwMode="white">
        <a:xfrm>
          <a:off x="0" y="4249690"/>
          <a:ext cx="4458878" cy="952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69" tIns="17780" rIns="99568" bIns="17780" numCol="1" spcCol="1270" anchor="t" anchorCtr="0">
          <a:noAutofit/>
        </a:bodyPr>
        <a:lstStyle/>
        <a:p>
          <a:pPr marL="114300" lvl="1" indent="-114300" algn="l" defTabSz="622300">
            <a:lnSpc>
              <a:spcPct val="100000"/>
            </a:lnSpc>
            <a:spcBef>
              <a:spcPct val="0"/>
            </a:spcBef>
            <a:spcAft>
              <a:spcPct val="20000"/>
            </a:spcAft>
            <a:buChar char="••"/>
          </a:pPr>
          <a:r>
            <a:rPr lang="zh-CN" altLang="en-US" sz="1400" kern="1200" dirty="0" smtClean="0">
              <a:latin typeface="微软雅黑" panose="020B0503020204020204" pitchFamily="34" charset="-122"/>
              <a:ea typeface="微软雅黑" panose="020B0503020204020204" pitchFamily="34" charset="-122"/>
            </a:rPr>
            <a:t>多智能体系统的隐私信息在传递过程大多缺少保护，这会导致网络攻击者通过窃取多智能体系统中的关键隐私信息，然后进行攻击准备或者直接发动攻击。</a:t>
          </a:r>
          <a:endParaRPr lang="zh-CN" altLang="en-US" sz="1400" kern="1200" dirty="0">
            <a:latin typeface="微软雅黑" panose="020B0503020204020204" pitchFamily="34" charset="-122"/>
            <a:ea typeface="微软雅黑" panose="020B0503020204020204" pitchFamily="34" charset="-122"/>
          </a:endParaRPr>
        </a:p>
      </dsp:txBody>
      <dsp:txXfrm>
        <a:off x="0" y="4249690"/>
        <a:ext cx="4458878" cy="952200"/>
      </dsp:txXfrm>
    </dsp:sp>
  </dsp:spTree>
</dsp:drawing>
</file>

<file path=ppt/diagrams/layout1.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50.emf"/><Relationship Id="rId13" Type="http://schemas.openxmlformats.org/officeDocument/2006/relationships/image" Target="../media/image55.wmf"/><Relationship Id="rId3" Type="http://schemas.openxmlformats.org/officeDocument/2006/relationships/image" Target="../media/image45.wmf"/><Relationship Id="rId7" Type="http://schemas.openxmlformats.org/officeDocument/2006/relationships/image" Target="../media/image49.emf"/><Relationship Id="rId12" Type="http://schemas.openxmlformats.org/officeDocument/2006/relationships/image" Target="../media/image54.wmf"/><Relationship Id="rId2" Type="http://schemas.openxmlformats.org/officeDocument/2006/relationships/image" Target="../media/image44.wmf"/><Relationship Id="rId1" Type="http://schemas.openxmlformats.org/officeDocument/2006/relationships/image" Target="../media/image43.wmf"/><Relationship Id="rId6" Type="http://schemas.openxmlformats.org/officeDocument/2006/relationships/image" Target="../media/image48.emf"/><Relationship Id="rId11" Type="http://schemas.openxmlformats.org/officeDocument/2006/relationships/image" Target="../media/image53.emf"/><Relationship Id="rId5" Type="http://schemas.openxmlformats.org/officeDocument/2006/relationships/image" Target="../media/image47.emf"/><Relationship Id="rId10" Type="http://schemas.openxmlformats.org/officeDocument/2006/relationships/image" Target="../media/image52.emf"/><Relationship Id="rId4" Type="http://schemas.openxmlformats.org/officeDocument/2006/relationships/image" Target="../media/image46.wmf"/><Relationship Id="rId9" Type="http://schemas.openxmlformats.org/officeDocument/2006/relationships/image" Target="../media/image5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72.emf"/><Relationship Id="rId13" Type="http://schemas.openxmlformats.org/officeDocument/2006/relationships/image" Target="../media/image77.emf"/><Relationship Id="rId3" Type="http://schemas.openxmlformats.org/officeDocument/2006/relationships/image" Target="../media/image67.emf"/><Relationship Id="rId7" Type="http://schemas.openxmlformats.org/officeDocument/2006/relationships/image" Target="../media/image71.emf"/><Relationship Id="rId12" Type="http://schemas.openxmlformats.org/officeDocument/2006/relationships/image" Target="../media/image76.emf"/><Relationship Id="rId2" Type="http://schemas.openxmlformats.org/officeDocument/2006/relationships/image" Target="../media/image66.emf"/><Relationship Id="rId1" Type="http://schemas.openxmlformats.org/officeDocument/2006/relationships/image" Target="../media/image65.emf"/><Relationship Id="rId6" Type="http://schemas.openxmlformats.org/officeDocument/2006/relationships/image" Target="../media/image70.emf"/><Relationship Id="rId11" Type="http://schemas.openxmlformats.org/officeDocument/2006/relationships/image" Target="../media/image75.emf"/><Relationship Id="rId5" Type="http://schemas.openxmlformats.org/officeDocument/2006/relationships/image" Target="../media/image69.emf"/><Relationship Id="rId10" Type="http://schemas.openxmlformats.org/officeDocument/2006/relationships/image" Target="../media/image74.emf"/><Relationship Id="rId4" Type="http://schemas.openxmlformats.org/officeDocument/2006/relationships/image" Target="../media/image68.emf"/><Relationship Id="rId9" Type="http://schemas.openxmlformats.org/officeDocument/2006/relationships/image" Target="../media/image73.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109.emf"/><Relationship Id="rId3" Type="http://schemas.openxmlformats.org/officeDocument/2006/relationships/image" Target="../media/image104.emf"/><Relationship Id="rId7" Type="http://schemas.openxmlformats.org/officeDocument/2006/relationships/image" Target="../media/image108.emf"/><Relationship Id="rId12" Type="http://schemas.openxmlformats.org/officeDocument/2006/relationships/image" Target="../media/image113.emf"/><Relationship Id="rId2" Type="http://schemas.openxmlformats.org/officeDocument/2006/relationships/image" Target="../media/image103.emf"/><Relationship Id="rId1" Type="http://schemas.openxmlformats.org/officeDocument/2006/relationships/image" Target="../media/image102.emf"/><Relationship Id="rId6" Type="http://schemas.openxmlformats.org/officeDocument/2006/relationships/image" Target="../media/image107.emf"/><Relationship Id="rId11" Type="http://schemas.openxmlformats.org/officeDocument/2006/relationships/image" Target="../media/image112.emf"/><Relationship Id="rId5" Type="http://schemas.openxmlformats.org/officeDocument/2006/relationships/image" Target="../media/image106.emf"/><Relationship Id="rId10" Type="http://schemas.openxmlformats.org/officeDocument/2006/relationships/image" Target="../media/image111.emf"/><Relationship Id="rId4" Type="http://schemas.openxmlformats.org/officeDocument/2006/relationships/image" Target="../media/image105.emf"/><Relationship Id="rId9" Type="http://schemas.openxmlformats.org/officeDocument/2006/relationships/image" Target="../media/image1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5.e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125.emf"/><Relationship Id="rId3" Type="http://schemas.openxmlformats.org/officeDocument/2006/relationships/image" Target="../media/image120.emf"/><Relationship Id="rId7" Type="http://schemas.openxmlformats.org/officeDocument/2006/relationships/image" Target="../media/image124.emf"/><Relationship Id="rId2" Type="http://schemas.openxmlformats.org/officeDocument/2006/relationships/image" Target="../media/image119.emf"/><Relationship Id="rId1" Type="http://schemas.openxmlformats.org/officeDocument/2006/relationships/image" Target="../media/image118.emf"/><Relationship Id="rId6" Type="http://schemas.openxmlformats.org/officeDocument/2006/relationships/image" Target="../media/image123.emf"/><Relationship Id="rId5" Type="http://schemas.openxmlformats.org/officeDocument/2006/relationships/image" Target="../media/image122.emf"/><Relationship Id="rId10" Type="http://schemas.openxmlformats.org/officeDocument/2006/relationships/image" Target="../media/image127.emf"/><Relationship Id="rId4" Type="http://schemas.openxmlformats.org/officeDocument/2006/relationships/image" Target="../media/image121.emf"/><Relationship Id="rId9" Type="http://schemas.openxmlformats.org/officeDocument/2006/relationships/image" Target="../media/image126.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136.emf"/><Relationship Id="rId3" Type="http://schemas.openxmlformats.org/officeDocument/2006/relationships/image" Target="../media/image131.emf"/><Relationship Id="rId7" Type="http://schemas.openxmlformats.org/officeDocument/2006/relationships/image" Target="../media/image135.emf"/><Relationship Id="rId12" Type="http://schemas.openxmlformats.org/officeDocument/2006/relationships/image" Target="../media/image140.emf"/><Relationship Id="rId2" Type="http://schemas.openxmlformats.org/officeDocument/2006/relationships/image" Target="../media/image130.emf"/><Relationship Id="rId1" Type="http://schemas.openxmlformats.org/officeDocument/2006/relationships/image" Target="../media/image129.emf"/><Relationship Id="rId6" Type="http://schemas.openxmlformats.org/officeDocument/2006/relationships/image" Target="../media/image134.emf"/><Relationship Id="rId11" Type="http://schemas.openxmlformats.org/officeDocument/2006/relationships/image" Target="../media/image139.emf"/><Relationship Id="rId5" Type="http://schemas.openxmlformats.org/officeDocument/2006/relationships/image" Target="../media/image133.emf"/><Relationship Id="rId10" Type="http://schemas.openxmlformats.org/officeDocument/2006/relationships/image" Target="../media/image138.emf"/><Relationship Id="rId4" Type="http://schemas.openxmlformats.org/officeDocument/2006/relationships/image" Target="../media/image132.emf"/><Relationship Id="rId9" Type="http://schemas.openxmlformats.org/officeDocument/2006/relationships/image" Target="../media/image137.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49.emf"/><Relationship Id="rId3" Type="http://schemas.openxmlformats.org/officeDocument/2006/relationships/image" Target="../media/image144.emf"/><Relationship Id="rId7" Type="http://schemas.openxmlformats.org/officeDocument/2006/relationships/image" Target="../media/image148.e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emf"/><Relationship Id="rId5" Type="http://schemas.openxmlformats.org/officeDocument/2006/relationships/image" Target="../media/image146.emf"/><Relationship Id="rId10" Type="http://schemas.openxmlformats.org/officeDocument/2006/relationships/image" Target="../media/image151.emf"/><Relationship Id="rId4" Type="http://schemas.openxmlformats.org/officeDocument/2006/relationships/image" Target="../media/image145.emf"/><Relationship Id="rId9" Type="http://schemas.openxmlformats.org/officeDocument/2006/relationships/image" Target="../media/image150.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56.emf"/><Relationship Id="rId2" Type="http://schemas.openxmlformats.org/officeDocument/2006/relationships/image" Target="../media/image155.emf"/><Relationship Id="rId1" Type="http://schemas.openxmlformats.org/officeDocument/2006/relationships/image" Target="../media/image154.emf"/><Relationship Id="rId5" Type="http://schemas.openxmlformats.org/officeDocument/2006/relationships/image" Target="../media/image158.emf"/><Relationship Id="rId4" Type="http://schemas.openxmlformats.org/officeDocument/2006/relationships/image" Target="../media/image157.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67.emf"/><Relationship Id="rId13" Type="http://schemas.openxmlformats.org/officeDocument/2006/relationships/image" Target="../media/image172.emf"/><Relationship Id="rId3" Type="http://schemas.openxmlformats.org/officeDocument/2006/relationships/image" Target="../media/image162.wmf"/><Relationship Id="rId7" Type="http://schemas.openxmlformats.org/officeDocument/2006/relationships/image" Target="../media/image166.emf"/><Relationship Id="rId12" Type="http://schemas.openxmlformats.org/officeDocument/2006/relationships/image" Target="../media/image171.emf"/><Relationship Id="rId2" Type="http://schemas.openxmlformats.org/officeDocument/2006/relationships/image" Target="../media/image161.emf"/><Relationship Id="rId1" Type="http://schemas.openxmlformats.org/officeDocument/2006/relationships/image" Target="../media/image160.emf"/><Relationship Id="rId6" Type="http://schemas.openxmlformats.org/officeDocument/2006/relationships/image" Target="../media/image165.emf"/><Relationship Id="rId11" Type="http://schemas.openxmlformats.org/officeDocument/2006/relationships/image" Target="../media/image170.emf"/><Relationship Id="rId5" Type="http://schemas.openxmlformats.org/officeDocument/2006/relationships/image" Target="../media/image164.emf"/><Relationship Id="rId15" Type="http://schemas.openxmlformats.org/officeDocument/2006/relationships/image" Target="../media/image174.emf"/><Relationship Id="rId10" Type="http://schemas.openxmlformats.org/officeDocument/2006/relationships/image" Target="../media/image169.emf"/><Relationship Id="rId4" Type="http://schemas.openxmlformats.org/officeDocument/2006/relationships/image" Target="../media/image163.emf"/><Relationship Id="rId9" Type="http://schemas.openxmlformats.org/officeDocument/2006/relationships/image" Target="../media/image168.emf"/><Relationship Id="rId14" Type="http://schemas.openxmlformats.org/officeDocument/2006/relationships/image" Target="../media/image17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CB96D7F4-2A3E-4338-8D3E-C98429C52BE2}"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2C412693-EBA8-4B14-B9E1-A1913AF015B2}" type="slidenum">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vmlDrawing" Target="../drawings/vmlDrawing5.vml"/><Relationship Id="rId5" Type="http://schemas.openxmlformats.org/officeDocument/2006/relationships/image" Target="../media/image57.emf"/><Relationship Id="rId4" Type="http://schemas.openxmlformats.org/officeDocument/2006/relationships/oleObject" Target="../embeddings/oleObject22.bin"/></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a:solidFill>
              <a:srgbClr val="000000">
                <a:alpha val="100000"/>
              </a:srgbClr>
            </a:solidFill>
            <a:miter lim="800000"/>
          </a:ln>
        </p:spPr>
      </p:sp>
      <p:sp>
        <p:nvSpPr>
          <p:cNvPr id="13315"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dirty="0" smtClean="0">
                <a:effectLst/>
                <a:sym typeface="+mn-ea"/>
              </a:rPr>
              <a:t>各位老师好，我是孙书博，我的题目是考虑聚合商风险的多能信息物理系统优化调度方法</a:t>
            </a:r>
            <a:endParaRPr lang="zh-CN" altLang="en-US" dirty="0"/>
          </a:p>
        </p:txBody>
      </p:sp>
      <p:sp>
        <p:nvSpPr>
          <p:cNvPr id="1331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ln>
            <a:solidFill>
              <a:srgbClr val="000000">
                <a:alpha val="100000"/>
              </a:srgbClr>
            </a:solidFill>
            <a:miter lim="800000"/>
          </a:ln>
        </p:spPr>
      </p:sp>
      <p:sp>
        <p:nvSpPr>
          <p:cNvPr id="15363" name="备注占位符 2"/>
          <p:cNvSpPr>
            <a:spLocks noGrp="1"/>
          </p:cNvSpPr>
          <p:nvPr>
            <p:ph type="body" idx="1"/>
          </p:nvPr>
        </p:nvSpPr>
        <p:spPr>
          <a:noFill/>
          <a:ln>
            <a:noFill/>
          </a:ln>
        </p:spPr>
        <p:txBody>
          <a:bodyPr wrap="square" lIns="91440" tIns="45720" rIns="91440" bIns="45720" anchor="t" anchorCtr="0"/>
          <a:lstStyle/>
          <a:p>
            <a:pPr lvl="0"/>
            <a:r>
              <a:rPr lang="zh-CN" altLang="en-US" dirty="0"/>
              <a:t>我将从以下五个方面进行详细的介绍。</a:t>
            </a:r>
          </a:p>
        </p:txBody>
      </p:sp>
      <p:sp>
        <p:nvSpPr>
          <p:cNvPr id="153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ln>
            <a:solidFill>
              <a:srgbClr val="000000">
                <a:alpha val="100000"/>
              </a:srgbClr>
            </a:solidFill>
            <a:miter lim="800000"/>
          </a:ln>
        </p:spPr>
      </p:sp>
      <p:sp>
        <p:nvSpPr>
          <p:cNvPr id="17411" name="备注占位符 2"/>
          <p:cNvSpPr>
            <a:spLocks noGrp="1"/>
          </p:cNvSpPr>
          <p:nvPr>
            <p:ph type="body" idx="1"/>
          </p:nvPr>
        </p:nvSpPr>
        <p:spPr>
          <a:noFill/>
          <a:ln>
            <a:noFill/>
          </a:ln>
        </p:spPr>
        <p:txBody>
          <a:bodyPr wrap="square" lIns="91440" tIns="45720" rIns="91440" bIns="45720" anchor="t" anchorCtr="0"/>
          <a:lstStyle/>
          <a:p>
            <a:pPr lvl="0"/>
            <a:r>
              <a:rPr lang="zh-CN" altLang="en-US" dirty="0"/>
              <a:t>首先是论文的研究背景和框架</a:t>
            </a:r>
          </a:p>
        </p:txBody>
      </p:sp>
      <p:sp>
        <p:nvSpPr>
          <p:cNvPr id="1741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3</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idx="1"/>
          </p:nvPr>
        </p:nvSpPr>
        <p:spPr>
          <a:noFill/>
          <a:ln>
            <a:noFill/>
          </a:ln>
        </p:spPr>
        <p:txBody>
          <a:bodyPr wrap="square" lIns="91440" tIns="45720" rIns="91440" bIns="45720" anchor="t" anchorCtr="0"/>
          <a:lstStyle/>
          <a:p>
            <a:pPr lvl="0"/>
            <a:r>
              <a:rPr lang="zh-CN" altLang="zh-CN" sz="100" dirty="0" smtClean="0">
                <a:effectLst/>
                <a:sym typeface="+mn-ea"/>
              </a:rPr>
              <a:t>随着多能信息物理系统的发展，聚合商的地位</a:t>
            </a:r>
            <a:r>
              <a:rPr lang="zh-CN" altLang="en-US" sz="100" dirty="0" smtClean="0">
                <a:effectLst/>
                <a:sym typeface="+mn-ea"/>
              </a:rPr>
              <a:t>愈加</a:t>
            </a:r>
            <a:r>
              <a:rPr lang="zh-CN" altLang="zh-CN" sz="100" dirty="0" smtClean="0">
                <a:effectLst/>
                <a:sym typeface="+mn-ea"/>
              </a:rPr>
              <a:t>重要，因此研究</a:t>
            </a:r>
            <a:r>
              <a:rPr lang="zh-CN" altLang="en-US" sz="100" dirty="0" smtClean="0">
                <a:effectLst/>
                <a:sym typeface="+mn-ea"/>
              </a:rPr>
              <a:t>聚合商的风险问题带来影响和应对方法具有</a:t>
            </a:r>
            <a:r>
              <a:rPr lang="zh-CN" altLang="en-US" sz="100" b="0" dirty="0">
                <a:sym typeface="+mn-ea"/>
              </a:rPr>
              <a:t>理论价值</a:t>
            </a:r>
            <a:r>
              <a:rPr lang="zh-CN" altLang="en-US" sz="100" b="0" dirty="0" smtClean="0">
                <a:sym typeface="+mn-ea"/>
              </a:rPr>
              <a:t>和意义</a:t>
            </a:r>
            <a:r>
              <a:rPr lang="zh-CN" altLang="en-US" sz="100" b="0" dirty="0">
                <a:sym typeface="+mn-ea"/>
              </a:rPr>
              <a:t>。</a:t>
            </a:r>
          </a:p>
          <a:p>
            <a:pPr lvl="0"/>
            <a:endParaRPr lang="zh-CN" altLang="en-US" sz="100" dirty="0">
              <a:latin typeface="楷体" panose="02010609060101010101" pitchFamily="49" charset="-122"/>
              <a:ea typeface="楷体" panose="02010609060101010101" pitchFamily="49" charset="-122"/>
            </a:endParaRPr>
          </a:p>
        </p:txBody>
      </p:sp>
      <p:sp>
        <p:nvSpPr>
          <p:cNvPr id="1946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4</a:t>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ln>
            <a:solidFill>
              <a:srgbClr val="000000">
                <a:alpha val="100000"/>
              </a:srgbClr>
            </a:solidFill>
            <a:miter lim="800000"/>
          </a:ln>
        </p:spPr>
      </p:sp>
      <p:sp>
        <p:nvSpPr>
          <p:cNvPr id="23555" name="备注占位符 2"/>
          <p:cNvSpPr>
            <a:spLocks noGrp="1"/>
          </p:cNvSpPr>
          <p:nvPr>
            <p:ph type="body" idx="1"/>
          </p:nvPr>
        </p:nvSpPr>
        <p:spPr>
          <a:noFill/>
          <a:ln>
            <a:noFill/>
          </a:ln>
        </p:spPr>
        <p:txBody>
          <a:bodyPr wrap="square" lIns="91440" tIns="45720" rIns="91440" bIns="45720" anchor="t" anchorCtr="0"/>
          <a:lstStyle/>
          <a:p>
            <a:pPr algn="just"/>
            <a:r>
              <a:rPr lang="zh-CN" altLang="zh-CN" dirty="0" smtClean="0">
                <a:effectLst/>
                <a:sym typeface="+mn-ea"/>
              </a:rPr>
              <a:t>本文的结构分为三个主要研究内容，在研究内容一</a:t>
            </a:r>
            <a:r>
              <a:rPr lang="zh-CN" altLang="en-US" dirty="0" smtClean="0">
                <a:effectLst/>
                <a:sym typeface="+mn-ea"/>
              </a:rPr>
              <a:t>二中对聚合商的内外风险进行了分析。</a:t>
            </a:r>
            <a:r>
              <a:rPr lang="zh-CN" altLang="en-US" dirty="0" smtClean="0">
                <a:sym typeface="+mn-ea"/>
              </a:rPr>
              <a:t>对内，基于条件风险价值提出了聚合商最优成本选择；对外，从攻击者角度给出了针对聚合商外部攻击的攻击机理。然后在研究内容三从系统层面提出了一种考虑聚合商内外风险的多能信息物理系统分布式优化调度方法，使用考虑风险偏好的聚合商参与系统分布式调度的同时设计了双重保护机制保证系统的安全调度。</a:t>
            </a:r>
            <a:endParaRPr lang="zh-CN" altLang="zh-CN" dirty="0"/>
          </a:p>
        </p:txBody>
      </p:sp>
      <p:sp>
        <p:nvSpPr>
          <p:cNvPr id="235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5</a:t>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a:solidFill>
              <a:srgbClr val="000000">
                <a:alpha val="100000"/>
              </a:srgbClr>
            </a:solidFill>
            <a:miter lim="800000"/>
          </a:ln>
        </p:spPr>
      </p:sp>
      <p:sp>
        <p:nvSpPr>
          <p:cNvPr id="25603"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dirty="0" smtClean="0">
                <a:effectLst/>
                <a:sym typeface="+mn-ea"/>
              </a:rPr>
              <a:t>研究内容一针对聚合商内部风险进行研究</a:t>
            </a:r>
            <a:endParaRPr lang="zh-CN" altLang="en-US" dirty="0"/>
          </a:p>
        </p:txBody>
      </p:sp>
      <p:sp>
        <p:nvSpPr>
          <p:cNvPr id="2560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6</a:t>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a:solidFill>
              <a:srgbClr val="000000">
                <a:alpha val="100000"/>
              </a:srgbClr>
            </a:solidFill>
            <a:miter lim="800000"/>
          </a:ln>
        </p:spPr>
      </p:sp>
      <p:sp>
        <p:nvSpPr>
          <p:cNvPr id="27651" name="备注占位符 2"/>
          <p:cNvSpPr>
            <a:spLocks noGrp="1"/>
          </p:cNvSpPr>
          <p:nvPr>
            <p:ph type="body" idx="1"/>
          </p:nvPr>
        </p:nvSpPr>
        <p:spPr>
          <a:noFill/>
          <a:ln>
            <a:noFill/>
          </a:ln>
        </p:spPr>
        <p:txBody>
          <a:bodyPr wrap="square" lIns="91440" tIns="45720" rIns="91440" bIns="45720" anchor="t" anchorCtr="0"/>
          <a:lstStyle/>
          <a:p>
            <a:pPr lvl="0"/>
            <a:r>
              <a:rPr lang="zh-CN" altLang="zh-CN" dirty="0" smtClean="0">
                <a:effectLst/>
                <a:sym typeface="+mn-ea"/>
              </a:rPr>
              <a:t>首先考虑聚合商的运行特性，对聚合商分布式资源进行建模。</a:t>
            </a:r>
            <a:endParaRPr lang="zh-CN" altLang="zh-CN" dirty="0"/>
          </a:p>
        </p:txBody>
      </p:sp>
      <p:sp>
        <p:nvSpPr>
          <p:cNvPr id="2765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7</a:t>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a:solidFill>
              <a:srgbClr val="000000">
                <a:alpha val="100000"/>
              </a:srgbClr>
            </a:solidFill>
            <a:miter lim="800000"/>
          </a:ln>
        </p:spPr>
      </p:sp>
      <p:sp>
        <p:nvSpPr>
          <p:cNvPr id="29699" name="备注占位符 2"/>
          <p:cNvSpPr>
            <a:spLocks noGrp="1"/>
          </p:cNvSpPr>
          <p:nvPr>
            <p:ph type="body" idx="1"/>
          </p:nvPr>
        </p:nvSpPr>
        <p:spPr>
          <a:noFill/>
          <a:ln>
            <a:noFill/>
          </a:ln>
        </p:spPr>
        <p:txBody>
          <a:bodyPr wrap="square" lIns="91440" tIns="45720" rIns="91440" bIns="45720" anchor="t" anchorCtr="0"/>
          <a:lstStyle/>
          <a:p>
            <a:pPr lvl="0"/>
            <a:r>
              <a:rPr lang="zh-CN" altLang="zh-CN" dirty="0" smtClean="0">
                <a:effectLst/>
                <a:sym typeface="+mn-ea"/>
              </a:rPr>
              <a:t>然后给出了影响聚合商的内部不确定风险</a:t>
            </a:r>
            <a:endParaRPr lang="zh-CN" altLang="zh-CN" dirty="0"/>
          </a:p>
        </p:txBody>
      </p:sp>
      <p:sp>
        <p:nvSpPr>
          <p:cNvPr id="297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8</a:t>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a:solidFill>
              <a:srgbClr val="000000">
                <a:alpha val="100000"/>
              </a:srgbClr>
            </a:solidFill>
            <a:miter lim="800000"/>
          </a:ln>
        </p:spPr>
      </p:sp>
      <p:sp>
        <p:nvSpPr>
          <p:cNvPr id="31747" name="备注占位符 2"/>
          <p:cNvSpPr>
            <a:spLocks noGrp="1"/>
          </p:cNvSpPr>
          <p:nvPr>
            <p:ph type="body" idx="1"/>
          </p:nvPr>
        </p:nvSpPr>
        <p:spPr>
          <a:noFill/>
          <a:ln>
            <a:noFill/>
          </a:ln>
        </p:spPr>
        <p:txBody>
          <a:bodyPr wrap="square" lIns="91440" tIns="45720" rIns="91440" bIns="45720" anchor="t" anchorCtr="0"/>
          <a:lstStyle/>
          <a:p>
            <a:r>
              <a:rPr lang="zh-CN" altLang="zh-CN" sz="1200" kern="1200" dirty="0" smtClean="0">
                <a:solidFill>
                  <a:schemeClr val="tx1"/>
                </a:solidFill>
                <a:effectLst/>
                <a:latin typeface="+mn-lt"/>
                <a:ea typeface="+mn-ea"/>
                <a:cs typeface="+mn-cs"/>
              </a:rPr>
              <a:t>最后使用条件风险价值</a:t>
            </a:r>
            <a:r>
              <a:rPr lang="zh-CN" altLang="en-US" sz="1200" kern="1200" dirty="0" smtClean="0">
                <a:solidFill>
                  <a:schemeClr val="tx1"/>
                </a:solidFill>
                <a:effectLst/>
                <a:latin typeface="+mn-lt"/>
                <a:ea typeface="+mn-ea"/>
                <a:cs typeface="+mn-cs"/>
              </a:rPr>
              <a:t>度量</a:t>
            </a:r>
            <a:r>
              <a:rPr lang="zh-CN" altLang="zh-CN" sz="1200" kern="1200" dirty="0" smtClean="0">
                <a:solidFill>
                  <a:schemeClr val="tx1"/>
                </a:solidFill>
                <a:effectLst/>
                <a:latin typeface="+mn-lt"/>
                <a:ea typeface="+mn-ea"/>
                <a:cs typeface="+mn-cs"/>
              </a:rPr>
              <a:t>内部风险可能</a:t>
            </a:r>
            <a:r>
              <a:rPr lang="zh-CN" altLang="en-US" sz="1200" kern="1200" dirty="0" smtClean="0">
                <a:solidFill>
                  <a:schemeClr val="tx1"/>
                </a:solidFill>
                <a:effectLst/>
                <a:latin typeface="+mn-lt"/>
                <a:ea typeface="+mn-ea"/>
                <a:cs typeface="+mn-cs"/>
              </a:rPr>
              <a:t>产生的风险成本</a:t>
            </a:r>
            <a:r>
              <a:rPr lang="zh-CN" altLang="zh-CN" sz="1200" kern="1200" dirty="0" smtClean="0">
                <a:solidFill>
                  <a:schemeClr val="tx1"/>
                </a:solidFill>
                <a:effectLst/>
                <a:latin typeface="+mn-lt"/>
                <a:ea typeface="+mn-ea"/>
                <a:cs typeface="+mn-cs"/>
              </a:rPr>
              <a:t>并通过风险偏好系数加入聚合商成本中，使聚合商能够根据自己的风险偏好选择合适的风险投入使成本达到最优。</a:t>
            </a:r>
            <a:endParaRPr lang="zh-CN" altLang="en-US" dirty="0"/>
          </a:p>
        </p:txBody>
      </p:sp>
      <p:sp>
        <p:nvSpPr>
          <p:cNvPr id="3174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9</a:t>
            </a:fld>
            <a:endParaRPr lang="zh-CN"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a:solidFill>
              <a:srgbClr val="000000">
                <a:alpha val="100000"/>
              </a:srgbClr>
            </a:solidFill>
            <a:miter lim="800000"/>
          </a:ln>
        </p:spPr>
      </p:sp>
      <p:sp>
        <p:nvSpPr>
          <p:cNvPr id="33795"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kern="100" dirty="0" smtClean="0">
                <a:latin typeface="Times New Roman" panose="02020603050405020304" pitchFamily="18" charset="0"/>
                <a:ea typeface="+mn-ea"/>
                <a:cs typeface="Times New Roman" panose="02020603050405020304" pitchFamily="18" charset="0"/>
              </a:rPr>
              <a:t>可以看出，随着风险系数的增大，聚合商的总成本逐渐增大，说明聚合商投入抵抗风险的成本逐渐增大，但风险值逐渐减小，这时的聚合商的运营策略更加保守，受到的不确定性带来的影响也更小。但如果风险系数逐渐减小，说明此时聚合商的运营策略更加激进，聚合商试图用高风险换取更低的成本，但后续可能遭遇的风险也更大，在实际运营中，聚合商需要结合自身偏好决定风险系数的取值。</a:t>
            </a:r>
          </a:p>
        </p:txBody>
      </p:sp>
      <p:sp>
        <p:nvSpPr>
          <p:cNvPr id="337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10</a:t>
            </a:fld>
            <a:endParaRPr lang="zh-CN" altLang="en-US" sz="1200" dirty="0"/>
          </a:p>
        </p:txBody>
      </p:sp>
      <p:graphicFrame>
        <p:nvGraphicFramePr>
          <p:cNvPr id="33797" name="对象 1"/>
          <p:cNvGraphicFramePr>
            <a:graphicFrameLocks noChangeAspect="1"/>
          </p:cNvGraphicFramePr>
          <p:nvPr/>
        </p:nvGraphicFramePr>
        <p:xfrm>
          <a:off x="2949575" y="4452938"/>
          <a:ext cx="958850" cy="238125"/>
        </p:xfrm>
        <a:graphic>
          <a:graphicData uri="http://schemas.openxmlformats.org/presentationml/2006/ole">
            <mc:AlternateContent xmlns:mc="http://schemas.openxmlformats.org/markup-compatibility/2006">
              <mc:Choice xmlns:v="urn:schemas-microsoft-com:vml" Requires="v">
                <p:oleObj spid="_x0000_s5238" r:id="rId4" imgW="963295" imgH="239395" progId="Equation.DSMT4">
                  <p:embed/>
                </p:oleObj>
              </mc:Choice>
              <mc:Fallback>
                <p:oleObj r:id="rId4" imgW="963295" imgH="239395" progId="Equation.DSMT4">
                  <p:embed/>
                  <p:pic>
                    <p:nvPicPr>
                      <p:cNvPr id="0" name="图片 3075"/>
                      <p:cNvPicPr/>
                      <p:nvPr/>
                    </p:nvPicPr>
                    <p:blipFill>
                      <a:blip r:embed="rId5"/>
                      <a:stretch>
                        <a:fillRect/>
                      </a:stretch>
                    </p:blipFill>
                    <p:spPr>
                      <a:xfrm>
                        <a:off x="2949575" y="4452938"/>
                        <a:ext cx="958850" cy="238125"/>
                      </a:xfrm>
                      <a:prstGeom prst="rect">
                        <a:avLst/>
                      </a:prstGeom>
                      <a:noFill/>
                      <a:ln w="38100">
                        <a:noFill/>
                        <a:miter/>
                      </a:ln>
                    </p:spPr>
                  </p:pic>
                </p:oleObj>
              </mc:Fallback>
            </mc:AlternateContent>
          </a:graphicData>
        </a:graphic>
      </p:graphicFrame>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a:solidFill>
              <a:srgbClr val="000000">
                <a:alpha val="100000"/>
              </a:srgbClr>
            </a:solidFill>
            <a:miter lim="800000"/>
          </a:ln>
        </p:spPr>
      </p:sp>
      <p:sp>
        <p:nvSpPr>
          <p:cNvPr id="35843" name="备注占位符 2"/>
          <p:cNvSpPr>
            <a:spLocks noGrp="1"/>
          </p:cNvSpPr>
          <p:nvPr>
            <p:ph type="body" idx="1"/>
          </p:nvPr>
        </p:nvSpPr>
        <p:spPr>
          <a:noFill/>
          <a:ln>
            <a:noFill/>
          </a:ln>
        </p:spPr>
        <p:txBody>
          <a:bodyPr wrap="square" lIns="91440" tIns="45720" rIns="91440" bIns="45720" anchor="t" anchorCtr="0"/>
          <a:lstStyle/>
          <a:p>
            <a:r>
              <a:rPr lang="zh-CN" altLang="en-US" dirty="0" smtClean="0"/>
              <a:t>这里给出了不同风险偏好下聚合商的行为，</a:t>
            </a:r>
            <a:r>
              <a:rPr lang="zh-CN" altLang="zh-CN" sz="1200" kern="1200" dirty="0" smtClean="0">
                <a:solidFill>
                  <a:schemeClr val="tx1"/>
                </a:solidFill>
                <a:effectLst/>
                <a:latin typeface="+mn-lt"/>
                <a:ea typeface="+mn-ea"/>
                <a:cs typeface="+mn-cs"/>
              </a:rPr>
              <a:t>风险厌恶聚合商会</a:t>
            </a:r>
            <a:r>
              <a:rPr lang="zh-CN" altLang="en-US" sz="1200" kern="1200" dirty="0" smtClean="0">
                <a:solidFill>
                  <a:schemeClr val="tx1"/>
                </a:solidFill>
                <a:effectLst/>
                <a:latin typeface="+mn-lt"/>
                <a:ea typeface="+mn-ea"/>
                <a:cs typeface="+mn-cs"/>
              </a:rPr>
              <a:t>更倾向于</a:t>
            </a:r>
            <a:r>
              <a:rPr lang="zh-CN" altLang="zh-CN" sz="1200" kern="1200" dirty="0" smtClean="0">
                <a:solidFill>
                  <a:schemeClr val="tx1"/>
                </a:solidFill>
                <a:effectLst/>
                <a:latin typeface="+mn-lt"/>
                <a:ea typeface="+mn-ea"/>
                <a:cs typeface="+mn-cs"/>
              </a:rPr>
              <a:t>将负荷调向更低的</a:t>
            </a:r>
            <a:r>
              <a:rPr lang="zh-CN" altLang="en-US" sz="1200" kern="1200" dirty="0" smtClean="0">
                <a:solidFill>
                  <a:schemeClr val="tx1"/>
                </a:solidFill>
                <a:effectLst/>
                <a:latin typeface="+mn-lt"/>
                <a:ea typeface="+mn-ea"/>
                <a:cs typeface="+mn-cs"/>
              </a:rPr>
              <a:t>价格</a:t>
            </a:r>
            <a:r>
              <a:rPr lang="zh-CN" altLang="zh-CN" sz="1200" kern="1200" dirty="0" smtClean="0">
                <a:solidFill>
                  <a:schemeClr val="tx1"/>
                </a:solidFill>
                <a:effectLst/>
                <a:latin typeface="+mn-lt"/>
                <a:ea typeface="+mn-ea"/>
                <a:cs typeface="+mn-cs"/>
              </a:rPr>
              <a:t>水平来规避风险</a:t>
            </a:r>
            <a:r>
              <a:rPr lang="zh-CN" altLang="en-US" sz="1200" kern="1200" dirty="0" smtClean="0">
                <a:solidFill>
                  <a:schemeClr val="tx1"/>
                </a:solidFill>
                <a:effectLst/>
                <a:latin typeface="+mn-lt"/>
                <a:ea typeface="+mn-ea"/>
                <a:cs typeface="+mn-cs"/>
              </a:rPr>
              <a:t>，而</a:t>
            </a:r>
            <a:r>
              <a:rPr lang="zh-CN" altLang="zh-CN" sz="1200" kern="1200" dirty="0" smtClean="0">
                <a:solidFill>
                  <a:schemeClr val="tx1"/>
                </a:solidFill>
                <a:effectLst/>
                <a:latin typeface="+mn-lt"/>
                <a:ea typeface="+mn-ea"/>
                <a:cs typeface="+mn-cs"/>
              </a:rPr>
              <a:t>风险偏好聚合商更相信风光出力，在风光出力期间售电行为更</a:t>
            </a:r>
            <a:r>
              <a:rPr lang="zh-CN" altLang="en-US" sz="1200" kern="1200" dirty="0" smtClean="0">
                <a:solidFill>
                  <a:schemeClr val="tx1"/>
                </a:solidFill>
                <a:effectLst/>
                <a:latin typeface="+mn-lt"/>
                <a:ea typeface="+mn-ea"/>
                <a:cs typeface="+mn-cs"/>
              </a:rPr>
              <a:t>多</a:t>
            </a:r>
            <a:r>
              <a:rPr lang="zh-CN" altLang="zh-CN" sz="1200" kern="1200" dirty="0" smtClean="0">
                <a:solidFill>
                  <a:schemeClr val="tx1"/>
                </a:solidFill>
                <a:effectLst/>
                <a:latin typeface="+mn-lt"/>
                <a:ea typeface="+mn-ea"/>
                <a:cs typeface="+mn-cs"/>
              </a:rPr>
              <a:t>。</a:t>
            </a:r>
            <a:endParaRPr lang="zh-CN" altLang="en-US" dirty="0"/>
          </a:p>
        </p:txBody>
      </p:sp>
      <p:sp>
        <p:nvSpPr>
          <p:cNvPr id="358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11</a:t>
            </a:fld>
            <a:endParaRPr lang="zh-CN"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a:solidFill>
              <a:srgbClr val="000000">
                <a:alpha val="100000"/>
              </a:srgbClr>
            </a:solidFill>
            <a:miter lim="800000"/>
          </a:ln>
        </p:spPr>
      </p:sp>
      <p:sp>
        <p:nvSpPr>
          <p:cNvPr id="48131"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研究内容二针对聚合商外部风险进行研究</a:t>
            </a:r>
          </a:p>
        </p:txBody>
      </p:sp>
      <p:sp>
        <p:nvSpPr>
          <p:cNvPr id="4813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12</a:t>
            </a:fld>
            <a:endParaRPr lang="zh-CN"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a:solidFill>
              <a:srgbClr val="000000">
                <a:alpha val="100000"/>
              </a:srgbClr>
            </a:solidFill>
            <a:miter lim="800000"/>
          </a:ln>
        </p:spPr>
      </p:sp>
      <p:sp>
        <p:nvSpPr>
          <p:cNvPr id="50179" name="备注占位符 2"/>
          <p:cNvSpPr>
            <a:spLocks noGrp="1"/>
          </p:cNvSpPr>
          <p:nvPr>
            <p:ph type="body" idx="1"/>
          </p:nvPr>
        </p:nvSpPr>
        <p:spPr>
          <a:noFill/>
          <a:ln>
            <a:noFill/>
          </a:ln>
        </p:spPr>
        <p:txBody>
          <a:bodyPr wrap="square" lIns="91440" tIns="45720" rIns="91440" bIns="45720" anchor="t" anchorCtr="0"/>
          <a:lstStyle/>
          <a:p>
            <a:r>
              <a:rPr lang="zh-CN" altLang="zh-CN" sz="1200" kern="1200" dirty="0" smtClean="0">
                <a:solidFill>
                  <a:schemeClr val="tx1"/>
                </a:solidFill>
                <a:effectLst/>
                <a:latin typeface="+mn-lt"/>
                <a:ea typeface="+mn-ea"/>
                <a:cs typeface="+mn-cs"/>
              </a:rPr>
              <a:t>聚合商在信息物理系统中进行着频繁的交互，这导致其</a:t>
            </a:r>
            <a:r>
              <a:rPr lang="zh-CN" altLang="en-US" sz="1200" kern="1200" dirty="0" smtClean="0">
                <a:solidFill>
                  <a:schemeClr val="tx1"/>
                </a:solidFill>
                <a:effectLst/>
                <a:latin typeface="+mn-lt"/>
                <a:ea typeface="+mn-ea"/>
                <a:cs typeface="+mn-cs"/>
              </a:rPr>
              <a:t>遭受</a:t>
            </a:r>
            <a:r>
              <a:rPr lang="zh-CN" altLang="zh-CN" sz="1200" kern="1200" dirty="0" smtClean="0">
                <a:solidFill>
                  <a:schemeClr val="tx1"/>
                </a:solidFill>
                <a:effectLst/>
                <a:latin typeface="+mn-lt"/>
                <a:ea typeface="+mn-ea"/>
                <a:cs typeface="+mn-cs"/>
              </a:rPr>
              <a:t>攻击的风险</a:t>
            </a:r>
            <a:r>
              <a:rPr lang="zh-CN" altLang="en-US" sz="1200" kern="1200" dirty="0" smtClean="0">
                <a:solidFill>
                  <a:schemeClr val="tx1"/>
                </a:solidFill>
                <a:effectLst/>
                <a:latin typeface="+mn-lt"/>
                <a:ea typeface="+mn-ea"/>
                <a:cs typeface="+mn-cs"/>
              </a:rPr>
              <a:t>增</a:t>
            </a:r>
            <a:r>
              <a:rPr lang="zh-CN" altLang="zh-CN" sz="1200" kern="1200" dirty="0" smtClean="0">
                <a:solidFill>
                  <a:schemeClr val="tx1"/>
                </a:solidFill>
                <a:effectLst/>
                <a:latin typeface="+mn-lt"/>
                <a:ea typeface="+mn-ea"/>
                <a:cs typeface="+mn-cs"/>
              </a:rPr>
              <a:t>高。因此本节着眼于</a:t>
            </a:r>
            <a:r>
              <a:rPr lang="zh-CN" altLang="en-US" sz="1200" kern="1200" dirty="0" smtClean="0">
                <a:solidFill>
                  <a:schemeClr val="tx1"/>
                </a:solidFill>
                <a:effectLst/>
                <a:latin typeface="+mn-lt"/>
                <a:ea typeface="+mn-ea"/>
                <a:cs typeface="+mn-cs"/>
              </a:rPr>
              <a:t>聚合商</a:t>
            </a:r>
            <a:r>
              <a:rPr lang="zh-CN" altLang="zh-CN" sz="1200" kern="1200" dirty="0" smtClean="0">
                <a:solidFill>
                  <a:schemeClr val="tx1"/>
                </a:solidFill>
                <a:effectLst/>
                <a:latin typeface="+mn-lt"/>
                <a:ea typeface="+mn-ea"/>
                <a:cs typeface="+mn-cs"/>
              </a:rPr>
              <a:t>外部</a:t>
            </a:r>
            <a:r>
              <a:rPr lang="zh-CN" altLang="en-US" sz="1200" kern="1200" dirty="0" smtClean="0">
                <a:solidFill>
                  <a:schemeClr val="tx1"/>
                </a:solidFill>
                <a:effectLst/>
                <a:latin typeface="+mn-lt"/>
                <a:ea typeface="+mn-ea"/>
                <a:cs typeface="+mn-cs"/>
              </a:rPr>
              <a:t>风险中的</a:t>
            </a:r>
            <a:r>
              <a:rPr lang="zh-CN" altLang="zh-CN" sz="1200" kern="1200" dirty="0" smtClean="0">
                <a:solidFill>
                  <a:schemeClr val="tx1"/>
                </a:solidFill>
                <a:effectLst/>
                <a:latin typeface="+mn-lt"/>
                <a:ea typeface="+mn-ea"/>
                <a:cs typeface="+mn-cs"/>
              </a:rPr>
              <a:t>网络攻击风险，建立了相应的攻击模型来模拟攻击者</a:t>
            </a:r>
            <a:r>
              <a:rPr lang="zh-CN" altLang="en-US" sz="1200" kern="1200" dirty="0" smtClean="0">
                <a:solidFill>
                  <a:schemeClr val="tx1"/>
                </a:solidFill>
                <a:effectLst/>
                <a:latin typeface="+mn-lt"/>
                <a:ea typeface="+mn-ea"/>
                <a:cs typeface="+mn-cs"/>
              </a:rPr>
              <a:t>对</a:t>
            </a:r>
            <a:r>
              <a:rPr lang="zh-CN" altLang="zh-CN" sz="1200" kern="1200" dirty="0" smtClean="0">
                <a:solidFill>
                  <a:schemeClr val="tx1"/>
                </a:solidFill>
                <a:effectLst/>
                <a:latin typeface="+mn-lt"/>
                <a:ea typeface="+mn-ea"/>
                <a:cs typeface="+mn-cs"/>
              </a:rPr>
              <a:t>聚合商的</a:t>
            </a:r>
            <a:r>
              <a:rPr lang="zh-CN" altLang="en-US" sz="1200" kern="1200" dirty="0" smtClean="0">
                <a:solidFill>
                  <a:schemeClr val="tx1"/>
                </a:solidFill>
                <a:effectLst/>
                <a:latin typeface="+mn-lt"/>
                <a:ea typeface="+mn-ea"/>
                <a:cs typeface="+mn-cs"/>
              </a:rPr>
              <a:t>攻击</a:t>
            </a:r>
            <a:r>
              <a:rPr lang="zh-CN" altLang="zh-CN" sz="1200" kern="1200" dirty="0" smtClean="0">
                <a:solidFill>
                  <a:schemeClr val="tx1"/>
                </a:solidFill>
                <a:effectLst/>
                <a:latin typeface="+mn-lt"/>
                <a:ea typeface="+mn-ea"/>
                <a:cs typeface="+mn-cs"/>
              </a:rPr>
              <a:t>行为。</a:t>
            </a:r>
          </a:p>
        </p:txBody>
      </p:sp>
      <p:sp>
        <p:nvSpPr>
          <p:cNvPr id="5018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13</a:t>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a:solidFill>
              <a:srgbClr val="000000">
                <a:alpha val="100000"/>
              </a:srgbClr>
            </a:solidFill>
            <a:miter lim="800000"/>
          </a:ln>
        </p:spPr>
      </p:sp>
      <p:sp>
        <p:nvSpPr>
          <p:cNvPr id="52227" name="备注占位符 2"/>
          <p:cNvSpPr>
            <a:spLocks noGrp="1"/>
          </p:cNvSpPr>
          <p:nvPr>
            <p:ph type="body" idx="1"/>
          </p:nvPr>
        </p:nvSpPr>
        <p:spPr>
          <a:noFill/>
          <a:ln>
            <a:noFill/>
          </a:ln>
        </p:spPr>
        <p:txBody>
          <a:bodyPr wrap="square" lIns="91440" tIns="45720" rIns="91440" bIns="45720" anchor="t" anchorCtr="0"/>
          <a:lstStyle/>
          <a:p>
            <a:r>
              <a:rPr lang="zh-CN" altLang="en-US" dirty="0" smtClean="0"/>
              <a:t>这里给出攻击者的成本和收益建模</a:t>
            </a:r>
            <a:endParaRPr lang="zh-CN" altLang="en-US" dirty="0"/>
          </a:p>
        </p:txBody>
      </p:sp>
      <p:sp>
        <p:nvSpPr>
          <p:cNvPr id="5222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14</a:t>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a:solidFill>
              <a:srgbClr val="000000">
                <a:alpha val="100000"/>
              </a:srgbClr>
            </a:solidFill>
            <a:miter lim="800000"/>
          </a:ln>
        </p:spPr>
      </p:sp>
      <p:sp>
        <p:nvSpPr>
          <p:cNvPr id="54275"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effectLst/>
                <a:latin typeface="+mn-lt"/>
                <a:ea typeface="+mn-ea"/>
                <a:cs typeface="+mn-cs"/>
              </a:rPr>
              <a:t>所述</a:t>
            </a:r>
            <a:r>
              <a:rPr lang="zh-CN" altLang="zh-CN" sz="1200" kern="1200" dirty="0" smtClean="0">
                <a:solidFill>
                  <a:schemeClr val="tx1"/>
                </a:solidFill>
                <a:effectLst/>
                <a:latin typeface="+mn-lt"/>
                <a:ea typeface="+mn-ea"/>
                <a:cs typeface="+mn-cs"/>
              </a:rPr>
              <a:t>攻击模型为双层模型，上层模型对攻击者行为进行模拟，下层模型对聚合商</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用户</a:t>
            </a:r>
            <a:r>
              <a:rPr lang="zh-CN" altLang="zh-CN" sz="1200" kern="1200" dirty="0" smtClean="0">
                <a:solidFill>
                  <a:schemeClr val="tx1"/>
                </a:solidFill>
                <a:effectLst/>
                <a:latin typeface="+mn-lt"/>
                <a:ea typeface="+mn-ea"/>
                <a:cs typeface="+mn-cs"/>
              </a:rPr>
              <a:t>交互过程进行模拟。</a:t>
            </a:r>
            <a:r>
              <a:rPr lang="zh-CN" altLang="en-US" sz="1200" kern="1200" dirty="0" smtClean="0">
                <a:solidFill>
                  <a:schemeClr val="tx1"/>
                </a:solidFill>
                <a:effectLst/>
                <a:latin typeface="+mn-lt"/>
                <a:ea typeface="+mn-ea"/>
                <a:cs typeface="+mn-cs"/>
              </a:rPr>
              <a:t>受到</a:t>
            </a:r>
            <a:r>
              <a:rPr lang="zh-CN" altLang="zh-CN" sz="1200" kern="1200" dirty="0" smtClean="0">
                <a:solidFill>
                  <a:schemeClr val="tx1"/>
                </a:solidFill>
                <a:effectLst/>
                <a:latin typeface="+mn-lt"/>
                <a:ea typeface="+mn-ea"/>
                <a:cs typeface="+mn-cs"/>
              </a:rPr>
              <a:t>上层</a:t>
            </a:r>
            <a:r>
              <a:rPr lang="zh-CN" altLang="en-US" sz="1200" kern="1200" dirty="0" smtClean="0">
                <a:solidFill>
                  <a:schemeClr val="tx1"/>
                </a:solidFill>
                <a:effectLst/>
                <a:latin typeface="+mn-lt"/>
                <a:ea typeface="+mn-ea"/>
                <a:cs typeface="+mn-cs"/>
              </a:rPr>
              <a:t>生成的</a:t>
            </a:r>
            <a:r>
              <a:rPr lang="zh-CN" altLang="zh-CN" sz="1200" kern="1200" dirty="0" smtClean="0">
                <a:solidFill>
                  <a:schemeClr val="tx1"/>
                </a:solidFill>
                <a:effectLst/>
                <a:latin typeface="+mn-lt"/>
                <a:ea typeface="+mn-ea"/>
                <a:cs typeface="+mn-cs"/>
              </a:rPr>
              <a:t>虚假成本参数影响，聚合商会误导用户响应。</a:t>
            </a:r>
          </a:p>
        </p:txBody>
      </p:sp>
      <p:sp>
        <p:nvSpPr>
          <p:cNvPr id="5427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15</a:t>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a:solidFill>
              <a:srgbClr val="000000">
                <a:alpha val="100000"/>
              </a:srgbClr>
            </a:solidFill>
            <a:miter lim="800000"/>
          </a:ln>
        </p:spPr>
      </p:sp>
      <p:sp>
        <p:nvSpPr>
          <p:cNvPr id="56323"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这里给出攻击</a:t>
            </a:r>
            <a:r>
              <a:rPr lang="zh-CN" altLang="en-US" sz="1200" kern="1200" dirty="0" smtClean="0">
                <a:solidFill>
                  <a:schemeClr val="tx1"/>
                </a:solidFill>
                <a:effectLst/>
                <a:latin typeface="+mn-lt"/>
                <a:ea typeface="+mn-ea"/>
                <a:cs typeface="+mn-cs"/>
              </a:rPr>
              <a:t>规划</a:t>
            </a:r>
            <a:r>
              <a:rPr lang="zh-CN" altLang="zh-CN" sz="1200" kern="1200" dirty="0" smtClean="0">
                <a:solidFill>
                  <a:schemeClr val="tx1"/>
                </a:solidFill>
                <a:effectLst/>
                <a:latin typeface="+mn-lt"/>
                <a:ea typeface="+mn-ea"/>
                <a:cs typeface="+mn-cs"/>
              </a:rPr>
              <a:t>层和聚合商运营层的目标函数和约束。</a:t>
            </a:r>
          </a:p>
        </p:txBody>
      </p:sp>
      <p:sp>
        <p:nvSpPr>
          <p:cNvPr id="5632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16</a:t>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a:solidFill>
              <a:srgbClr val="000000">
                <a:alpha val="100000"/>
              </a:srgbClr>
            </a:solidFill>
            <a:miter lim="800000"/>
          </a:ln>
        </p:spPr>
      </p:sp>
      <p:sp>
        <p:nvSpPr>
          <p:cNvPr id="58371"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smtClean="0">
                <a:latin typeface="微软雅黑" panose="020B0503020204020204" pitchFamily="34" charset="-122"/>
                <a:ea typeface="微软雅黑" panose="020B0503020204020204" pitchFamily="34" charset="-122"/>
              </a:rPr>
              <a:t>通过计算</a:t>
            </a:r>
            <a:r>
              <a:rPr lang="en-US" altLang="zh-CN" dirty="0" smtClean="0">
                <a:latin typeface="微软雅黑" panose="020B0503020204020204" pitchFamily="34" charset="-122"/>
                <a:ea typeface="微软雅黑" panose="020B0503020204020204" pitchFamily="34" charset="-122"/>
              </a:rPr>
              <a:t>24</a:t>
            </a:r>
            <a:r>
              <a:rPr lang="zh-CN" altLang="zh-CN" dirty="0" smtClean="0">
                <a:latin typeface="微软雅黑" panose="020B0503020204020204" pitchFamily="34" charset="-122"/>
                <a:ea typeface="微软雅黑" panose="020B0503020204020204" pitchFamily="34" charset="-122"/>
              </a:rPr>
              <a:t>小时内攻击聚合商</a:t>
            </a:r>
            <a:r>
              <a:rPr lang="zh-CN" altLang="en-US" dirty="0" smtClean="0">
                <a:latin typeface="微软雅黑" panose="020B0503020204020204" pitchFamily="34" charset="-122"/>
                <a:ea typeface="微软雅黑" panose="020B0503020204020204" pitchFamily="34" charset="-122"/>
              </a:rPr>
              <a:t>所获收益</a:t>
            </a:r>
            <a:r>
              <a:rPr lang="zh-CN"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可以得到攻击者更易发动</a:t>
            </a:r>
            <a:r>
              <a:rPr lang="zh-CN" altLang="zh-CN" dirty="0" smtClean="0">
                <a:latin typeface="微软雅黑" panose="020B0503020204020204" pitchFamily="34" charset="-122"/>
                <a:ea typeface="微软雅黑" panose="020B0503020204020204" pitchFamily="34" charset="-122"/>
              </a:rPr>
              <a:t>攻击</a:t>
            </a:r>
            <a:r>
              <a:rPr lang="zh-CN" altLang="en-US" dirty="0" smtClean="0">
                <a:latin typeface="微软雅黑" panose="020B0503020204020204" pitchFamily="34" charset="-122"/>
                <a:ea typeface="微软雅黑" panose="020B0503020204020204" pitchFamily="34" charset="-122"/>
              </a:rPr>
              <a:t>的时段</a:t>
            </a:r>
            <a:r>
              <a:rPr lang="zh-CN" altLang="zh-CN" dirty="0" smtClean="0">
                <a:latin typeface="微软雅黑" panose="020B0503020204020204" pitchFamily="34" charset="-122"/>
                <a:ea typeface="微软雅黑" panose="020B0503020204020204" pitchFamily="34" charset="-122"/>
              </a:rPr>
              <a:t>。</a:t>
            </a:r>
            <a:endParaRPr lang="zh-CN" altLang="en-US" dirty="0"/>
          </a:p>
        </p:txBody>
      </p:sp>
      <p:sp>
        <p:nvSpPr>
          <p:cNvPr id="583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17</a:t>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a:solidFill>
              <a:srgbClr val="000000">
                <a:alpha val="100000"/>
              </a:srgbClr>
            </a:solidFill>
            <a:miter lim="800000"/>
          </a:ln>
        </p:spPr>
      </p:sp>
      <p:sp>
        <p:nvSpPr>
          <p:cNvPr id="58371" name="备注占位符 2"/>
          <p:cNvSpPr>
            <a:spLocks noGrp="1"/>
          </p:cNvSpPr>
          <p:nvPr>
            <p:ph type="body" idx="1"/>
          </p:nvPr>
        </p:nvSpPr>
        <p:spPr>
          <a:noFill/>
          <a:ln>
            <a:noFill/>
          </a:ln>
        </p:spPr>
        <p:txBody>
          <a:bodyPr wrap="square" lIns="91440" tIns="45720" rIns="91440" bIns="45720" anchor="t" anchorCtr="0"/>
          <a:lstStyle/>
          <a:p>
            <a:r>
              <a:rPr lang="zh-CN" altLang="en-US" dirty="0" smtClean="0"/>
              <a:t>这里给出聚合商受到攻击后下属负荷响应和价格变化，可以看出攻击会造成聚合商下属负荷误响应，使聚合商无法完成规定的调节任务造成系统波动，</a:t>
            </a:r>
            <a:r>
              <a:rPr lang="zh-CN" altLang="zh-CN" sz="1200" kern="1200" dirty="0" smtClean="0">
                <a:solidFill>
                  <a:schemeClr val="tx1"/>
                </a:solidFill>
                <a:effectLst/>
                <a:latin typeface="+mn-lt"/>
                <a:ea typeface="+mn-ea"/>
                <a:cs typeface="+mn-cs"/>
              </a:rPr>
              <a:t>同时可以看出该攻击具有一定的隐蔽性，</a:t>
            </a:r>
            <a:r>
              <a:rPr lang="zh-CN" altLang="en-US" sz="1200" kern="1200" dirty="0" smtClean="0">
                <a:solidFill>
                  <a:schemeClr val="tx1"/>
                </a:solidFill>
                <a:effectLst/>
                <a:latin typeface="+mn-lt"/>
                <a:ea typeface="+mn-ea"/>
                <a:cs typeface="+mn-cs"/>
              </a:rPr>
              <a:t>在负荷高峰期间会回归正常，这使攻击难以被察觉。该章发表论文一篇。</a:t>
            </a:r>
            <a:endParaRPr lang="zh-CN" altLang="en-US" dirty="0"/>
          </a:p>
        </p:txBody>
      </p:sp>
      <p:sp>
        <p:nvSpPr>
          <p:cNvPr id="583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18</a:t>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a:solidFill>
              <a:srgbClr val="000000">
                <a:alpha val="100000"/>
              </a:srgbClr>
            </a:solidFill>
            <a:miter lim="800000"/>
          </a:ln>
        </p:spPr>
      </p:sp>
      <p:sp>
        <p:nvSpPr>
          <p:cNvPr id="64515" name="备注占位符 2"/>
          <p:cNvSpPr>
            <a:spLocks noGrp="1"/>
          </p:cNvSpPr>
          <p:nvPr>
            <p:ph type="body" idx="1"/>
          </p:nvPr>
        </p:nvSpPr>
        <p:spPr>
          <a:noFill/>
          <a:ln>
            <a:noFill/>
          </a:ln>
        </p:spPr>
        <p:txBody>
          <a:bodyPr wrap="square" lIns="91440" tIns="45720" rIns="91440" bIns="45720" anchor="t" anchorCtr="0"/>
          <a:lstStyle/>
          <a:p>
            <a:r>
              <a:rPr lang="zh-CN" altLang="en-US" dirty="0" smtClean="0"/>
              <a:t>研究内容三综合前两部分内容，提出了一种考虑聚合商风险的多能信息物理系统分布式优化调度方法</a:t>
            </a:r>
          </a:p>
        </p:txBody>
      </p:sp>
      <p:sp>
        <p:nvSpPr>
          <p:cNvPr id="6451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19</a:t>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a:solidFill>
              <a:srgbClr val="000000">
                <a:alpha val="100000"/>
              </a:srgbClr>
            </a:solidFill>
            <a:miter lim="800000"/>
          </a:ln>
        </p:spPr>
      </p:sp>
      <p:sp>
        <p:nvSpPr>
          <p:cNvPr id="66563" name="备注占位符 2"/>
          <p:cNvSpPr>
            <a:spLocks noGrp="1"/>
          </p:cNvSpPr>
          <p:nvPr>
            <p:ph type="body" idx="1"/>
          </p:nvPr>
        </p:nvSpPr>
        <p:spPr>
          <a:noFill/>
          <a:ln>
            <a:noFill/>
          </a:ln>
        </p:spPr>
        <p:txBody>
          <a:bodyPr wrap="square" lIns="91440" tIns="45720" rIns="91440" bIns="45720" anchor="t" anchorCtr="0"/>
          <a:lstStyle/>
          <a:p>
            <a:pPr lvl="0"/>
            <a:r>
              <a:rPr lang="zh-CN" altLang="zh-CN" sz="1200" kern="1200" dirty="0" smtClean="0">
                <a:solidFill>
                  <a:schemeClr val="tx1"/>
                </a:solidFill>
                <a:effectLst/>
                <a:latin typeface="+mn-lt"/>
                <a:ea typeface="+mn-ea"/>
                <a:cs typeface="+mn-cs"/>
              </a:rPr>
              <a:t>首先对多能信息物理系统各子系统模型及约束进行建模</a:t>
            </a:r>
            <a:endParaRPr lang="zh-CN" altLang="zh-CN" sz="1200" kern="1200" dirty="0">
              <a:solidFill>
                <a:schemeClr val="tx1"/>
              </a:solidFill>
              <a:effectLst/>
              <a:latin typeface="+mn-lt"/>
              <a:ea typeface="+mn-ea"/>
              <a:cs typeface="+mn-cs"/>
            </a:endParaRPr>
          </a:p>
        </p:txBody>
      </p:sp>
      <p:sp>
        <p:nvSpPr>
          <p:cNvPr id="665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20</a:t>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a:solidFill>
              <a:srgbClr val="000000">
                <a:alpha val="100000"/>
              </a:srgbClr>
            </a:solidFill>
            <a:miter lim="800000"/>
          </a:ln>
        </p:spPr>
      </p:sp>
      <p:sp>
        <p:nvSpPr>
          <p:cNvPr id="70659" name="备注占位符 2"/>
          <p:cNvSpPr>
            <a:spLocks noGrp="1"/>
          </p:cNvSpPr>
          <p:nvPr>
            <p:ph type="body" idx="1"/>
          </p:nvPr>
        </p:nvSpPr>
        <p:spPr>
          <a:noFill/>
          <a:ln>
            <a:noFill/>
          </a:ln>
        </p:spPr>
        <p:txBody>
          <a:bodyPr wrap="square" lIns="91440" tIns="45720" rIns="91440" bIns="45720" anchor="t" anchorCtr="0"/>
          <a:lstStyle/>
          <a:p>
            <a:r>
              <a:rPr lang="zh-CN" altLang="en-US" dirty="0" smtClean="0"/>
              <a:t>由研究内容一可知运营商的定价能够影响聚合商下负荷响应，这里建立运营商与聚合商的交互模型</a:t>
            </a:r>
            <a:endParaRPr lang="zh-CN" altLang="en-US" dirty="0"/>
          </a:p>
        </p:txBody>
      </p:sp>
      <p:sp>
        <p:nvSpPr>
          <p:cNvPr id="7066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21</a:t>
            </a:fld>
            <a:endParaRPr lang="zh-CN"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a:solidFill>
              <a:srgbClr val="000000">
                <a:alpha val="100000"/>
              </a:srgbClr>
            </a:solidFill>
            <a:miter lim="800000"/>
          </a:ln>
        </p:spPr>
      </p:sp>
      <p:sp>
        <p:nvSpPr>
          <p:cNvPr id="68611" name="备注占位符 2"/>
          <p:cNvSpPr>
            <a:spLocks noGrp="1"/>
          </p:cNvSpPr>
          <p:nvPr>
            <p:ph type="body" idx="1"/>
          </p:nvPr>
        </p:nvSpPr>
        <p:spPr>
          <a:noFill/>
          <a:ln>
            <a:noFill/>
          </a:ln>
        </p:spPr>
        <p:txBody>
          <a:bodyPr wrap="square" lIns="91440" tIns="45720" rIns="91440" bIns="45720" anchor="t" anchorCtr="0"/>
          <a:lstStyle/>
          <a:p>
            <a:r>
              <a:rPr lang="zh-CN" altLang="en-US" kern="100" dirty="0" smtClean="0">
                <a:latin typeface="Times New Roman" panose="02020603050405020304" pitchFamily="18" charset="0"/>
                <a:ea typeface="+mn-ea"/>
                <a:cs typeface="Times New Roman" panose="02020603050405020304" pitchFamily="18" charset="0"/>
              </a:rPr>
              <a:t>这里给出了系统经济调度的目标函数和约束，使用</a:t>
            </a:r>
            <a:r>
              <a:rPr lang="zh-CN" altLang="zh-CN" kern="100" dirty="0" smtClean="0">
                <a:latin typeface="Times New Roman" panose="02020603050405020304" pitchFamily="18" charset="0"/>
                <a:ea typeface="+mn-ea"/>
                <a:cs typeface="Times New Roman" panose="02020603050405020304" pitchFamily="18" charset="0"/>
              </a:rPr>
              <a:t>改进分布式双一致算法</a:t>
            </a:r>
            <a:r>
              <a:rPr lang="zh-CN" altLang="en-US" kern="100" dirty="0" smtClean="0">
                <a:latin typeface="Times New Roman" panose="02020603050405020304" pitchFamily="18" charset="0"/>
                <a:ea typeface="+mn-ea"/>
                <a:cs typeface="Times New Roman" panose="02020603050405020304" pitchFamily="18" charset="0"/>
              </a:rPr>
              <a:t>对多能信息物理系统进行经济调度</a:t>
            </a:r>
            <a:endParaRPr lang="zh-CN" altLang="en-US" dirty="0"/>
          </a:p>
        </p:txBody>
      </p:sp>
      <p:sp>
        <p:nvSpPr>
          <p:cNvPr id="6861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22</a:t>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a:solidFill>
              <a:srgbClr val="000000">
                <a:alpha val="100000"/>
              </a:srgbClr>
            </a:solidFill>
            <a:miter lim="800000"/>
          </a:ln>
        </p:spPr>
      </p:sp>
      <p:sp>
        <p:nvSpPr>
          <p:cNvPr id="72707"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effectLst/>
                <a:latin typeface="+mn-lt"/>
                <a:ea typeface="+mn-ea"/>
                <a:cs typeface="+mn-cs"/>
              </a:rPr>
              <a:t>由研究内容二可知发动</a:t>
            </a:r>
            <a:r>
              <a:rPr lang="zh-CN" altLang="zh-CN" sz="1200" kern="1200" dirty="0" smtClean="0">
                <a:solidFill>
                  <a:schemeClr val="tx1"/>
                </a:solidFill>
                <a:effectLst/>
                <a:latin typeface="+mn-lt"/>
                <a:ea typeface="+mn-ea"/>
                <a:cs typeface="+mn-cs"/>
              </a:rPr>
              <a:t>攻击的技术前提是得到聚合商的关键参数信息，针对该特性提出了一种状态分解方法，使攻击者无法</a:t>
            </a:r>
            <a:r>
              <a:rPr lang="zh-CN" altLang="en-US" sz="1200" kern="1200" dirty="0" smtClean="0">
                <a:solidFill>
                  <a:schemeClr val="tx1"/>
                </a:solidFill>
                <a:effectLst/>
                <a:latin typeface="+mn-lt"/>
                <a:ea typeface="+mn-ea"/>
                <a:cs typeface="+mn-cs"/>
              </a:rPr>
              <a:t>获取</a:t>
            </a:r>
            <a:r>
              <a:rPr lang="zh-CN" altLang="zh-CN" sz="1200" kern="1200" dirty="0" smtClean="0">
                <a:solidFill>
                  <a:schemeClr val="tx1"/>
                </a:solidFill>
                <a:effectLst/>
                <a:latin typeface="+mn-lt"/>
                <a:ea typeface="+mn-ea"/>
                <a:cs typeface="+mn-cs"/>
              </a:rPr>
              <a:t>完整信息，起到</a:t>
            </a:r>
            <a:r>
              <a:rPr lang="zh-CN" altLang="en-US" sz="1200" kern="1200" dirty="0" smtClean="0">
                <a:solidFill>
                  <a:schemeClr val="tx1"/>
                </a:solidFill>
                <a:effectLst/>
                <a:latin typeface="+mn-lt"/>
                <a:ea typeface="+mn-ea"/>
                <a:cs typeface="+mn-cs"/>
              </a:rPr>
              <a:t>外层</a:t>
            </a:r>
            <a:r>
              <a:rPr lang="zh-CN" altLang="zh-CN" sz="1200" kern="1200" dirty="0" smtClean="0">
                <a:solidFill>
                  <a:schemeClr val="tx1"/>
                </a:solidFill>
                <a:effectLst/>
                <a:latin typeface="+mn-lt"/>
                <a:ea typeface="+mn-ea"/>
                <a:cs typeface="+mn-cs"/>
              </a:rPr>
              <a:t>防御作用。</a:t>
            </a:r>
          </a:p>
        </p:txBody>
      </p:sp>
      <p:sp>
        <p:nvSpPr>
          <p:cNvPr id="7270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23</a:t>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440" tIns="45720" rIns="91440" bIns="45720" anchor="t" anchorCtr="0"/>
          <a:lstStyle/>
          <a:p>
            <a:r>
              <a:rPr lang="zh-CN" altLang="en-US" dirty="0" smtClean="0"/>
              <a:t>如果系统已经遭受了虚假数据注入攻击，外层防御失去效果，为了避免攻击对系统造成进一步损害，这里建立了一种监测隔离机制来对攻击进行防御。监测流程如图</a:t>
            </a:r>
            <a:endParaRPr lang="zh-CN" altLang="en-US" dirty="0"/>
          </a:p>
        </p:txBody>
      </p:sp>
      <p:sp>
        <p:nvSpPr>
          <p:cNvPr id="747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24</a:t>
            </a:fld>
            <a:endParaRPr lang="zh-CN"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440" tIns="45720" rIns="91440" bIns="45720" anchor="t" anchorCtr="0"/>
          <a:lstStyle/>
          <a:p>
            <a:r>
              <a:rPr lang="zh-CN" altLang="zh-CN" sz="1200" kern="1200" dirty="0" smtClean="0">
                <a:solidFill>
                  <a:schemeClr val="tx1"/>
                </a:solidFill>
                <a:effectLst/>
                <a:latin typeface="+mn-lt"/>
                <a:ea typeface="+mn-ea"/>
                <a:cs typeface="+mn-cs"/>
              </a:rPr>
              <a:t>当监测指标为</a:t>
            </a:r>
            <a:r>
              <a:rPr lang="en-US" altLang="zh-CN" sz="1200" kern="1200" dirty="0" smtClean="0">
                <a:solidFill>
                  <a:schemeClr val="tx1"/>
                </a:solidFill>
                <a:effectLst/>
                <a:latin typeface="+mn-lt"/>
                <a:ea typeface="+mn-ea"/>
                <a:cs typeface="+mn-cs"/>
              </a:rPr>
              <a:t>0</a:t>
            </a:r>
            <a:r>
              <a:rPr lang="zh-CN" altLang="zh-CN" sz="1200" kern="1200" dirty="0" smtClean="0">
                <a:solidFill>
                  <a:schemeClr val="tx1"/>
                </a:solidFill>
                <a:effectLst/>
                <a:latin typeface="+mn-lt"/>
                <a:ea typeface="+mn-ea"/>
                <a:cs typeface="+mn-cs"/>
              </a:rPr>
              <a:t>时只能判断智能体</a:t>
            </a:r>
            <a:r>
              <a:rPr lang="zh-CN" altLang="en-US" sz="1200" kern="1200" dirty="0" smtClean="0">
                <a:solidFill>
                  <a:schemeClr val="tx1"/>
                </a:solidFill>
                <a:effectLst/>
                <a:latin typeface="+mn-lt"/>
                <a:ea typeface="+mn-ea"/>
                <a:cs typeface="+mn-cs"/>
              </a:rPr>
              <a:t>可能</a:t>
            </a:r>
            <a:r>
              <a:rPr lang="zh-CN" altLang="zh-CN" sz="1200" kern="1200" dirty="0" smtClean="0">
                <a:solidFill>
                  <a:schemeClr val="tx1"/>
                </a:solidFill>
                <a:effectLst/>
                <a:latin typeface="+mn-lt"/>
                <a:ea typeface="+mn-ea"/>
                <a:cs typeface="+mn-cs"/>
              </a:rPr>
              <a:t>存在异常，但为了避免出现信息误传递的现象并不能直接进行隔离，为了解决这个问题提出置信度指标，当某个智能体的置信度降至阈值以下时，将其与网络隔离，以避免其产生不利影响。</a:t>
            </a:r>
            <a:endParaRPr lang="zh-CN" altLang="en-US" dirty="0"/>
          </a:p>
        </p:txBody>
      </p:sp>
      <p:sp>
        <p:nvSpPr>
          <p:cNvPr id="747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25</a:t>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440" tIns="45720" rIns="91440" bIns="45720" anchor="t" anchorCtr="0"/>
          <a:lstStyle/>
          <a:p>
            <a:pPr lvl="0"/>
            <a:r>
              <a:rPr lang="zh-CN" altLang="zh-CN" sz="1200" kern="1200" dirty="0" smtClean="0">
                <a:solidFill>
                  <a:schemeClr val="tx1"/>
                </a:solidFill>
                <a:effectLst/>
                <a:latin typeface="+mn-lt"/>
                <a:ea typeface="+mn-ea"/>
                <a:cs typeface="+mn-cs"/>
              </a:rPr>
              <a:t>这里给出系统通信拓扑示意图以及部分参数</a:t>
            </a:r>
            <a:endParaRPr lang="zh-CN" altLang="zh-CN" dirty="0"/>
          </a:p>
        </p:txBody>
      </p:sp>
      <p:sp>
        <p:nvSpPr>
          <p:cNvPr id="747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26</a:t>
            </a:fld>
            <a:endParaRPr lang="zh-CN"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这里分别从负荷快速变化和机组即插即用</a:t>
            </a:r>
            <a:r>
              <a:rPr lang="zh-CN" altLang="en-US" sz="1200" kern="1200" dirty="0" smtClean="0">
                <a:solidFill>
                  <a:schemeClr val="tx1"/>
                </a:solidFill>
                <a:effectLst/>
                <a:latin typeface="+mn-lt"/>
                <a:ea typeface="+mn-ea"/>
                <a:cs typeface="+mn-cs"/>
              </a:rPr>
              <a:t>角度</a:t>
            </a:r>
            <a:r>
              <a:rPr lang="zh-CN" altLang="zh-CN" sz="1200" kern="1200" dirty="0" smtClean="0">
                <a:solidFill>
                  <a:schemeClr val="tx1"/>
                </a:solidFill>
                <a:effectLst/>
                <a:latin typeface="+mn-lt"/>
                <a:ea typeface="+mn-ea"/>
                <a:cs typeface="+mn-cs"/>
              </a:rPr>
              <a:t>验证了所提调度方法的有效性。</a:t>
            </a:r>
          </a:p>
        </p:txBody>
      </p:sp>
      <p:sp>
        <p:nvSpPr>
          <p:cNvPr id="747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27</a:t>
            </a:fld>
            <a:endParaRPr lang="zh-CN" alt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440" tIns="45720" rIns="91440" bIns="4572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左图给出了遭受攻击后不同保护方法</a:t>
            </a:r>
            <a:r>
              <a:rPr lang="zh-CN" altLang="en-US" sz="1200" kern="1200" dirty="0" smtClean="0">
                <a:solidFill>
                  <a:schemeClr val="tx1"/>
                </a:solidFill>
                <a:effectLst/>
                <a:latin typeface="+mn-lt"/>
                <a:ea typeface="+mn-ea"/>
                <a:cs typeface="+mn-cs"/>
              </a:rPr>
              <a:t>效果</a:t>
            </a:r>
            <a:r>
              <a:rPr lang="zh-CN" altLang="zh-CN" sz="1200" kern="1200" dirty="0" smtClean="0">
                <a:solidFill>
                  <a:schemeClr val="tx1"/>
                </a:solidFill>
                <a:effectLst/>
                <a:latin typeface="+mn-lt"/>
                <a:ea typeface="+mn-ea"/>
                <a:cs typeface="+mn-cs"/>
              </a:rPr>
              <a:t>，由</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可以看出在本文方法能够进行有效隔离，在所有的保护方法中达到了最优的保护效果，同时从</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中可以看出，如果进行隔离过程中不及时退出隐私保护，虚假信息会随着隐私保护散播到其他智能体中，造成比不保护更严重的后果，这一点从</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中也可以看出，虽然第一重的隐私保护机制能够有效防止攻击者的嗅探，但是如果攻击者已经发动了攻击，仅依靠隐私保护也会造成严重的后果，因此本文提出的双重保护机制有效的弥补了这一缺点，起到了更好的保护效果。</a:t>
            </a:r>
          </a:p>
          <a:p>
            <a:endParaRPr lang="zh-CN" altLang="en-US" dirty="0"/>
          </a:p>
        </p:txBody>
      </p:sp>
      <p:sp>
        <p:nvSpPr>
          <p:cNvPr id="747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28</a:t>
            </a:fld>
            <a:endParaRPr lang="zh-CN" altLang="en-US" sz="1200" dirty="0"/>
          </a:p>
        </p:txBody>
      </p:sp>
    </p:spTree>
    <p:extLst>
      <p:ext uri="{BB962C8B-B14F-4D97-AF65-F5344CB8AC3E}">
        <p14:creationId xmlns:p14="http://schemas.microsoft.com/office/powerpoint/2010/main" val="36454183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a:solidFill>
              <a:srgbClr val="000000">
                <a:alpha val="100000"/>
              </a:srgbClr>
            </a:solidFill>
            <a:miter lim="800000"/>
          </a:ln>
        </p:spPr>
      </p:sp>
      <p:sp>
        <p:nvSpPr>
          <p:cNvPr id="78851" name="备注占位符 2"/>
          <p:cNvSpPr>
            <a:spLocks noGrp="1"/>
          </p:cNvSpPr>
          <p:nvPr>
            <p:ph type="body" idx="1"/>
          </p:nvPr>
        </p:nvSpPr>
        <p:spPr>
          <a:noFill/>
          <a:ln>
            <a:noFill/>
          </a:ln>
        </p:spPr>
        <p:txBody>
          <a:bodyPr wrap="square" lIns="91440" tIns="45720" rIns="91440" bIns="45720" anchor="t" anchorCtr="0"/>
          <a:lstStyle/>
          <a:p>
            <a:pPr lvl="0"/>
            <a:r>
              <a:rPr lang="zh-CN" altLang="en-US" dirty="0"/>
              <a:t>总结与展望</a:t>
            </a:r>
          </a:p>
        </p:txBody>
      </p:sp>
      <p:sp>
        <p:nvSpPr>
          <p:cNvPr id="7885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29</a:t>
            </a:fld>
            <a:endParaRPr lang="zh-CN"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a:solidFill>
              <a:srgbClr val="000000">
                <a:alpha val="100000"/>
              </a:srgbClr>
            </a:solidFill>
            <a:miter lim="800000"/>
          </a:ln>
        </p:spPr>
      </p:sp>
      <p:sp>
        <p:nvSpPr>
          <p:cNvPr id="80899" name="备注占位符 2"/>
          <p:cNvSpPr>
            <a:spLocks noGrp="1"/>
          </p:cNvSpPr>
          <p:nvPr>
            <p:ph type="body" idx="1"/>
          </p:nvPr>
        </p:nvSpPr>
        <p:spPr>
          <a:noFill/>
          <a:ln>
            <a:noFill/>
          </a:ln>
        </p:spPr>
        <p:txBody>
          <a:bodyPr wrap="square" lIns="91440" tIns="45720" rIns="91440" bIns="45720" anchor="t" anchorCtr="0"/>
          <a:lstStyle/>
          <a:p>
            <a:pPr lvl="0"/>
            <a:r>
              <a:rPr lang="zh-CN" altLang="en-US" dirty="0">
                <a:sym typeface="+mn-ea"/>
              </a:rPr>
              <a:t>最后，对本文所作的工作进行总结。</a:t>
            </a:r>
            <a:endParaRPr lang="zh-CN" altLang="zh-CN" dirty="0"/>
          </a:p>
        </p:txBody>
      </p:sp>
      <p:sp>
        <p:nvSpPr>
          <p:cNvPr id="809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30</a:t>
            </a:fld>
            <a:endParaRPr lang="zh-CN" alt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a:solidFill>
              <a:srgbClr val="000000">
                <a:alpha val="100000"/>
              </a:srgbClr>
            </a:solidFill>
            <a:miter lim="800000"/>
          </a:ln>
        </p:spPr>
      </p:sp>
      <p:sp>
        <p:nvSpPr>
          <p:cNvPr id="82947" name="备注占位符 2"/>
          <p:cNvSpPr>
            <a:spLocks noGrp="1"/>
          </p:cNvSpPr>
          <p:nvPr>
            <p:ph type="body" idx="1"/>
          </p:nvPr>
        </p:nvSpPr>
        <p:spPr>
          <a:noFill/>
          <a:ln>
            <a:noFill/>
          </a:ln>
        </p:spPr>
        <p:txBody>
          <a:bodyPr wrap="square" lIns="91440" tIns="45720" rIns="91440" bIns="45720" anchor="t" anchorCtr="0"/>
          <a:lstStyle/>
          <a:p>
            <a:pPr lvl="0"/>
            <a:r>
              <a:rPr lang="zh-CN" altLang="en-US" dirty="0">
                <a:sym typeface="+mn-ea"/>
              </a:rPr>
              <a:t>对后续研究工作进行展望。</a:t>
            </a:r>
            <a:endParaRPr lang="zh-CN" altLang="en-US" dirty="0"/>
          </a:p>
        </p:txBody>
      </p:sp>
      <p:sp>
        <p:nvSpPr>
          <p:cNvPr id="8294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31</a:t>
            </a:fld>
            <a:endParaRPr lang="zh-CN" alt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a:solidFill>
              <a:srgbClr val="000000">
                <a:alpha val="100000"/>
              </a:srgbClr>
            </a:solidFill>
            <a:miter lim="800000"/>
          </a:ln>
        </p:spPr>
      </p:sp>
      <p:sp>
        <p:nvSpPr>
          <p:cNvPr id="84995" name="备注占位符 2"/>
          <p:cNvSpPr>
            <a:spLocks noGrp="1"/>
          </p:cNvSpPr>
          <p:nvPr>
            <p:ph type="body" idx="1"/>
          </p:nvPr>
        </p:nvSpPr>
        <p:spPr>
          <a:noFill/>
          <a:ln>
            <a:noFill/>
          </a:ln>
        </p:spPr>
        <p:txBody>
          <a:bodyPr wrap="square" lIns="91440" tIns="45720" rIns="91440" bIns="45720" anchor="t" anchorCtr="0"/>
          <a:lstStyle/>
          <a:p>
            <a:pPr lvl="0"/>
            <a:r>
              <a:rPr lang="zh-CN" altLang="en-US" dirty="0" smtClean="0">
                <a:sym typeface="+mn-ea"/>
              </a:rPr>
              <a:t>硕士</a:t>
            </a:r>
            <a:r>
              <a:rPr lang="zh-CN" altLang="en-US" dirty="0">
                <a:sym typeface="+mn-ea"/>
              </a:rPr>
              <a:t>期间以导师一作，本人二</a:t>
            </a:r>
            <a:r>
              <a:rPr lang="zh-CN" altLang="en-US" dirty="0" smtClean="0">
                <a:sym typeface="+mn-ea"/>
              </a:rPr>
              <a:t>作发表</a:t>
            </a:r>
            <a:r>
              <a:rPr lang="zh-CN" altLang="en-US" dirty="0">
                <a:sym typeface="+mn-ea"/>
              </a:rPr>
              <a:t>一区论文一篇，会议论文一篇，申请专利一项</a:t>
            </a:r>
            <a:r>
              <a:rPr lang="zh-CN" altLang="en-US" dirty="0" smtClean="0">
                <a:sym typeface="+mn-ea"/>
              </a:rPr>
              <a:t>，完成</a:t>
            </a:r>
            <a:r>
              <a:rPr lang="zh-CN" altLang="en-US" dirty="0">
                <a:sym typeface="+mn-ea"/>
              </a:rPr>
              <a:t>科技项目两</a:t>
            </a:r>
            <a:r>
              <a:rPr lang="zh-CN" altLang="en-US" dirty="0" smtClean="0">
                <a:sym typeface="+mn-ea"/>
              </a:rPr>
              <a:t>项。</a:t>
            </a:r>
            <a:endParaRPr lang="zh-CN" altLang="en-US" dirty="0"/>
          </a:p>
        </p:txBody>
      </p:sp>
      <p:sp>
        <p:nvSpPr>
          <p:cNvPr id="849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32</a:t>
            </a:fld>
            <a:endParaRPr lang="zh-CN" alt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a:solidFill>
              <a:srgbClr val="000000">
                <a:alpha val="100000"/>
              </a:srgbClr>
            </a:solidFill>
            <a:miter lim="800000"/>
          </a:ln>
        </p:spPr>
      </p:sp>
      <p:sp>
        <p:nvSpPr>
          <p:cNvPr id="87043" name="备注占位符 2"/>
          <p:cNvSpPr>
            <a:spLocks noGrp="1"/>
          </p:cNvSpPr>
          <p:nvPr>
            <p:ph type="body" idx="1"/>
          </p:nvPr>
        </p:nvSpPr>
        <p:spPr>
          <a:noFill/>
          <a:ln>
            <a:noFill/>
          </a:ln>
        </p:spPr>
        <p:txBody>
          <a:bodyPr wrap="square" lIns="91440" tIns="45720" rIns="91440" bIns="45720" anchor="t" anchorCtr="0"/>
          <a:lstStyle/>
          <a:p>
            <a:pPr lvl="0"/>
            <a:r>
              <a:rPr lang="zh-CN" altLang="en-US" dirty="0"/>
              <a:t>以上就是我本次汇报的全部内容，感谢各位老师，望各位老师给予批评指正。</a:t>
            </a:r>
          </a:p>
        </p:txBody>
      </p:sp>
      <p:sp>
        <p:nvSpPr>
          <p:cNvPr id="870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t>33</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过渡页">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sp>
        <p:nvSpPr>
          <p:cNvPr id="7" name="Freeform 5"/>
          <p:cNvSpPr>
            <a:spLocks noEditPoints="1"/>
          </p:cNvSpPr>
          <p:nvPr userDrawn="1"/>
        </p:nvSpPr>
        <p:spPr>
          <a:xfrm>
            <a:off x="5251450" y="1035050"/>
            <a:ext cx="1689100" cy="15097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alpha val="100000"/>
            </a:schemeClr>
          </a:solidFill>
          <a:ln w="9525">
            <a:noFill/>
          </a:ln>
        </p:spPr>
        <p:txBody>
          <a:bodyPr/>
          <a:lstStyle/>
          <a:p>
            <a:endParaRPr lang="zh-CN" altLang="en-US"/>
          </a:p>
        </p:txBody>
      </p:sp>
      <p:sp>
        <p:nvSpPr>
          <p:cNvPr id="2" name="标题 1"/>
          <p:cNvSpPr>
            <a:spLocks noGrp="1"/>
          </p:cNvSpPr>
          <p:nvPr>
            <p:ph type="ctrTitle"/>
          </p:nvPr>
        </p:nvSpPr>
        <p:spPr>
          <a:xfrm>
            <a:off x="1524000" y="2544006"/>
            <a:ext cx="9144000" cy="813556"/>
          </a:xfrm>
        </p:spPr>
        <p:txBody>
          <a:bodyPr anchor="b">
            <a:normAutofit/>
          </a:bodyPr>
          <a:lstStyle>
            <a:lvl1pPr algn="ctr">
              <a:defRPr sz="4000" b="1">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737462C-00EF-4182-8145-4A227FEC01D6}"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989E01B-FF7D-4910-BA90-6C65EE52CB7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研究概述_需换右下角LOGO">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10998200" y="5565775"/>
            <a:ext cx="812800" cy="815975"/>
          </a:xfrm>
          <a:prstGeom prst="rect">
            <a:avLst/>
          </a:prstGeom>
          <a:noFill/>
          <a:ln w="9525">
            <a:noFill/>
          </a:ln>
        </p:spPr>
      </p:pic>
      <p:sp>
        <p:nvSpPr>
          <p:cNvPr id="11" name="等腰三角形 10"/>
          <p:cNvSpPr/>
          <p:nvPr/>
        </p:nvSpPr>
        <p:spPr>
          <a:xfrm rot="16200000">
            <a:off x="10400506" y="1196181"/>
            <a:ext cx="295275" cy="13811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文本框 11"/>
          <p:cNvSpPr txBox="1">
            <a:spLocks noChangeArrowheads="1"/>
          </p:cNvSpPr>
          <p:nvPr/>
        </p:nvSpPr>
        <p:spPr bwMode="auto">
          <a:xfrm>
            <a:off x="10710863" y="10699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rPr>
              <a:t>研究概述</a:t>
            </a:r>
          </a:p>
        </p:txBody>
      </p:sp>
      <p:sp>
        <p:nvSpPr>
          <p:cNvPr id="13" name="文本框 12"/>
          <p:cNvSpPr txBox="1">
            <a:spLocks noChangeArrowheads="1"/>
          </p:cNvSpPr>
          <p:nvPr/>
        </p:nvSpPr>
        <p:spPr bwMode="auto">
          <a:xfrm>
            <a:off x="10710863" y="18573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研究方法</a:t>
            </a:r>
          </a:p>
        </p:txBody>
      </p:sp>
      <p:sp>
        <p:nvSpPr>
          <p:cNvPr id="14" name="文本框 13"/>
          <p:cNvSpPr txBox="1">
            <a:spLocks noChangeArrowheads="1"/>
          </p:cNvSpPr>
          <p:nvPr/>
        </p:nvSpPr>
        <p:spPr bwMode="auto">
          <a:xfrm>
            <a:off x="10710863" y="26463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研究过程</a:t>
            </a:r>
          </a:p>
        </p:txBody>
      </p:sp>
      <p:sp>
        <p:nvSpPr>
          <p:cNvPr id="15" name="文本框 14"/>
          <p:cNvSpPr txBox="1">
            <a:spLocks noChangeArrowheads="1"/>
          </p:cNvSpPr>
          <p:nvPr/>
        </p:nvSpPr>
        <p:spPr bwMode="auto">
          <a:xfrm>
            <a:off x="10710863" y="34337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研究成果</a:t>
            </a:r>
          </a:p>
        </p:txBody>
      </p:sp>
      <p:sp>
        <p:nvSpPr>
          <p:cNvPr id="16" name="文本框 15"/>
          <p:cNvSpPr txBox="1">
            <a:spLocks noChangeArrowheads="1"/>
          </p:cNvSpPr>
          <p:nvPr/>
        </p:nvSpPr>
        <p:spPr bwMode="auto">
          <a:xfrm>
            <a:off x="10710863" y="4222750"/>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结论建议</a:t>
            </a:r>
          </a:p>
        </p:txBody>
      </p:sp>
      <p:sp>
        <p:nvSpPr>
          <p:cNvPr id="7" name="Freeform 5"/>
          <p:cNvSpPr>
            <a:spLocks noEditPoints="1"/>
          </p:cNvSpPr>
          <p:nvPr userDrawn="1"/>
        </p:nvSpPr>
        <p:spPr>
          <a:xfrm>
            <a:off x="508000" y="396875"/>
            <a:ext cx="765175" cy="684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alpha val="100000"/>
            </a:schemeClr>
          </a:solidFill>
          <a:ln w="9525">
            <a:noFill/>
          </a:ln>
        </p:spPr>
        <p:txBody>
          <a:bodyPr/>
          <a:lstStyle/>
          <a:p>
            <a:endParaRPr lang="zh-CN" altLang="en-US"/>
          </a:p>
        </p:txBody>
      </p:sp>
      <p:sp>
        <p:nvSpPr>
          <p:cNvPr id="8" name="文本框 7"/>
          <p:cNvSpPr txBox="1">
            <a:spLocks noChangeArrowheads="1"/>
          </p:cNvSpPr>
          <p:nvPr/>
        </p:nvSpPr>
        <p:spPr bwMode="auto">
          <a:xfrm>
            <a:off x="1303338" y="858838"/>
            <a:ext cx="2373313" cy="307975"/>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rPr>
              <a:t>MORESHI POWERPOINT</a:t>
            </a:r>
            <a:endParaRPr kumimoji="0" lang="zh-CN" altLang="en-US"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sp>
        <p:nvSpPr>
          <p:cNvPr id="9" name="矩形 8"/>
          <p:cNvSpPr/>
          <p:nvPr/>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17"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4CAB10B-6D65-44C3-BED7-337D9F663FAC}"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solidFill>
                  <a:srgbClr val="666666"/>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P</a:t>
            </a:r>
            <a:fld id="{B34C8E30-AC47-4B08-AB01-BBF339E82DB4}" type="slidenum">
              <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1+#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250" fill="hold"/>
                                        <p:tgtEl>
                                          <p:spTgt spid="12"/>
                                        </p:tgtEl>
                                        <p:attrNameLst>
                                          <p:attrName>ppt_x</p:attrName>
                                        </p:attrNameLst>
                                      </p:cBhvr>
                                      <p:tavLst>
                                        <p:tav tm="0">
                                          <p:val>
                                            <p:strVal val="1+#ppt_w/2"/>
                                          </p:val>
                                        </p:tav>
                                        <p:tav tm="100000">
                                          <p:val>
                                            <p:strVal val="#ppt_x"/>
                                          </p:val>
                                        </p:tav>
                                      </p:tavLst>
                                    </p:anim>
                                    <p:anim calcmode="lin" valueType="num">
                                      <p:cBhvr additive="base">
                                        <p:cTn id="12" dur="25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250" fill="hold"/>
                                        <p:tgtEl>
                                          <p:spTgt spid="13"/>
                                        </p:tgtEl>
                                        <p:attrNameLst>
                                          <p:attrName>ppt_x</p:attrName>
                                        </p:attrNameLst>
                                      </p:cBhvr>
                                      <p:tavLst>
                                        <p:tav tm="0">
                                          <p:val>
                                            <p:strVal val="1+#ppt_w/2"/>
                                          </p:val>
                                        </p:tav>
                                        <p:tav tm="100000">
                                          <p:val>
                                            <p:strVal val="#ppt_x"/>
                                          </p:val>
                                        </p:tav>
                                      </p:tavLst>
                                    </p:anim>
                                    <p:anim calcmode="lin" valueType="num">
                                      <p:cBhvr additive="base">
                                        <p:cTn id="16" dur="25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250" fill="hold"/>
                                        <p:tgtEl>
                                          <p:spTgt spid="14"/>
                                        </p:tgtEl>
                                        <p:attrNameLst>
                                          <p:attrName>ppt_x</p:attrName>
                                        </p:attrNameLst>
                                      </p:cBhvr>
                                      <p:tavLst>
                                        <p:tav tm="0">
                                          <p:val>
                                            <p:strVal val="1+#ppt_w/2"/>
                                          </p:val>
                                        </p:tav>
                                        <p:tav tm="100000">
                                          <p:val>
                                            <p:strVal val="#ppt_x"/>
                                          </p:val>
                                        </p:tav>
                                      </p:tavLst>
                                    </p:anim>
                                    <p:anim calcmode="lin" valueType="num">
                                      <p:cBhvr additive="base">
                                        <p:cTn id="20" dur="25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250" fill="hold"/>
                                        <p:tgtEl>
                                          <p:spTgt spid="15"/>
                                        </p:tgtEl>
                                        <p:attrNameLst>
                                          <p:attrName>ppt_x</p:attrName>
                                        </p:attrNameLst>
                                      </p:cBhvr>
                                      <p:tavLst>
                                        <p:tav tm="0">
                                          <p:val>
                                            <p:strVal val="1+#ppt_w/2"/>
                                          </p:val>
                                        </p:tav>
                                        <p:tav tm="100000">
                                          <p:val>
                                            <p:strVal val="#ppt_x"/>
                                          </p:val>
                                        </p:tav>
                                      </p:tavLst>
                                    </p:anim>
                                    <p:anim calcmode="lin" valueType="num">
                                      <p:cBhvr additive="base">
                                        <p:cTn id="24" dur="25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250" fill="hold"/>
                                        <p:tgtEl>
                                          <p:spTgt spid="16"/>
                                        </p:tgtEl>
                                        <p:attrNameLst>
                                          <p:attrName>ppt_x</p:attrName>
                                        </p:attrNameLst>
                                      </p:cBhvr>
                                      <p:tavLst>
                                        <p:tav tm="0">
                                          <p:val>
                                            <p:strVal val="1+#ppt_w/2"/>
                                          </p:val>
                                        </p:tav>
                                        <p:tav tm="100000">
                                          <p:val>
                                            <p:strVal val="#ppt_x"/>
                                          </p:val>
                                        </p:tav>
                                      </p:tavLst>
                                    </p:anim>
                                    <p:anim calcmode="lin" valueType="num">
                                      <p:cBhvr additive="base">
                                        <p:cTn id="28" dur="250" fill="hold"/>
                                        <p:tgtEl>
                                          <p:spTgt spid="16"/>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10"/>
                                        </p:tgtEl>
                                        <p:attrNameLst>
                                          <p:attrName>style.visibility</p:attrName>
                                        </p:attrNameLst>
                                      </p:cBhvr>
                                      <p:to>
                                        <p:strVal val="visible"/>
                                      </p:to>
                                    </p:set>
                                    <p:anim calcmode="lin" valueType="num">
                                      <p:cBhvr>
                                        <p:cTn id="31" dur="250" fill="hold"/>
                                        <p:tgtEl>
                                          <p:spTgt spid="10"/>
                                        </p:tgtEl>
                                        <p:attrNameLst>
                                          <p:attrName>ppt_w</p:attrName>
                                        </p:attrNameLst>
                                      </p:cBhvr>
                                      <p:tavLst>
                                        <p:tav tm="0">
                                          <p:val>
                                            <p:fltVal val="0"/>
                                          </p:val>
                                        </p:tav>
                                        <p:tav tm="100000">
                                          <p:val>
                                            <p:strVal val="#ppt_w"/>
                                          </p:val>
                                        </p:tav>
                                      </p:tavLst>
                                    </p:anim>
                                    <p:anim calcmode="lin" valueType="num">
                                      <p:cBhvr>
                                        <p:cTn id="32" dur="250" fill="hold"/>
                                        <p:tgtEl>
                                          <p:spTgt spid="10"/>
                                        </p:tgtEl>
                                        <p:attrNameLst>
                                          <p:attrName>ppt_h</p:attrName>
                                        </p:attrNameLst>
                                      </p:cBhvr>
                                      <p:tavLst>
                                        <p:tav tm="0">
                                          <p:val>
                                            <p:fltVal val="0"/>
                                          </p:val>
                                        </p:tav>
                                        <p:tav tm="100000">
                                          <p:val>
                                            <p:strVal val="#ppt_h"/>
                                          </p:val>
                                        </p:tav>
                                      </p:tavLst>
                                    </p:anim>
                                    <p:animEffect transition="in" filter="fade">
                                      <p:cBhvr>
                                        <p:cTn id="33" dur="250"/>
                                        <p:tgtEl>
                                          <p:spTgt spid="10"/>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250"/>
                                        <p:tgtEl>
                                          <p:spTgt spid="11"/>
                                        </p:tgtEl>
                                      </p:cBhvr>
                                    </p:animEffect>
                                  </p:childTnLst>
                                </p:cTn>
                              </p:par>
                              <p:par>
                                <p:cTn id="37" presetID="42"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5" grpId="0"/>
      <p:bldP spid="16" grpId="0"/>
      <p:bldP spid="8" grpId="0"/>
      <p:bldP spid="9"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研究方法_需换右下角LOGO">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10998200" y="5565775"/>
            <a:ext cx="812800" cy="815975"/>
          </a:xfrm>
          <a:prstGeom prst="rect">
            <a:avLst/>
          </a:prstGeom>
          <a:noFill/>
          <a:ln w="9525">
            <a:noFill/>
          </a:ln>
        </p:spPr>
      </p:pic>
      <p:sp>
        <p:nvSpPr>
          <p:cNvPr id="11" name="等腰三角形 10"/>
          <p:cNvSpPr/>
          <p:nvPr/>
        </p:nvSpPr>
        <p:spPr>
          <a:xfrm rot="16200000">
            <a:off x="10400506" y="1988344"/>
            <a:ext cx="295275" cy="13811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文本框 11"/>
          <p:cNvSpPr txBox="1">
            <a:spLocks noChangeArrowheads="1"/>
          </p:cNvSpPr>
          <p:nvPr/>
        </p:nvSpPr>
        <p:spPr bwMode="auto">
          <a:xfrm>
            <a:off x="10710863" y="10699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研究概述</a:t>
            </a:r>
          </a:p>
        </p:txBody>
      </p:sp>
      <p:sp>
        <p:nvSpPr>
          <p:cNvPr id="13" name="文本框 12"/>
          <p:cNvSpPr txBox="1">
            <a:spLocks noChangeArrowheads="1"/>
          </p:cNvSpPr>
          <p:nvPr/>
        </p:nvSpPr>
        <p:spPr bwMode="auto">
          <a:xfrm>
            <a:off x="10710863" y="18573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rPr>
              <a:t>研究方法</a:t>
            </a:r>
          </a:p>
        </p:txBody>
      </p:sp>
      <p:sp>
        <p:nvSpPr>
          <p:cNvPr id="14" name="文本框 13"/>
          <p:cNvSpPr txBox="1">
            <a:spLocks noChangeArrowheads="1"/>
          </p:cNvSpPr>
          <p:nvPr/>
        </p:nvSpPr>
        <p:spPr bwMode="auto">
          <a:xfrm>
            <a:off x="10710863" y="26463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研究过程</a:t>
            </a:r>
          </a:p>
        </p:txBody>
      </p:sp>
      <p:sp>
        <p:nvSpPr>
          <p:cNvPr id="15" name="文本框 14"/>
          <p:cNvSpPr txBox="1">
            <a:spLocks noChangeArrowheads="1"/>
          </p:cNvSpPr>
          <p:nvPr/>
        </p:nvSpPr>
        <p:spPr bwMode="auto">
          <a:xfrm>
            <a:off x="10710863" y="34337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研究成果</a:t>
            </a:r>
          </a:p>
        </p:txBody>
      </p:sp>
      <p:sp>
        <p:nvSpPr>
          <p:cNvPr id="16" name="文本框 15"/>
          <p:cNvSpPr txBox="1">
            <a:spLocks noChangeArrowheads="1"/>
          </p:cNvSpPr>
          <p:nvPr/>
        </p:nvSpPr>
        <p:spPr bwMode="auto">
          <a:xfrm>
            <a:off x="10710863" y="4222750"/>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结论建议</a:t>
            </a:r>
          </a:p>
        </p:txBody>
      </p:sp>
      <p:sp>
        <p:nvSpPr>
          <p:cNvPr id="7" name="Freeform 5"/>
          <p:cNvSpPr>
            <a:spLocks noEditPoints="1"/>
          </p:cNvSpPr>
          <p:nvPr userDrawn="1"/>
        </p:nvSpPr>
        <p:spPr>
          <a:xfrm>
            <a:off x="508000" y="396875"/>
            <a:ext cx="765175" cy="684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alpha val="100000"/>
            </a:schemeClr>
          </a:solidFill>
          <a:ln w="9525">
            <a:noFill/>
          </a:ln>
        </p:spPr>
        <p:txBody>
          <a:bodyPr/>
          <a:lstStyle/>
          <a:p>
            <a:endParaRPr lang="zh-CN" altLang="en-US"/>
          </a:p>
        </p:txBody>
      </p:sp>
      <p:sp>
        <p:nvSpPr>
          <p:cNvPr id="8" name="文本框 7"/>
          <p:cNvSpPr txBox="1">
            <a:spLocks noChangeArrowheads="1"/>
          </p:cNvSpPr>
          <p:nvPr/>
        </p:nvSpPr>
        <p:spPr bwMode="auto">
          <a:xfrm>
            <a:off x="1303338" y="858838"/>
            <a:ext cx="2373313" cy="307975"/>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rPr>
              <a:t>MORESHI POWERPOINT</a:t>
            </a:r>
            <a:endParaRPr kumimoji="0" lang="zh-CN" altLang="en-US"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sp>
        <p:nvSpPr>
          <p:cNvPr id="9" name="矩形 8"/>
          <p:cNvSpPr/>
          <p:nvPr/>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17"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6F838FB-7AA0-4ACF-9C25-3C83B7FC0103}"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solidFill>
                  <a:srgbClr val="666666"/>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P</a:t>
            </a:r>
            <a:fld id="{A291B45B-69EC-4F15-8C7E-BC887F6F423E}" type="slidenum">
              <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fill="hold"/>
                                        <p:tgtEl>
                                          <p:spTgt spid="9"/>
                                        </p:tgtEl>
                                        <p:attrNameLst>
                                          <p:attrName>ppt_x</p:attrName>
                                        </p:attrNameLst>
                                      </p:cBhvr>
                                      <p:tavLst>
                                        <p:tav tm="0">
                                          <p:val>
                                            <p:strVal val="1+#ppt_w/2"/>
                                          </p:val>
                                        </p:tav>
                                        <p:tav tm="100000">
                                          <p:val>
                                            <p:strVal val="#ppt_x"/>
                                          </p:val>
                                        </p:tav>
                                      </p:tavLst>
                                    </p:anim>
                                    <p:anim calcmode="lin" valueType="num">
                                      <p:cBhvr additive="base">
                                        <p:cTn id="8" dur="2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250" fill="hold"/>
                                        <p:tgtEl>
                                          <p:spTgt spid="12"/>
                                        </p:tgtEl>
                                        <p:attrNameLst>
                                          <p:attrName>ppt_x</p:attrName>
                                        </p:attrNameLst>
                                      </p:cBhvr>
                                      <p:tavLst>
                                        <p:tav tm="0">
                                          <p:val>
                                            <p:strVal val="1+#ppt_w/2"/>
                                          </p:val>
                                        </p:tav>
                                        <p:tav tm="100000">
                                          <p:val>
                                            <p:strVal val="#ppt_x"/>
                                          </p:val>
                                        </p:tav>
                                      </p:tavLst>
                                    </p:anim>
                                    <p:anim calcmode="lin" valueType="num">
                                      <p:cBhvr additive="base">
                                        <p:cTn id="12" dur="25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250" fill="hold"/>
                                        <p:tgtEl>
                                          <p:spTgt spid="13"/>
                                        </p:tgtEl>
                                        <p:attrNameLst>
                                          <p:attrName>ppt_x</p:attrName>
                                        </p:attrNameLst>
                                      </p:cBhvr>
                                      <p:tavLst>
                                        <p:tav tm="0">
                                          <p:val>
                                            <p:strVal val="1+#ppt_w/2"/>
                                          </p:val>
                                        </p:tav>
                                        <p:tav tm="100000">
                                          <p:val>
                                            <p:strVal val="#ppt_x"/>
                                          </p:val>
                                        </p:tav>
                                      </p:tavLst>
                                    </p:anim>
                                    <p:anim calcmode="lin" valueType="num">
                                      <p:cBhvr additive="base">
                                        <p:cTn id="16" dur="25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250" fill="hold"/>
                                        <p:tgtEl>
                                          <p:spTgt spid="14"/>
                                        </p:tgtEl>
                                        <p:attrNameLst>
                                          <p:attrName>ppt_x</p:attrName>
                                        </p:attrNameLst>
                                      </p:cBhvr>
                                      <p:tavLst>
                                        <p:tav tm="0">
                                          <p:val>
                                            <p:strVal val="1+#ppt_w/2"/>
                                          </p:val>
                                        </p:tav>
                                        <p:tav tm="100000">
                                          <p:val>
                                            <p:strVal val="#ppt_x"/>
                                          </p:val>
                                        </p:tav>
                                      </p:tavLst>
                                    </p:anim>
                                    <p:anim calcmode="lin" valueType="num">
                                      <p:cBhvr additive="base">
                                        <p:cTn id="20" dur="25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250" fill="hold"/>
                                        <p:tgtEl>
                                          <p:spTgt spid="15"/>
                                        </p:tgtEl>
                                        <p:attrNameLst>
                                          <p:attrName>ppt_x</p:attrName>
                                        </p:attrNameLst>
                                      </p:cBhvr>
                                      <p:tavLst>
                                        <p:tav tm="0">
                                          <p:val>
                                            <p:strVal val="1+#ppt_w/2"/>
                                          </p:val>
                                        </p:tav>
                                        <p:tav tm="100000">
                                          <p:val>
                                            <p:strVal val="#ppt_x"/>
                                          </p:val>
                                        </p:tav>
                                      </p:tavLst>
                                    </p:anim>
                                    <p:anim calcmode="lin" valueType="num">
                                      <p:cBhvr additive="base">
                                        <p:cTn id="24" dur="25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250" fill="hold"/>
                                        <p:tgtEl>
                                          <p:spTgt spid="16"/>
                                        </p:tgtEl>
                                        <p:attrNameLst>
                                          <p:attrName>ppt_x</p:attrName>
                                        </p:attrNameLst>
                                      </p:cBhvr>
                                      <p:tavLst>
                                        <p:tav tm="0">
                                          <p:val>
                                            <p:strVal val="1+#ppt_w/2"/>
                                          </p:val>
                                        </p:tav>
                                        <p:tav tm="100000">
                                          <p:val>
                                            <p:strVal val="#ppt_x"/>
                                          </p:val>
                                        </p:tav>
                                      </p:tavLst>
                                    </p:anim>
                                    <p:anim calcmode="lin" valueType="num">
                                      <p:cBhvr additive="base">
                                        <p:cTn id="28" dur="250" fill="hold"/>
                                        <p:tgtEl>
                                          <p:spTgt spid="16"/>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10"/>
                                        </p:tgtEl>
                                        <p:attrNameLst>
                                          <p:attrName>style.visibility</p:attrName>
                                        </p:attrNameLst>
                                      </p:cBhvr>
                                      <p:to>
                                        <p:strVal val="visible"/>
                                      </p:to>
                                    </p:set>
                                    <p:anim calcmode="lin" valueType="num">
                                      <p:cBhvr>
                                        <p:cTn id="31" dur="250" fill="hold"/>
                                        <p:tgtEl>
                                          <p:spTgt spid="10"/>
                                        </p:tgtEl>
                                        <p:attrNameLst>
                                          <p:attrName>ppt_w</p:attrName>
                                        </p:attrNameLst>
                                      </p:cBhvr>
                                      <p:tavLst>
                                        <p:tav tm="0">
                                          <p:val>
                                            <p:fltVal val="0"/>
                                          </p:val>
                                        </p:tav>
                                        <p:tav tm="100000">
                                          <p:val>
                                            <p:strVal val="#ppt_w"/>
                                          </p:val>
                                        </p:tav>
                                      </p:tavLst>
                                    </p:anim>
                                    <p:anim calcmode="lin" valueType="num">
                                      <p:cBhvr>
                                        <p:cTn id="32" dur="250" fill="hold"/>
                                        <p:tgtEl>
                                          <p:spTgt spid="10"/>
                                        </p:tgtEl>
                                        <p:attrNameLst>
                                          <p:attrName>ppt_h</p:attrName>
                                        </p:attrNameLst>
                                      </p:cBhvr>
                                      <p:tavLst>
                                        <p:tav tm="0">
                                          <p:val>
                                            <p:fltVal val="0"/>
                                          </p:val>
                                        </p:tav>
                                        <p:tav tm="100000">
                                          <p:val>
                                            <p:strVal val="#ppt_h"/>
                                          </p:val>
                                        </p:tav>
                                      </p:tavLst>
                                    </p:anim>
                                    <p:animEffect transition="in" filter="fade">
                                      <p:cBhvr>
                                        <p:cTn id="33" dur="250"/>
                                        <p:tgtEl>
                                          <p:spTgt spid="10"/>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250"/>
                                        <p:tgtEl>
                                          <p:spTgt spid="11"/>
                                        </p:tgtEl>
                                      </p:cBhvr>
                                    </p:animEffect>
                                  </p:childTnLst>
                                </p:cTn>
                              </p:par>
                              <p:par>
                                <p:cTn id="37" presetID="42"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5" grpId="0"/>
      <p:bldP spid="16" grpId="0"/>
      <p:bldP spid="8" grpId="0"/>
      <p:bldP spid="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研究过程_需换右下角LOGO">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10998200" y="5565775"/>
            <a:ext cx="812800" cy="815975"/>
          </a:xfrm>
          <a:prstGeom prst="rect">
            <a:avLst/>
          </a:prstGeom>
          <a:noFill/>
          <a:ln w="9525">
            <a:noFill/>
          </a:ln>
        </p:spPr>
      </p:pic>
      <p:sp>
        <p:nvSpPr>
          <p:cNvPr id="11" name="等腰三角形 10"/>
          <p:cNvSpPr/>
          <p:nvPr/>
        </p:nvSpPr>
        <p:spPr>
          <a:xfrm rot="16200000">
            <a:off x="10400506" y="2770981"/>
            <a:ext cx="295275" cy="13811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文本框 11"/>
          <p:cNvSpPr txBox="1">
            <a:spLocks noChangeArrowheads="1"/>
          </p:cNvSpPr>
          <p:nvPr/>
        </p:nvSpPr>
        <p:spPr bwMode="auto">
          <a:xfrm>
            <a:off x="10710863" y="10699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研究概述</a:t>
            </a:r>
          </a:p>
        </p:txBody>
      </p:sp>
      <p:sp>
        <p:nvSpPr>
          <p:cNvPr id="13" name="文本框 12"/>
          <p:cNvSpPr txBox="1">
            <a:spLocks noChangeArrowheads="1"/>
          </p:cNvSpPr>
          <p:nvPr/>
        </p:nvSpPr>
        <p:spPr bwMode="auto">
          <a:xfrm>
            <a:off x="10710863" y="18573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研究方法</a:t>
            </a:r>
          </a:p>
        </p:txBody>
      </p:sp>
      <p:sp>
        <p:nvSpPr>
          <p:cNvPr id="14" name="文本框 13"/>
          <p:cNvSpPr txBox="1">
            <a:spLocks noChangeArrowheads="1"/>
          </p:cNvSpPr>
          <p:nvPr/>
        </p:nvSpPr>
        <p:spPr bwMode="auto">
          <a:xfrm>
            <a:off x="10710863" y="26463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rPr>
              <a:t>研究过程</a:t>
            </a:r>
          </a:p>
        </p:txBody>
      </p:sp>
      <p:sp>
        <p:nvSpPr>
          <p:cNvPr id="15" name="文本框 14"/>
          <p:cNvSpPr txBox="1">
            <a:spLocks noChangeArrowheads="1"/>
          </p:cNvSpPr>
          <p:nvPr/>
        </p:nvSpPr>
        <p:spPr bwMode="auto">
          <a:xfrm>
            <a:off x="10710863" y="34337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研究成果</a:t>
            </a:r>
          </a:p>
        </p:txBody>
      </p:sp>
      <p:sp>
        <p:nvSpPr>
          <p:cNvPr id="16" name="文本框 15"/>
          <p:cNvSpPr txBox="1">
            <a:spLocks noChangeArrowheads="1"/>
          </p:cNvSpPr>
          <p:nvPr/>
        </p:nvSpPr>
        <p:spPr bwMode="auto">
          <a:xfrm>
            <a:off x="10710863" y="4222750"/>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结论建议</a:t>
            </a:r>
          </a:p>
        </p:txBody>
      </p:sp>
      <p:sp>
        <p:nvSpPr>
          <p:cNvPr id="7" name="Freeform 5"/>
          <p:cNvSpPr>
            <a:spLocks noEditPoints="1"/>
          </p:cNvSpPr>
          <p:nvPr userDrawn="1"/>
        </p:nvSpPr>
        <p:spPr>
          <a:xfrm>
            <a:off x="508000" y="396875"/>
            <a:ext cx="765175" cy="684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alpha val="100000"/>
            </a:schemeClr>
          </a:solidFill>
          <a:ln w="9525">
            <a:noFill/>
          </a:ln>
        </p:spPr>
        <p:txBody>
          <a:bodyPr/>
          <a:lstStyle/>
          <a:p>
            <a:endParaRPr lang="zh-CN" altLang="en-US"/>
          </a:p>
        </p:txBody>
      </p:sp>
      <p:sp>
        <p:nvSpPr>
          <p:cNvPr id="8" name="文本框 7"/>
          <p:cNvSpPr txBox="1">
            <a:spLocks noChangeArrowheads="1"/>
          </p:cNvSpPr>
          <p:nvPr/>
        </p:nvSpPr>
        <p:spPr bwMode="auto">
          <a:xfrm>
            <a:off x="1303338" y="858838"/>
            <a:ext cx="2373313" cy="307975"/>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rPr>
              <a:t>MORESHI POWERPOINT</a:t>
            </a:r>
            <a:endParaRPr kumimoji="0" lang="zh-CN" altLang="en-US"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sp>
        <p:nvSpPr>
          <p:cNvPr id="9" name="矩形 8"/>
          <p:cNvSpPr/>
          <p:nvPr/>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17"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3C2400F-55D1-4C57-8F04-3188BFB83D55}"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solidFill>
                  <a:srgbClr val="666666"/>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P</a:t>
            </a:r>
            <a:fld id="{A1855B8F-21FB-4258-B61A-A5F9D8BD24BF}" type="slidenum">
              <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fill="hold"/>
                                        <p:tgtEl>
                                          <p:spTgt spid="9"/>
                                        </p:tgtEl>
                                        <p:attrNameLst>
                                          <p:attrName>ppt_x</p:attrName>
                                        </p:attrNameLst>
                                      </p:cBhvr>
                                      <p:tavLst>
                                        <p:tav tm="0">
                                          <p:val>
                                            <p:strVal val="1+#ppt_w/2"/>
                                          </p:val>
                                        </p:tav>
                                        <p:tav tm="100000">
                                          <p:val>
                                            <p:strVal val="#ppt_x"/>
                                          </p:val>
                                        </p:tav>
                                      </p:tavLst>
                                    </p:anim>
                                    <p:anim calcmode="lin" valueType="num">
                                      <p:cBhvr additive="base">
                                        <p:cTn id="8" dur="2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250" fill="hold"/>
                                        <p:tgtEl>
                                          <p:spTgt spid="12"/>
                                        </p:tgtEl>
                                        <p:attrNameLst>
                                          <p:attrName>ppt_x</p:attrName>
                                        </p:attrNameLst>
                                      </p:cBhvr>
                                      <p:tavLst>
                                        <p:tav tm="0">
                                          <p:val>
                                            <p:strVal val="1+#ppt_w/2"/>
                                          </p:val>
                                        </p:tav>
                                        <p:tav tm="100000">
                                          <p:val>
                                            <p:strVal val="#ppt_x"/>
                                          </p:val>
                                        </p:tav>
                                      </p:tavLst>
                                    </p:anim>
                                    <p:anim calcmode="lin" valueType="num">
                                      <p:cBhvr additive="base">
                                        <p:cTn id="12" dur="25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250" fill="hold"/>
                                        <p:tgtEl>
                                          <p:spTgt spid="13"/>
                                        </p:tgtEl>
                                        <p:attrNameLst>
                                          <p:attrName>ppt_x</p:attrName>
                                        </p:attrNameLst>
                                      </p:cBhvr>
                                      <p:tavLst>
                                        <p:tav tm="0">
                                          <p:val>
                                            <p:strVal val="1+#ppt_w/2"/>
                                          </p:val>
                                        </p:tav>
                                        <p:tav tm="100000">
                                          <p:val>
                                            <p:strVal val="#ppt_x"/>
                                          </p:val>
                                        </p:tav>
                                      </p:tavLst>
                                    </p:anim>
                                    <p:anim calcmode="lin" valueType="num">
                                      <p:cBhvr additive="base">
                                        <p:cTn id="16" dur="25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250" fill="hold"/>
                                        <p:tgtEl>
                                          <p:spTgt spid="14"/>
                                        </p:tgtEl>
                                        <p:attrNameLst>
                                          <p:attrName>ppt_x</p:attrName>
                                        </p:attrNameLst>
                                      </p:cBhvr>
                                      <p:tavLst>
                                        <p:tav tm="0">
                                          <p:val>
                                            <p:strVal val="1+#ppt_w/2"/>
                                          </p:val>
                                        </p:tav>
                                        <p:tav tm="100000">
                                          <p:val>
                                            <p:strVal val="#ppt_x"/>
                                          </p:val>
                                        </p:tav>
                                      </p:tavLst>
                                    </p:anim>
                                    <p:anim calcmode="lin" valueType="num">
                                      <p:cBhvr additive="base">
                                        <p:cTn id="20" dur="25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250" fill="hold"/>
                                        <p:tgtEl>
                                          <p:spTgt spid="15"/>
                                        </p:tgtEl>
                                        <p:attrNameLst>
                                          <p:attrName>ppt_x</p:attrName>
                                        </p:attrNameLst>
                                      </p:cBhvr>
                                      <p:tavLst>
                                        <p:tav tm="0">
                                          <p:val>
                                            <p:strVal val="1+#ppt_w/2"/>
                                          </p:val>
                                        </p:tav>
                                        <p:tav tm="100000">
                                          <p:val>
                                            <p:strVal val="#ppt_x"/>
                                          </p:val>
                                        </p:tav>
                                      </p:tavLst>
                                    </p:anim>
                                    <p:anim calcmode="lin" valueType="num">
                                      <p:cBhvr additive="base">
                                        <p:cTn id="24" dur="25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250" fill="hold"/>
                                        <p:tgtEl>
                                          <p:spTgt spid="16"/>
                                        </p:tgtEl>
                                        <p:attrNameLst>
                                          <p:attrName>ppt_x</p:attrName>
                                        </p:attrNameLst>
                                      </p:cBhvr>
                                      <p:tavLst>
                                        <p:tav tm="0">
                                          <p:val>
                                            <p:strVal val="1+#ppt_w/2"/>
                                          </p:val>
                                        </p:tav>
                                        <p:tav tm="100000">
                                          <p:val>
                                            <p:strVal val="#ppt_x"/>
                                          </p:val>
                                        </p:tav>
                                      </p:tavLst>
                                    </p:anim>
                                    <p:anim calcmode="lin" valueType="num">
                                      <p:cBhvr additive="base">
                                        <p:cTn id="28" dur="250" fill="hold"/>
                                        <p:tgtEl>
                                          <p:spTgt spid="16"/>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10"/>
                                        </p:tgtEl>
                                        <p:attrNameLst>
                                          <p:attrName>style.visibility</p:attrName>
                                        </p:attrNameLst>
                                      </p:cBhvr>
                                      <p:to>
                                        <p:strVal val="visible"/>
                                      </p:to>
                                    </p:set>
                                    <p:anim calcmode="lin" valueType="num">
                                      <p:cBhvr>
                                        <p:cTn id="31" dur="250" fill="hold"/>
                                        <p:tgtEl>
                                          <p:spTgt spid="10"/>
                                        </p:tgtEl>
                                        <p:attrNameLst>
                                          <p:attrName>ppt_w</p:attrName>
                                        </p:attrNameLst>
                                      </p:cBhvr>
                                      <p:tavLst>
                                        <p:tav tm="0">
                                          <p:val>
                                            <p:fltVal val="0"/>
                                          </p:val>
                                        </p:tav>
                                        <p:tav tm="100000">
                                          <p:val>
                                            <p:strVal val="#ppt_w"/>
                                          </p:val>
                                        </p:tav>
                                      </p:tavLst>
                                    </p:anim>
                                    <p:anim calcmode="lin" valueType="num">
                                      <p:cBhvr>
                                        <p:cTn id="32" dur="250" fill="hold"/>
                                        <p:tgtEl>
                                          <p:spTgt spid="10"/>
                                        </p:tgtEl>
                                        <p:attrNameLst>
                                          <p:attrName>ppt_h</p:attrName>
                                        </p:attrNameLst>
                                      </p:cBhvr>
                                      <p:tavLst>
                                        <p:tav tm="0">
                                          <p:val>
                                            <p:fltVal val="0"/>
                                          </p:val>
                                        </p:tav>
                                        <p:tav tm="100000">
                                          <p:val>
                                            <p:strVal val="#ppt_h"/>
                                          </p:val>
                                        </p:tav>
                                      </p:tavLst>
                                    </p:anim>
                                    <p:animEffect transition="in" filter="fade">
                                      <p:cBhvr>
                                        <p:cTn id="33" dur="250"/>
                                        <p:tgtEl>
                                          <p:spTgt spid="10"/>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250"/>
                                        <p:tgtEl>
                                          <p:spTgt spid="11"/>
                                        </p:tgtEl>
                                      </p:cBhvr>
                                    </p:animEffect>
                                  </p:childTnLst>
                                </p:cTn>
                              </p:par>
                              <p:par>
                                <p:cTn id="37" presetID="42"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5" grpId="0"/>
      <p:bldP spid="16" grpId="0"/>
      <p:bldP spid="8" grpId="0"/>
      <p:bldP spid="9"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研究成果_需换右下角LOGO">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10998200" y="5565775"/>
            <a:ext cx="812800" cy="815975"/>
          </a:xfrm>
          <a:prstGeom prst="rect">
            <a:avLst/>
          </a:prstGeom>
          <a:noFill/>
          <a:ln w="9525">
            <a:noFill/>
          </a:ln>
        </p:spPr>
      </p:pic>
      <p:sp>
        <p:nvSpPr>
          <p:cNvPr id="11" name="等腰三角形 10"/>
          <p:cNvSpPr/>
          <p:nvPr/>
        </p:nvSpPr>
        <p:spPr>
          <a:xfrm rot="16200000">
            <a:off x="10400506" y="3559969"/>
            <a:ext cx="295275" cy="13811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文本框 11"/>
          <p:cNvSpPr txBox="1">
            <a:spLocks noChangeArrowheads="1"/>
          </p:cNvSpPr>
          <p:nvPr/>
        </p:nvSpPr>
        <p:spPr bwMode="auto">
          <a:xfrm>
            <a:off x="10710863" y="10699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研究概述</a:t>
            </a:r>
          </a:p>
        </p:txBody>
      </p:sp>
      <p:sp>
        <p:nvSpPr>
          <p:cNvPr id="13" name="文本框 12"/>
          <p:cNvSpPr txBox="1">
            <a:spLocks noChangeArrowheads="1"/>
          </p:cNvSpPr>
          <p:nvPr/>
        </p:nvSpPr>
        <p:spPr bwMode="auto">
          <a:xfrm>
            <a:off x="10710863" y="18573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研究方法</a:t>
            </a:r>
          </a:p>
        </p:txBody>
      </p:sp>
      <p:sp>
        <p:nvSpPr>
          <p:cNvPr id="14" name="文本框 13"/>
          <p:cNvSpPr txBox="1">
            <a:spLocks noChangeArrowheads="1"/>
          </p:cNvSpPr>
          <p:nvPr/>
        </p:nvSpPr>
        <p:spPr bwMode="auto">
          <a:xfrm>
            <a:off x="10710863" y="26463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研究过程</a:t>
            </a:r>
          </a:p>
        </p:txBody>
      </p:sp>
      <p:sp>
        <p:nvSpPr>
          <p:cNvPr id="15" name="文本框 14"/>
          <p:cNvSpPr txBox="1">
            <a:spLocks noChangeArrowheads="1"/>
          </p:cNvSpPr>
          <p:nvPr/>
        </p:nvSpPr>
        <p:spPr bwMode="auto">
          <a:xfrm>
            <a:off x="10710863" y="34337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rPr>
              <a:t>研究成果</a:t>
            </a:r>
          </a:p>
        </p:txBody>
      </p:sp>
      <p:sp>
        <p:nvSpPr>
          <p:cNvPr id="16" name="文本框 15"/>
          <p:cNvSpPr txBox="1">
            <a:spLocks noChangeArrowheads="1"/>
          </p:cNvSpPr>
          <p:nvPr/>
        </p:nvSpPr>
        <p:spPr bwMode="auto">
          <a:xfrm>
            <a:off x="10710863" y="4222750"/>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结论建议</a:t>
            </a:r>
          </a:p>
        </p:txBody>
      </p:sp>
      <p:sp>
        <p:nvSpPr>
          <p:cNvPr id="7" name="Freeform 5"/>
          <p:cNvSpPr>
            <a:spLocks noEditPoints="1"/>
          </p:cNvSpPr>
          <p:nvPr userDrawn="1"/>
        </p:nvSpPr>
        <p:spPr>
          <a:xfrm>
            <a:off x="508000" y="396875"/>
            <a:ext cx="765175" cy="684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alpha val="100000"/>
            </a:schemeClr>
          </a:solidFill>
          <a:ln w="9525">
            <a:noFill/>
          </a:ln>
        </p:spPr>
        <p:txBody>
          <a:bodyPr/>
          <a:lstStyle/>
          <a:p>
            <a:endParaRPr lang="zh-CN" altLang="en-US"/>
          </a:p>
        </p:txBody>
      </p:sp>
      <p:sp>
        <p:nvSpPr>
          <p:cNvPr id="8" name="文本框 7"/>
          <p:cNvSpPr txBox="1">
            <a:spLocks noChangeArrowheads="1"/>
          </p:cNvSpPr>
          <p:nvPr/>
        </p:nvSpPr>
        <p:spPr bwMode="auto">
          <a:xfrm>
            <a:off x="1303338" y="858838"/>
            <a:ext cx="2373313" cy="307975"/>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rPr>
              <a:t>MORESHI POWERPOINT</a:t>
            </a:r>
            <a:endParaRPr kumimoji="0" lang="zh-CN" altLang="en-US"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sp>
        <p:nvSpPr>
          <p:cNvPr id="9" name="矩形 8"/>
          <p:cNvSpPr/>
          <p:nvPr/>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17"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8D7E0BF-DAEE-4ACF-910D-668259B140C8}"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solidFill>
                  <a:srgbClr val="666666"/>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P</a:t>
            </a:r>
            <a:fld id="{CFDFF9E9-8215-4AE9-8A3F-F5E8C4630F9F}" type="slidenum">
              <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fill="hold"/>
                                        <p:tgtEl>
                                          <p:spTgt spid="9"/>
                                        </p:tgtEl>
                                        <p:attrNameLst>
                                          <p:attrName>ppt_x</p:attrName>
                                        </p:attrNameLst>
                                      </p:cBhvr>
                                      <p:tavLst>
                                        <p:tav tm="0">
                                          <p:val>
                                            <p:strVal val="1+#ppt_w/2"/>
                                          </p:val>
                                        </p:tav>
                                        <p:tav tm="100000">
                                          <p:val>
                                            <p:strVal val="#ppt_x"/>
                                          </p:val>
                                        </p:tav>
                                      </p:tavLst>
                                    </p:anim>
                                    <p:anim calcmode="lin" valueType="num">
                                      <p:cBhvr additive="base">
                                        <p:cTn id="8" dur="2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250" fill="hold"/>
                                        <p:tgtEl>
                                          <p:spTgt spid="12"/>
                                        </p:tgtEl>
                                        <p:attrNameLst>
                                          <p:attrName>ppt_x</p:attrName>
                                        </p:attrNameLst>
                                      </p:cBhvr>
                                      <p:tavLst>
                                        <p:tav tm="0">
                                          <p:val>
                                            <p:strVal val="1+#ppt_w/2"/>
                                          </p:val>
                                        </p:tav>
                                        <p:tav tm="100000">
                                          <p:val>
                                            <p:strVal val="#ppt_x"/>
                                          </p:val>
                                        </p:tav>
                                      </p:tavLst>
                                    </p:anim>
                                    <p:anim calcmode="lin" valueType="num">
                                      <p:cBhvr additive="base">
                                        <p:cTn id="12" dur="25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250" fill="hold"/>
                                        <p:tgtEl>
                                          <p:spTgt spid="13"/>
                                        </p:tgtEl>
                                        <p:attrNameLst>
                                          <p:attrName>ppt_x</p:attrName>
                                        </p:attrNameLst>
                                      </p:cBhvr>
                                      <p:tavLst>
                                        <p:tav tm="0">
                                          <p:val>
                                            <p:strVal val="1+#ppt_w/2"/>
                                          </p:val>
                                        </p:tav>
                                        <p:tav tm="100000">
                                          <p:val>
                                            <p:strVal val="#ppt_x"/>
                                          </p:val>
                                        </p:tav>
                                      </p:tavLst>
                                    </p:anim>
                                    <p:anim calcmode="lin" valueType="num">
                                      <p:cBhvr additive="base">
                                        <p:cTn id="16" dur="25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250" fill="hold"/>
                                        <p:tgtEl>
                                          <p:spTgt spid="14"/>
                                        </p:tgtEl>
                                        <p:attrNameLst>
                                          <p:attrName>ppt_x</p:attrName>
                                        </p:attrNameLst>
                                      </p:cBhvr>
                                      <p:tavLst>
                                        <p:tav tm="0">
                                          <p:val>
                                            <p:strVal val="1+#ppt_w/2"/>
                                          </p:val>
                                        </p:tav>
                                        <p:tav tm="100000">
                                          <p:val>
                                            <p:strVal val="#ppt_x"/>
                                          </p:val>
                                        </p:tav>
                                      </p:tavLst>
                                    </p:anim>
                                    <p:anim calcmode="lin" valueType="num">
                                      <p:cBhvr additive="base">
                                        <p:cTn id="20" dur="25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250" fill="hold"/>
                                        <p:tgtEl>
                                          <p:spTgt spid="15"/>
                                        </p:tgtEl>
                                        <p:attrNameLst>
                                          <p:attrName>ppt_x</p:attrName>
                                        </p:attrNameLst>
                                      </p:cBhvr>
                                      <p:tavLst>
                                        <p:tav tm="0">
                                          <p:val>
                                            <p:strVal val="1+#ppt_w/2"/>
                                          </p:val>
                                        </p:tav>
                                        <p:tav tm="100000">
                                          <p:val>
                                            <p:strVal val="#ppt_x"/>
                                          </p:val>
                                        </p:tav>
                                      </p:tavLst>
                                    </p:anim>
                                    <p:anim calcmode="lin" valueType="num">
                                      <p:cBhvr additive="base">
                                        <p:cTn id="24" dur="25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250" fill="hold"/>
                                        <p:tgtEl>
                                          <p:spTgt spid="16"/>
                                        </p:tgtEl>
                                        <p:attrNameLst>
                                          <p:attrName>ppt_x</p:attrName>
                                        </p:attrNameLst>
                                      </p:cBhvr>
                                      <p:tavLst>
                                        <p:tav tm="0">
                                          <p:val>
                                            <p:strVal val="1+#ppt_w/2"/>
                                          </p:val>
                                        </p:tav>
                                        <p:tav tm="100000">
                                          <p:val>
                                            <p:strVal val="#ppt_x"/>
                                          </p:val>
                                        </p:tav>
                                      </p:tavLst>
                                    </p:anim>
                                    <p:anim calcmode="lin" valueType="num">
                                      <p:cBhvr additive="base">
                                        <p:cTn id="28" dur="250" fill="hold"/>
                                        <p:tgtEl>
                                          <p:spTgt spid="16"/>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500"/>
                                        <p:tgtEl>
                                          <p:spTgt spid="11"/>
                                        </p:tgtEl>
                                      </p:cBhvr>
                                    </p:animEffect>
                                  </p:childTnLst>
                                </p:cTn>
                              </p:par>
                              <p:par>
                                <p:cTn id="37" presetID="42"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5" grpId="0"/>
      <p:bldP spid="16" grpId="0"/>
      <p:bldP spid="8" grpId="0"/>
      <p:bldP spid="9"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结论建议_需换右下角LOGO">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10998200" y="5565775"/>
            <a:ext cx="812800" cy="815975"/>
          </a:xfrm>
          <a:prstGeom prst="rect">
            <a:avLst/>
          </a:prstGeom>
          <a:noFill/>
          <a:ln w="9525">
            <a:noFill/>
          </a:ln>
        </p:spPr>
      </p:pic>
      <p:sp>
        <p:nvSpPr>
          <p:cNvPr id="11" name="等腰三角形 10"/>
          <p:cNvSpPr/>
          <p:nvPr/>
        </p:nvSpPr>
        <p:spPr>
          <a:xfrm rot="16200000">
            <a:off x="10400506" y="4353719"/>
            <a:ext cx="295275" cy="13811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文本框 11"/>
          <p:cNvSpPr txBox="1">
            <a:spLocks noChangeArrowheads="1"/>
          </p:cNvSpPr>
          <p:nvPr/>
        </p:nvSpPr>
        <p:spPr bwMode="auto">
          <a:xfrm>
            <a:off x="10710863" y="10699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研究概述</a:t>
            </a:r>
          </a:p>
        </p:txBody>
      </p:sp>
      <p:sp>
        <p:nvSpPr>
          <p:cNvPr id="13" name="文本框 12"/>
          <p:cNvSpPr txBox="1">
            <a:spLocks noChangeArrowheads="1"/>
          </p:cNvSpPr>
          <p:nvPr/>
        </p:nvSpPr>
        <p:spPr bwMode="auto">
          <a:xfrm>
            <a:off x="10710863" y="1857375"/>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研究方法</a:t>
            </a:r>
          </a:p>
        </p:txBody>
      </p:sp>
      <p:sp>
        <p:nvSpPr>
          <p:cNvPr id="14" name="文本框 13"/>
          <p:cNvSpPr txBox="1">
            <a:spLocks noChangeArrowheads="1"/>
          </p:cNvSpPr>
          <p:nvPr/>
        </p:nvSpPr>
        <p:spPr bwMode="auto">
          <a:xfrm>
            <a:off x="10710863" y="26463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研究过程</a:t>
            </a:r>
          </a:p>
        </p:txBody>
      </p:sp>
      <p:sp>
        <p:nvSpPr>
          <p:cNvPr id="15" name="文本框 14"/>
          <p:cNvSpPr txBox="1">
            <a:spLocks noChangeArrowheads="1"/>
          </p:cNvSpPr>
          <p:nvPr/>
        </p:nvSpPr>
        <p:spPr bwMode="auto">
          <a:xfrm>
            <a:off x="10710863" y="3433763"/>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rgbClr val="3477B2"/>
                </a:solidFill>
                <a:effectLst/>
                <a:uLnTx/>
                <a:uFillTx/>
                <a:latin typeface="微软雅黑" panose="020B0503020204020204" pitchFamily="34" charset="-122"/>
                <a:ea typeface="微软雅黑" panose="020B0503020204020204" pitchFamily="34" charset="-122"/>
                <a:cs typeface="+mn-cs"/>
              </a:rPr>
              <a:t>研究成果</a:t>
            </a:r>
          </a:p>
        </p:txBody>
      </p:sp>
      <p:sp>
        <p:nvSpPr>
          <p:cNvPr id="16" name="文本框 15"/>
          <p:cNvSpPr txBox="1">
            <a:spLocks noChangeArrowheads="1"/>
          </p:cNvSpPr>
          <p:nvPr/>
        </p:nvSpPr>
        <p:spPr bwMode="auto">
          <a:xfrm>
            <a:off x="10710863" y="4222750"/>
            <a:ext cx="1387475" cy="400050"/>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rPr>
              <a:t>结论建议</a:t>
            </a:r>
          </a:p>
        </p:txBody>
      </p:sp>
      <p:sp>
        <p:nvSpPr>
          <p:cNvPr id="7" name="Freeform 5"/>
          <p:cNvSpPr>
            <a:spLocks noEditPoints="1"/>
          </p:cNvSpPr>
          <p:nvPr userDrawn="1"/>
        </p:nvSpPr>
        <p:spPr>
          <a:xfrm>
            <a:off x="508000" y="396875"/>
            <a:ext cx="765175" cy="684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alpha val="100000"/>
            </a:schemeClr>
          </a:solidFill>
          <a:ln w="9525">
            <a:noFill/>
          </a:ln>
        </p:spPr>
        <p:txBody>
          <a:bodyPr/>
          <a:lstStyle/>
          <a:p>
            <a:endParaRPr lang="zh-CN" altLang="en-US"/>
          </a:p>
        </p:txBody>
      </p:sp>
      <p:sp>
        <p:nvSpPr>
          <p:cNvPr id="8" name="文本框 7"/>
          <p:cNvSpPr txBox="1">
            <a:spLocks noChangeArrowheads="1"/>
          </p:cNvSpPr>
          <p:nvPr/>
        </p:nvSpPr>
        <p:spPr bwMode="auto">
          <a:xfrm>
            <a:off x="1303338" y="858838"/>
            <a:ext cx="2373313" cy="307975"/>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rPr>
              <a:t>MORESHI POWERPOINT</a:t>
            </a:r>
            <a:endParaRPr kumimoji="0" lang="zh-CN" altLang="en-US"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sp>
        <p:nvSpPr>
          <p:cNvPr id="9" name="矩形 8"/>
          <p:cNvSpPr/>
          <p:nvPr/>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17"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684BE2C-D40D-4C47-A5F4-D3A3AA75E0A1}"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solidFill>
                  <a:srgbClr val="666666"/>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P</a:t>
            </a:r>
            <a:fld id="{00CCBFE9-0FB4-4696-B0B2-96FE6D88B834}" type="slidenum">
              <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fill="hold"/>
                                        <p:tgtEl>
                                          <p:spTgt spid="9"/>
                                        </p:tgtEl>
                                        <p:attrNameLst>
                                          <p:attrName>ppt_x</p:attrName>
                                        </p:attrNameLst>
                                      </p:cBhvr>
                                      <p:tavLst>
                                        <p:tav tm="0">
                                          <p:val>
                                            <p:strVal val="1+#ppt_w/2"/>
                                          </p:val>
                                        </p:tav>
                                        <p:tav tm="100000">
                                          <p:val>
                                            <p:strVal val="#ppt_x"/>
                                          </p:val>
                                        </p:tav>
                                      </p:tavLst>
                                    </p:anim>
                                    <p:anim calcmode="lin" valueType="num">
                                      <p:cBhvr additive="base">
                                        <p:cTn id="8" dur="2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250" fill="hold"/>
                                        <p:tgtEl>
                                          <p:spTgt spid="12"/>
                                        </p:tgtEl>
                                        <p:attrNameLst>
                                          <p:attrName>ppt_x</p:attrName>
                                        </p:attrNameLst>
                                      </p:cBhvr>
                                      <p:tavLst>
                                        <p:tav tm="0">
                                          <p:val>
                                            <p:strVal val="1+#ppt_w/2"/>
                                          </p:val>
                                        </p:tav>
                                        <p:tav tm="100000">
                                          <p:val>
                                            <p:strVal val="#ppt_x"/>
                                          </p:val>
                                        </p:tav>
                                      </p:tavLst>
                                    </p:anim>
                                    <p:anim calcmode="lin" valueType="num">
                                      <p:cBhvr additive="base">
                                        <p:cTn id="12" dur="25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250" fill="hold"/>
                                        <p:tgtEl>
                                          <p:spTgt spid="13"/>
                                        </p:tgtEl>
                                        <p:attrNameLst>
                                          <p:attrName>ppt_x</p:attrName>
                                        </p:attrNameLst>
                                      </p:cBhvr>
                                      <p:tavLst>
                                        <p:tav tm="0">
                                          <p:val>
                                            <p:strVal val="1+#ppt_w/2"/>
                                          </p:val>
                                        </p:tav>
                                        <p:tav tm="100000">
                                          <p:val>
                                            <p:strVal val="#ppt_x"/>
                                          </p:val>
                                        </p:tav>
                                      </p:tavLst>
                                    </p:anim>
                                    <p:anim calcmode="lin" valueType="num">
                                      <p:cBhvr additive="base">
                                        <p:cTn id="16" dur="25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250" fill="hold"/>
                                        <p:tgtEl>
                                          <p:spTgt spid="14"/>
                                        </p:tgtEl>
                                        <p:attrNameLst>
                                          <p:attrName>ppt_x</p:attrName>
                                        </p:attrNameLst>
                                      </p:cBhvr>
                                      <p:tavLst>
                                        <p:tav tm="0">
                                          <p:val>
                                            <p:strVal val="1+#ppt_w/2"/>
                                          </p:val>
                                        </p:tav>
                                        <p:tav tm="100000">
                                          <p:val>
                                            <p:strVal val="#ppt_x"/>
                                          </p:val>
                                        </p:tav>
                                      </p:tavLst>
                                    </p:anim>
                                    <p:anim calcmode="lin" valueType="num">
                                      <p:cBhvr additive="base">
                                        <p:cTn id="20" dur="25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250" fill="hold"/>
                                        <p:tgtEl>
                                          <p:spTgt spid="15"/>
                                        </p:tgtEl>
                                        <p:attrNameLst>
                                          <p:attrName>ppt_x</p:attrName>
                                        </p:attrNameLst>
                                      </p:cBhvr>
                                      <p:tavLst>
                                        <p:tav tm="0">
                                          <p:val>
                                            <p:strVal val="1+#ppt_w/2"/>
                                          </p:val>
                                        </p:tav>
                                        <p:tav tm="100000">
                                          <p:val>
                                            <p:strVal val="#ppt_x"/>
                                          </p:val>
                                        </p:tav>
                                      </p:tavLst>
                                    </p:anim>
                                    <p:anim calcmode="lin" valueType="num">
                                      <p:cBhvr additive="base">
                                        <p:cTn id="24" dur="25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250" fill="hold"/>
                                        <p:tgtEl>
                                          <p:spTgt spid="16"/>
                                        </p:tgtEl>
                                        <p:attrNameLst>
                                          <p:attrName>ppt_x</p:attrName>
                                        </p:attrNameLst>
                                      </p:cBhvr>
                                      <p:tavLst>
                                        <p:tav tm="0">
                                          <p:val>
                                            <p:strVal val="1+#ppt_w/2"/>
                                          </p:val>
                                        </p:tav>
                                        <p:tav tm="100000">
                                          <p:val>
                                            <p:strVal val="#ppt_x"/>
                                          </p:val>
                                        </p:tav>
                                      </p:tavLst>
                                    </p:anim>
                                    <p:anim calcmode="lin" valueType="num">
                                      <p:cBhvr additive="base">
                                        <p:cTn id="28" dur="250" fill="hold"/>
                                        <p:tgtEl>
                                          <p:spTgt spid="16"/>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10"/>
                                        </p:tgtEl>
                                        <p:attrNameLst>
                                          <p:attrName>style.visibility</p:attrName>
                                        </p:attrNameLst>
                                      </p:cBhvr>
                                      <p:to>
                                        <p:strVal val="visible"/>
                                      </p:to>
                                    </p:set>
                                    <p:anim calcmode="lin" valueType="num">
                                      <p:cBhvr>
                                        <p:cTn id="31" dur="250" fill="hold"/>
                                        <p:tgtEl>
                                          <p:spTgt spid="10"/>
                                        </p:tgtEl>
                                        <p:attrNameLst>
                                          <p:attrName>ppt_w</p:attrName>
                                        </p:attrNameLst>
                                      </p:cBhvr>
                                      <p:tavLst>
                                        <p:tav tm="0">
                                          <p:val>
                                            <p:fltVal val="0"/>
                                          </p:val>
                                        </p:tav>
                                        <p:tav tm="100000">
                                          <p:val>
                                            <p:strVal val="#ppt_w"/>
                                          </p:val>
                                        </p:tav>
                                      </p:tavLst>
                                    </p:anim>
                                    <p:anim calcmode="lin" valueType="num">
                                      <p:cBhvr>
                                        <p:cTn id="32" dur="250" fill="hold"/>
                                        <p:tgtEl>
                                          <p:spTgt spid="10"/>
                                        </p:tgtEl>
                                        <p:attrNameLst>
                                          <p:attrName>ppt_h</p:attrName>
                                        </p:attrNameLst>
                                      </p:cBhvr>
                                      <p:tavLst>
                                        <p:tav tm="0">
                                          <p:val>
                                            <p:fltVal val="0"/>
                                          </p:val>
                                        </p:tav>
                                        <p:tav tm="100000">
                                          <p:val>
                                            <p:strVal val="#ppt_h"/>
                                          </p:val>
                                        </p:tav>
                                      </p:tavLst>
                                    </p:anim>
                                    <p:animEffect transition="in" filter="fade">
                                      <p:cBhvr>
                                        <p:cTn id="33" dur="250"/>
                                        <p:tgtEl>
                                          <p:spTgt spid="10"/>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250"/>
                                        <p:tgtEl>
                                          <p:spTgt spid="11"/>
                                        </p:tgtEl>
                                      </p:cBhvr>
                                    </p:animEffect>
                                  </p:childTnLst>
                                </p:cTn>
                              </p:par>
                              <p:par>
                                <p:cTn id="37" presetID="42"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5" grpId="0"/>
      <p:bldP spid="16" grpId="0"/>
      <p:bldP spid="8" grpId="0"/>
      <p:bldP spid="9"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内容版式_右下角通用LOGO">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sp>
        <p:nvSpPr>
          <p:cNvPr id="7" name="矩形 6"/>
          <p:cNvSpPr>
            <a:spLocks noChangeArrowheads="1"/>
          </p:cNvSpPr>
          <p:nvPr/>
        </p:nvSpPr>
        <p:spPr bwMode="auto">
          <a:xfrm>
            <a:off x="10987088" y="4545013"/>
            <a:ext cx="774700" cy="246063"/>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模板下载：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www.1ppt.com/moban/     </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行业</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模板：</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www.1ppt.com/hangye/ </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节日</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模板：</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www.1ppt.com/jieri/           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素材下载：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www.1ppt.com/sucai/</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背景图片：</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www.1ppt.com/beijing/      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图表下载：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www.1ppt.com/tubiao/      </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优秀</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www.1ppt.com/xiazai/        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教程： </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www.1ppt.com/powerpoint/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Word</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教程： </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www.1ppt.com/word/              Excel</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教程：</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www.1ppt.com/excel/  </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资料下载：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www.1ppt.com/ziliao/                PPT</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课件下载：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www.1ppt.com/kejian/ </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范文下载：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www.1ppt.com/fanwen/             </a:t>
            </a: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试卷下载：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www.1ppt.com/shiti/  </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教案下载：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www.1ppt.com/jiaoan/        </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字体下载：</a:t>
            </a: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www.1ppt.com/ziti/</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rPr>
              <a:t> </a:t>
            </a:r>
            <a:endParaRPr kumimoji="0" lang="zh-CN" altLang="en-US" sz="100" b="0" i="0" u="none" strike="noStrike" kern="1200" cap="none" spc="0" normalizeH="0" baseline="0" noProof="0"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8195" name="Freeform 5"/>
          <p:cNvSpPr>
            <a:spLocks noEditPoints="1"/>
          </p:cNvSpPr>
          <p:nvPr userDrawn="1"/>
        </p:nvSpPr>
        <p:spPr>
          <a:xfrm>
            <a:off x="508000" y="396875"/>
            <a:ext cx="765175" cy="684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alpha val="100000"/>
            </a:schemeClr>
          </a:solidFill>
          <a:ln w="9525">
            <a:noFill/>
          </a:ln>
        </p:spPr>
        <p:txBody>
          <a:bodyPr/>
          <a:lstStyle/>
          <a:p>
            <a:endParaRPr lang="zh-CN" altLang="en-US"/>
          </a:p>
        </p:txBody>
      </p:sp>
      <p:sp>
        <p:nvSpPr>
          <p:cNvPr id="9" name="文本框 8"/>
          <p:cNvSpPr txBox="1">
            <a:spLocks noChangeArrowheads="1"/>
          </p:cNvSpPr>
          <p:nvPr/>
        </p:nvSpPr>
        <p:spPr bwMode="auto">
          <a:xfrm>
            <a:off x="1303338" y="858838"/>
            <a:ext cx="2373313" cy="307975"/>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rPr>
              <a:t>MORESHI POWERPOINT</a:t>
            </a:r>
            <a:endParaRPr kumimoji="0" lang="zh-CN" altLang="en-US"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sp>
        <p:nvSpPr>
          <p:cNvPr id="10" name="矩形 9"/>
          <p:cNvSpPr/>
          <p:nvPr/>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8198" name="组合 10"/>
          <p:cNvGrpSpPr/>
          <p:nvPr userDrawn="1"/>
        </p:nvGrpSpPr>
        <p:grpSpPr>
          <a:xfrm>
            <a:off x="11045825" y="5565775"/>
            <a:ext cx="715963" cy="846138"/>
            <a:chOff x="8367154" y="5203814"/>
            <a:chExt cx="1890395" cy="2232329"/>
          </a:xfrm>
        </p:grpSpPr>
        <p:sp>
          <p:nvSpPr>
            <p:cNvPr id="8204" name="Freeform 145"/>
            <p:cNvSpPr/>
            <p:nvPr/>
          </p:nvSpPr>
          <p:spPr>
            <a:xfrm>
              <a:off x="8367154" y="5203814"/>
              <a:ext cx="1890395" cy="2232329"/>
            </a:xfrm>
            <a:custGeom>
              <a:avLst/>
              <a:gdLst/>
              <a:ahLst/>
              <a:cxnLst>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Lst>
              <a:rect l="0" t="0" r="0" b="0"/>
              <a:pathLst>
                <a:path w="777" h="918">
                  <a:moveTo>
                    <a:pt x="758" y="204"/>
                  </a:moveTo>
                  <a:cubicBezTo>
                    <a:pt x="389" y="0"/>
                    <a:pt x="389" y="0"/>
                    <a:pt x="389" y="0"/>
                  </a:cubicBezTo>
                  <a:cubicBezTo>
                    <a:pt x="19" y="204"/>
                    <a:pt x="19" y="204"/>
                    <a:pt x="19" y="204"/>
                  </a:cubicBezTo>
                  <a:cubicBezTo>
                    <a:pt x="19" y="204"/>
                    <a:pt x="0" y="622"/>
                    <a:pt x="271" y="833"/>
                  </a:cubicBezTo>
                  <a:cubicBezTo>
                    <a:pt x="306" y="864"/>
                    <a:pt x="344" y="893"/>
                    <a:pt x="389" y="918"/>
                  </a:cubicBezTo>
                  <a:cubicBezTo>
                    <a:pt x="433" y="893"/>
                    <a:pt x="472" y="864"/>
                    <a:pt x="506" y="832"/>
                  </a:cubicBezTo>
                  <a:cubicBezTo>
                    <a:pt x="777" y="622"/>
                    <a:pt x="758" y="204"/>
                    <a:pt x="758" y="204"/>
                  </a:cubicBezTo>
                  <a:close/>
                </a:path>
              </a:pathLst>
            </a:custGeom>
            <a:solidFill>
              <a:schemeClr val="accent2">
                <a:alpha val="100000"/>
              </a:schemeClr>
            </a:solidFill>
            <a:ln w="9525">
              <a:noFill/>
            </a:ln>
          </p:spPr>
          <p:txBody>
            <a:bodyPr/>
            <a:lstStyle/>
            <a:p>
              <a:endParaRPr lang="zh-CN" altLang="en-US"/>
            </a:p>
          </p:txBody>
        </p:sp>
        <p:sp>
          <p:nvSpPr>
            <p:cNvPr id="8205" name="Freeform 146"/>
            <p:cNvSpPr>
              <a:spLocks noEditPoints="1"/>
            </p:cNvSpPr>
            <p:nvPr/>
          </p:nvSpPr>
          <p:spPr>
            <a:xfrm>
              <a:off x="8530626" y="5337837"/>
              <a:ext cx="1563451" cy="1964282"/>
            </a:xfrm>
            <a:custGeom>
              <a:avLst/>
              <a:gdLst/>
              <a:ahLst/>
              <a:cxnLst>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643" h="807">
                  <a:moveTo>
                    <a:pt x="322" y="807"/>
                  </a:moveTo>
                  <a:cubicBezTo>
                    <a:pt x="317" y="804"/>
                    <a:pt x="317" y="804"/>
                    <a:pt x="317" y="804"/>
                  </a:cubicBezTo>
                  <a:cubicBezTo>
                    <a:pt x="289" y="785"/>
                    <a:pt x="262" y="765"/>
                    <a:pt x="237" y="742"/>
                  </a:cubicBezTo>
                  <a:cubicBezTo>
                    <a:pt x="236" y="741"/>
                    <a:pt x="235" y="740"/>
                    <a:pt x="234" y="739"/>
                  </a:cubicBezTo>
                  <a:cubicBezTo>
                    <a:pt x="26" y="578"/>
                    <a:pt x="3" y="273"/>
                    <a:pt x="0" y="183"/>
                  </a:cubicBezTo>
                  <a:cubicBezTo>
                    <a:pt x="0" y="178"/>
                    <a:pt x="0" y="178"/>
                    <a:pt x="0" y="178"/>
                  </a:cubicBezTo>
                  <a:cubicBezTo>
                    <a:pt x="322" y="0"/>
                    <a:pt x="322" y="0"/>
                    <a:pt x="322" y="0"/>
                  </a:cubicBezTo>
                  <a:cubicBezTo>
                    <a:pt x="643" y="178"/>
                    <a:pt x="643" y="178"/>
                    <a:pt x="643" y="178"/>
                  </a:cubicBezTo>
                  <a:cubicBezTo>
                    <a:pt x="643" y="183"/>
                    <a:pt x="643" y="183"/>
                    <a:pt x="643" y="183"/>
                  </a:cubicBezTo>
                  <a:cubicBezTo>
                    <a:pt x="640" y="273"/>
                    <a:pt x="617" y="578"/>
                    <a:pt x="409" y="739"/>
                  </a:cubicBezTo>
                  <a:cubicBezTo>
                    <a:pt x="408" y="740"/>
                    <a:pt x="407" y="741"/>
                    <a:pt x="406" y="742"/>
                  </a:cubicBezTo>
                  <a:cubicBezTo>
                    <a:pt x="382" y="764"/>
                    <a:pt x="355" y="785"/>
                    <a:pt x="326" y="804"/>
                  </a:cubicBezTo>
                  <a:lnTo>
                    <a:pt x="322" y="807"/>
                  </a:lnTo>
                  <a:close/>
                  <a:moveTo>
                    <a:pt x="18" y="187"/>
                  </a:moveTo>
                  <a:cubicBezTo>
                    <a:pt x="21" y="281"/>
                    <a:pt x="46" y="572"/>
                    <a:pt x="244" y="726"/>
                  </a:cubicBezTo>
                  <a:cubicBezTo>
                    <a:pt x="246" y="727"/>
                    <a:pt x="247" y="728"/>
                    <a:pt x="248" y="729"/>
                  </a:cubicBezTo>
                  <a:cubicBezTo>
                    <a:pt x="271" y="750"/>
                    <a:pt x="296" y="769"/>
                    <a:pt x="322" y="787"/>
                  </a:cubicBezTo>
                  <a:cubicBezTo>
                    <a:pt x="347" y="769"/>
                    <a:pt x="372" y="750"/>
                    <a:pt x="395" y="729"/>
                  </a:cubicBezTo>
                  <a:cubicBezTo>
                    <a:pt x="396" y="728"/>
                    <a:pt x="397" y="727"/>
                    <a:pt x="399" y="726"/>
                  </a:cubicBezTo>
                  <a:cubicBezTo>
                    <a:pt x="597" y="572"/>
                    <a:pt x="623" y="281"/>
                    <a:pt x="625" y="187"/>
                  </a:cubicBezTo>
                  <a:cubicBezTo>
                    <a:pt x="322" y="19"/>
                    <a:pt x="322" y="19"/>
                    <a:pt x="322" y="19"/>
                  </a:cubicBezTo>
                  <a:lnTo>
                    <a:pt x="18" y="187"/>
                  </a:lnTo>
                  <a:close/>
                </a:path>
              </a:pathLst>
            </a:custGeom>
            <a:solidFill>
              <a:schemeClr val="accent1">
                <a:alpha val="100000"/>
              </a:schemeClr>
            </a:solidFill>
            <a:ln w="9525">
              <a:noFill/>
            </a:ln>
          </p:spPr>
          <p:txBody>
            <a:bodyPr/>
            <a:lstStyle/>
            <a:p>
              <a:endParaRPr lang="zh-CN" altLang="en-US"/>
            </a:p>
          </p:txBody>
        </p:sp>
        <p:sp>
          <p:nvSpPr>
            <p:cNvPr id="8206" name="Freeform 147"/>
            <p:cNvSpPr>
              <a:spLocks noEditPoints="1"/>
            </p:cNvSpPr>
            <p:nvPr/>
          </p:nvSpPr>
          <p:spPr>
            <a:xfrm>
              <a:off x="8463561" y="5258262"/>
              <a:ext cx="1697581" cy="2123432"/>
            </a:xfrm>
            <a:custGeom>
              <a:avLst/>
              <a:gdLst/>
              <a:ahLst/>
              <a:cxnLst>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699" h="872">
                  <a:moveTo>
                    <a:pt x="350" y="872"/>
                  </a:moveTo>
                  <a:cubicBezTo>
                    <a:pt x="348" y="871"/>
                    <a:pt x="348" y="871"/>
                    <a:pt x="348" y="871"/>
                  </a:cubicBezTo>
                  <a:cubicBezTo>
                    <a:pt x="312" y="849"/>
                    <a:pt x="277" y="823"/>
                    <a:pt x="246" y="795"/>
                  </a:cubicBezTo>
                  <a:cubicBezTo>
                    <a:pt x="245" y="795"/>
                    <a:pt x="245" y="794"/>
                    <a:pt x="245" y="794"/>
                  </a:cubicBezTo>
                  <a:cubicBezTo>
                    <a:pt x="11" y="612"/>
                    <a:pt x="0" y="263"/>
                    <a:pt x="0" y="195"/>
                  </a:cubicBezTo>
                  <a:cubicBezTo>
                    <a:pt x="0" y="193"/>
                    <a:pt x="0" y="193"/>
                    <a:pt x="0" y="193"/>
                  </a:cubicBezTo>
                  <a:cubicBezTo>
                    <a:pt x="350" y="0"/>
                    <a:pt x="350" y="0"/>
                    <a:pt x="350" y="0"/>
                  </a:cubicBezTo>
                  <a:cubicBezTo>
                    <a:pt x="699" y="193"/>
                    <a:pt x="699" y="193"/>
                    <a:pt x="699" y="193"/>
                  </a:cubicBezTo>
                  <a:cubicBezTo>
                    <a:pt x="699" y="195"/>
                    <a:pt x="699" y="195"/>
                    <a:pt x="699" y="195"/>
                  </a:cubicBezTo>
                  <a:cubicBezTo>
                    <a:pt x="699" y="263"/>
                    <a:pt x="689" y="612"/>
                    <a:pt x="455" y="794"/>
                  </a:cubicBezTo>
                  <a:cubicBezTo>
                    <a:pt x="454" y="794"/>
                    <a:pt x="454" y="794"/>
                    <a:pt x="453" y="795"/>
                  </a:cubicBezTo>
                  <a:cubicBezTo>
                    <a:pt x="422" y="823"/>
                    <a:pt x="388" y="849"/>
                    <a:pt x="351" y="871"/>
                  </a:cubicBezTo>
                  <a:lnTo>
                    <a:pt x="350" y="872"/>
                  </a:lnTo>
                  <a:close/>
                  <a:moveTo>
                    <a:pt x="6" y="196"/>
                  </a:moveTo>
                  <a:cubicBezTo>
                    <a:pt x="6" y="268"/>
                    <a:pt x="18" y="611"/>
                    <a:pt x="248" y="789"/>
                  </a:cubicBezTo>
                  <a:cubicBezTo>
                    <a:pt x="249" y="790"/>
                    <a:pt x="249" y="790"/>
                    <a:pt x="250" y="791"/>
                  </a:cubicBezTo>
                  <a:cubicBezTo>
                    <a:pt x="280" y="819"/>
                    <a:pt x="314" y="844"/>
                    <a:pt x="350" y="866"/>
                  </a:cubicBezTo>
                  <a:cubicBezTo>
                    <a:pt x="385" y="844"/>
                    <a:pt x="419" y="819"/>
                    <a:pt x="450" y="791"/>
                  </a:cubicBezTo>
                  <a:cubicBezTo>
                    <a:pt x="450" y="790"/>
                    <a:pt x="451" y="790"/>
                    <a:pt x="451" y="789"/>
                  </a:cubicBezTo>
                  <a:cubicBezTo>
                    <a:pt x="681" y="611"/>
                    <a:pt x="694" y="268"/>
                    <a:pt x="694" y="196"/>
                  </a:cubicBezTo>
                  <a:cubicBezTo>
                    <a:pt x="350" y="6"/>
                    <a:pt x="350" y="6"/>
                    <a:pt x="350" y="6"/>
                  </a:cubicBezTo>
                  <a:lnTo>
                    <a:pt x="6" y="196"/>
                  </a:lnTo>
                  <a:close/>
                </a:path>
              </a:pathLst>
            </a:custGeom>
            <a:solidFill>
              <a:schemeClr val="accent1">
                <a:alpha val="100000"/>
              </a:schemeClr>
            </a:solidFill>
            <a:ln w="9525">
              <a:noFill/>
            </a:ln>
          </p:spPr>
          <p:txBody>
            <a:bodyPr/>
            <a:lstStyle/>
            <a:p>
              <a:endParaRPr lang="zh-CN" altLang="en-US"/>
            </a:p>
          </p:txBody>
        </p:sp>
        <p:sp>
          <p:nvSpPr>
            <p:cNvPr id="8207" name="Freeform 261"/>
            <p:cNvSpPr>
              <a:spLocks noEditPoints="1"/>
            </p:cNvSpPr>
            <p:nvPr/>
          </p:nvSpPr>
          <p:spPr>
            <a:xfrm>
              <a:off x="9016847" y="5798543"/>
              <a:ext cx="595202" cy="850212"/>
            </a:xfrm>
            <a:custGeom>
              <a:avLst/>
              <a:gdLst/>
              <a:ahLst/>
              <a:cxnLst>
                <a:cxn ang="0">
                  <a:pos x="2147483646" y="2147483646"/>
                </a:cxn>
                <a:cxn ang="0">
                  <a:pos x="0" y="2147483646"/>
                </a:cxn>
                <a:cxn ang="0">
                  <a:pos x="0" y="2147483646"/>
                </a:cxn>
                <a:cxn ang="0">
                  <a:pos x="2147483646" y="2147483646"/>
                </a:cxn>
                <a:cxn ang="0">
                  <a:pos x="2147483646" y="2147483646"/>
                </a:cxn>
                <a:cxn ang="0">
                  <a:pos x="0" y="2147483646"/>
                </a:cxn>
                <a:cxn ang="0">
                  <a:pos x="0"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80" h="831">
                  <a:moveTo>
                    <a:pt x="580" y="831"/>
                  </a:moveTo>
                  <a:lnTo>
                    <a:pt x="0" y="831"/>
                  </a:lnTo>
                  <a:lnTo>
                    <a:pt x="0" y="611"/>
                  </a:lnTo>
                  <a:lnTo>
                    <a:pt x="61" y="611"/>
                  </a:lnTo>
                  <a:lnTo>
                    <a:pt x="61" y="220"/>
                  </a:lnTo>
                  <a:lnTo>
                    <a:pt x="0" y="220"/>
                  </a:lnTo>
                  <a:lnTo>
                    <a:pt x="0" y="0"/>
                  </a:lnTo>
                  <a:lnTo>
                    <a:pt x="367" y="0"/>
                  </a:lnTo>
                  <a:lnTo>
                    <a:pt x="367" y="220"/>
                  </a:lnTo>
                  <a:lnTo>
                    <a:pt x="289" y="220"/>
                  </a:lnTo>
                  <a:lnTo>
                    <a:pt x="289" y="611"/>
                  </a:lnTo>
                  <a:lnTo>
                    <a:pt x="360" y="611"/>
                  </a:lnTo>
                  <a:lnTo>
                    <a:pt x="360" y="516"/>
                  </a:lnTo>
                  <a:lnTo>
                    <a:pt x="580" y="516"/>
                  </a:lnTo>
                  <a:lnTo>
                    <a:pt x="580" y="831"/>
                  </a:lnTo>
                  <a:close/>
                  <a:moveTo>
                    <a:pt x="568" y="817"/>
                  </a:moveTo>
                  <a:lnTo>
                    <a:pt x="568" y="528"/>
                  </a:lnTo>
                  <a:lnTo>
                    <a:pt x="372" y="528"/>
                  </a:lnTo>
                  <a:lnTo>
                    <a:pt x="372" y="623"/>
                  </a:lnTo>
                  <a:lnTo>
                    <a:pt x="277" y="623"/>
                  </a:lnTo>
                  <a:lnTo>
                    <a:pt x="277" y="208"/>
                  </a:lnTo>
                  <a:lnTo>
                    <a:pt x="357" y="208"/>
                  </a:lnTo>
                  <a:lnTo>
                    <a:pt x="357" y="14"/>
                  </a:lnTo>
                  <a:lnTo>
                    <a:pt x="12" y="14"/>
                  </a:lnTo>
                  <a:lnTo>
                    <a:pt x="12" y="208"/>
                  </a:lnTo>
                  <a:lnTo>
                    <a:pt x="75" y="208"/>
                  </a:lnTo>
                  <a:lnTo>
                    <a:pt x="75" y="623"/>
                  </a:lnTo>
                  <a:lnTo>
                    <a:pt x="12" y="623"/>
                  </a:lnTo>
                  <a:lnTo>
                    <a:pt x="12" y="817"/>
                  </a:lnTo>
                  <a:lnTo>
                    <a:pt x="568" y="817"/>
                  </a:lnTo>
                  <a:close/>
                  <a:moveTo>
                    <a:pt x="530" y="779"/>
                  </a:moveTo>
                  <a:lnTo>
                    <a:pt x="52" y="779"/>
                  </a:lnTo>
                  <a:lnTo>
                    <a:pt x="52" y="663"/>
                  </a:lnTo>
                  <a:lnTo>
                    <a:pt x="113" y="663"/>
                  </a:lnTo>
                  <a:lnTo>
                    <a:pt x="113" y="168"/>
                  </a:lnTo>
                  <a:lnTo>
                    <a:pt x="52" y="168"/>
                  </a:lnTo>
                  <a:lnTo>
                    <a:pt x="52" y="52"/>
                  </a:lnTo>
                  <a:lnTo>
                    <a:pt x="317" y="52"/>
                  </a:lnTo>
                  <a:lnTo>
                    <a:pt x="317" y="168"/>
                  </a:lnTo>
                  <a:lnTo>
                    <a:pt x="237" y="168"/>
                  </a:lnTo>
                  <a:lnTo>
                    <a:pt x="237" y="663"/>
                  </a:lnTo>
                  <a:lnTo>
                    <a:pt x="410" y="663"/>
                  </a:lnTo>
                  <a:lnTo>
                    <a:pt x="410" y="566"/>
                  </a:lnTo>
                  <a:lnTo>
                    <a:pt x="530" y="566"/>
                  </a:lnTo>
                  <a:lnTo>
                    <a:pt x="530" y="779"/>
                  </a:lnTo>
                  <a:close/>
                </a:path>
              </a:pathLst>
            </a:custGeom>
            <a:solidFill>
              <a:schemeClr val="accent2">
                <a:alpha val="100000"/>
              </a:schemeClr>
            </a:solidFill>
            <a:ln w="9525" cap="flat" cmpd="sng">
              <a:solidFill>
                <a:schemeClr val="accent1">
                  <a:alpha val="100000"/>
                </a:schemeClr>
              </a:solidFill>
              <a:prstDash val="solid"/>
              <a:round/>
              <a:headEnd type="none" w="med" len="med"/>
              <a:tailEnd type="none" w="med" len="med"/>
            </a:ln>
          </p:spPr>
          <p:txBody>
            <a:bodyPr/>
            <a:lstStyle/>
            <a:p>
              <a:endParaRPr lang="zh-CN" altLang="en-US"/>
            </a:p>
          </p:txBody>
        </p:sp>
      </p:gr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16"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0CB498D-B6B7-449D-90AB-CBC9053B3B39}"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7"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solidFill>
                  <a:srgbClr val="666666"/>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P</a:t>
            </a:r>
            <a:fld id="{5482F3F6-1280-47AD-A76F-2DDC0D3B1E2F}" type="slidenum">
              <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sp>
        <p:nvSpPr>
          <p:cNvPr id="7"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A7A9005-0972-44E7-9A24-7F82DB40E0DD}"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F0B0C30-43CF-4A9E-BB90-C809D63674C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使用说明">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sp>
        <p:nvSpPr>
          <p:cNvPr id="10242" name="Freeform 5"/>
          <p:cNvSpPr>
            <a:spLocks noEditPoints="1"/>
          </p:cNvSpPr>
          <p:nvPr userDrawn="1"/>
        </p:nvSpPr>
        <p:spPr>
          <a:xfrm>
            <a:off x="508000" y="396875"/>
            <a:ext cx="765175" cy="684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alpha val="100000"/>
            </a:schemeClr>
          </a:solidFill>
          <a:ln w="9525">
            <a:noFill/>
          </a:ln>
        </p:spPr>
        <p:txBody>
          <a:bodyPr/>
          <a:lstStyle/>
          <a:p>
            <a:endParaRPr lang="zh-CN" altLang="en-US"/>
          </a:p>
        </p:txBody>
      </p:sp>
      <p:sp>
        <p:nvSpPr>
          <p:cNvPr id="8" name="文本框 7"/>
          <p:cNvSpPr txBox="1">
            <a:spLocks noChangeArrowheads="1"/>
          </p:cNvSpPr>
          <p:nvPr/>
        </p:nvSpPr>
        <p:spPr bwMode="auto">
          <a:xfrm>
            <a:off x="1303338" y="858838"/>
            <a:ext cx="2373313" cy="307975"/>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rPr>
              <a:t>MORESHI POWERPOINT</a:t>
            </a:r>
            <a:endParaRPr kumimoji="0" lang="zh-CN" altLang="en-US" sz="1400" b="0" i="0" u="none" strike="noStrike" kern="1200" cap="none" spc="0" normalizeH="0" baseline="0" noProof="0" smtClean="0">
              <a:ln>
                <a:noFill/>
              </a:ln>
              <a:solidFill>
                <a:srgbClr val="999999"/>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9"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4B73775-EB98-48C5-A48D-59ED738D63E5}"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defRPr>
                <a:solidFill>
                  <a:srgbClr val="666666"/>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P</a:t>
            </a:r>
            <a:fld id="{DF3AACE8-0210-41AF-8117-A7BEE387F7B4}" type="slidenum">
              <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666666"/>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BFBFB">
                <a:alpha val="100000"/>
              </a:srgbClr>
            </a:gs>
            <a:gs pos="100000">
              <a:srgbClr val="D0D0D0">
                <a:alpha val="100000"/>
              </a:srgbClr>
            </a:gs>
          </a:gsLst>
          <a:lin ang="54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idx="1"/>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E9BEF29-CB23-4BF8-B77C-AF5CCFEC34BB}"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2025/5/13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B7F4252-6FCB-4983-9FA3-B4DBC1DCE40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p:fade/>
  </p:transition>
  <p:timing>
    <p:tnLst>
      <p:par>
        <p:cTn id="1" dur="indefinite" restart="never" nodeType="tmRoot"/>
      </p:par>
    </p:tnLst>
  </p:timing>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notesSlide" Target="../notesSlides/notesSlide4.xml"/><Relationship Id="rId7" Type="http://schemas.openxmlformats.org/officeDocument/2006/relationships/diagramData" Target="../diagrams/data1.xml"/><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4.emf"/><Relationship Id="rId11" Type="http://schemas.microsoft.com/office/2007/relationships/diagramDrawing" Target="../diagrams/drawing1.xml"/><Relationship Id="rId5" Type="http://schemas.openxmlformats.org/officeDocument/2006/relationships/oleObject" Target="../embeddings/oleObject1.bin"/><Relationship Id="rId10" Type="http://schemas.openxmlformats.org/officeDocument/2006/relationships/diagramColors" Target="../diagrams/colors1.xml"/><Relationship Id="rId4" Type="http://schemas.openxmlformats.org/officeDocument/2006/relationships/image" Target="../media/image5.jpeg"/><Relationship Id="rId9"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18" Type="http://schemas.openxmlformats.org/officeDocument/2006/relationships/image" Target="../media/image21.emf"/><Relationship Id="rId26" Type="http://schemas.openxmlformats.org/officeDocument/2006/relationships/image" Target="../media/image29.emf"/><Relationship Id="rId3" Type="http://schemas.openxmlformats.org/officeDocument/2006/relationships/image" Target="../media/image5.jpeg"/><Relationship Id="rId21" Type="http://schemas.openxmlformats.org/officeDocument/2006/relationships/image" Target="../media/image24.emf"/><Relationship Id="rId7" Type="http://schemas.openxmlformats.org/officeDocument/2006/relationships/image" Target="../media/image10.emf"/><Relationship Id="rId12" Type="http://schemas.openxmlformats.org/officeDocument/2006/relationships/image" Target="../media/image15.emf"/><Relationship Id="rId17" Type="http://schemas.openxmlformats.org/officeDocument/2006/relationships/image" Target="../media/image20.emf"/><Relationship Id="rId25" Type="http://schemas.openxmlformats.org/officeDocument/2006/relationships/image" Target="../media/image28.emf"/><Relationship Id="rId2" Type="http://schemas.openxmlformats.org/officeDocument/2006/relationships/notesSlide" Target="../notesSlides/notesSlide7.xml"/><Relationship Id="rId16" Type="http://schemas.openxmlformats.org/officeDocument/2006/relationships/image" Target="../media/image19.emf"/><Relationship Id="rId20" Type="http://schemas.openxmlformats.org/officeDocument/2006/relationships/image" Target="../media/image23.emf"/><Relationship Id="rId29" Type="http://schemas.openxmlformats.org/officeDocument/2006/relationships/image" Target="../media/image32.emf"/><Relationship Id="rId1" Type="http://schemas.openxmlformats.org/officeDocument/2006/relationships/slideLayout" Target="../slideLayouts/slideLayout8.xml"/><Relationship Id="rId6" Type="http://schemas.openxmlformats.org/officeDocument/2006/relationships/image" Target="../media/image9.emf"/><Relationship Id="rId11" Type="http://schemas.openxmlformats.org/officeDocument/2006/relationships/image" Target="../media/image14.emf"/><Relationship Id="rId24" Type="http://schemas.openxmlformats.org/officeDocument/2006/relationships/image" Target="../media/image27.emf"/><Relationship Id="rId5" Type="http://schemas.openxmlformats.org/officeDocument/2006/relationships/image" Target="../media/image8.emf"/><Relationship Id="rId15" Type="http://schemas.openxmlformats.org/officeDocument/2006/relationships/image" Target="../media/image18.emf"/><Relationship Id="rId23" Type="http://schemas.openxmlformats.org/officeDocument/2006/relationships/image" Target="../media/image26.emf"/><Relationship Id="rId28" Type="http://schemas.openxmlformats.org/officeDocument/2006/relationships/image" Target="../media/image31.emf"/><Relationship Id="rId10" Type="http://schemas.openxmlformats.org/officeDocument/2006/relationships/image" Target="../media/image13.emf"/><Relationship Id="rId19" Type="http://schemas.openxmlformats.org/officeDocument/2006/relationships/image" Target="../media/image22.emf"/><Relationship Id="rId4" Type="http://schemas.openxmlformats.org/officeDocument/2006/relationships/image" Target="../media/image7.emf"/><Relationship Id="rId9" Type="http://schemas.openxmlformats.org/officeDocument/2006/relationships/image" Target="../media/image12.emf"/><Relationship Id="rId14" Type="http://schemas.openxmlformats.org/officeDocument/2006/relationships/image" Target="../media/image17.emf"/><Relationship Id="rId22" Type="http://schemas.openxmlformats.org/officeDocument/2006/relationships/image" Target="../media/image25.emf"/><Relationship Id="rId27" Type="http://schemas.openxmlformats.org/officeDocument/2006/relationships/image" Target="../media/image30.wmf"/><Relationship Id="rId30" Type="http://schemas.openxmlformats.org/officeDocument/2006/relationships/image" Target="../media/image33.emf"/></Relationships>
</file>

<file path=ppt/slides/_rels/slide8.xml.rels><?xml version="1.0" encoding="UTF-8" standalone="yes"?>
<Relationships xmlns="http://schemas.openxmlformats.org/package/2006/relationships"><Relationship Id="rId8" Type="http://schemas.openxmlformats.org/officeDocument/2006/relationships/image" Target="../media/image40.emf"/><Relationship Id="rId13" Type="http://schemas.openxmlformats.org/officeDocument/2006/relationships/oleObject" Target="../embeddings/oleObject5.bin"/><Relationship Id="rId18" Type="http://schemas.openxmlformats.org/officeDocument/2006/relationships/image" Target="../media/image38.wmf"/><Relationship Id="rId3" Type="http://schemas.openxmlformats.org/officeDocument/2006/relationships/notesSlide" Target="../notesSlides/notesSlide8.xml"/><Relationship Id="rId21" Type="http://schemas.openxmlformats.org/officeDocument/2006/relationships/oleObject" Target="../embeddings/oleObject8.bin"/><Relationship Id="rId7" Type="http://schemas.openxmlformats.org/officeDocument/2006/relationships/image" Target="../media/image26.emf"/><Relationship Id="rId12" Type="http://schemas.openxmlformats.org/officeDocument/2006/relationships/image" Target="../media/image35.wmf"/><Relationship Id="rId17" Type="http://schemas.openxmlformats.org/officeDocument/2006/relationships/oleObject" Target="../embeddings/oleObject7.bin"/><Relationship Id="rId2" Type="http://schemas.openxmlformats.org/officeDocument/2006/relationships/slideLayout" Target="../slideLayouts/slideLayout8.xml"/><Relationship Id="rId16" Type="http://schemas.openxmlformats.org/officeDocument/2006/relationships/image" Target="../media/image37.wmf"/><Relationship Id="rId20" Type="http://schemas.openxmlformats.org/officeDocument/2006/relationships/image" Target="../media/image42.emf"/><Relationship Id="rId1" Type="http://schemas.openxmlformats.org/officeDocument/2006/relationships/vmlDrawing" Target="../drawings/vmlDrawing3.vml"/><Relationship Id="rId6" Type="http://schemas.openxmlformats.org/officeDocument/2006/relationships/image" Target="../media/image25.emf"/><Relationship Id="rId11" Type="http://schemas.openxmlformats.org/officeDocument/2006/relationships/oleObject" Target="../embeddings/oleObject4.bin"/><Relationship Id="rId5" Type="http://schemas.openxmlformats.org/officeDocument/2006/relationships/image" Target="../media/image24.emf"/><Relationship Id="rId15" Type="http://schemas.openxmlformats.org/officeDocument/2006/relationships/oleObject" Target="../embeddings/oleObject6.bin"/><Relationship Id="rId10" Type="http://schemas.openxmlformats.org/officeDocument/2006/relationships/image" Target="../media/image34.wmf"/><Relationship Id="rId19" Type="http://schemas.openxmlformats.org/officeDocument/2006/relationships/image" Target="../media/image41.emf"/><Relationship Id="rId4" Type="http://schemas.openxmlformats.org/officeDocument/2006/relationships/image" Target="../media/image5.jpeg"/><Relationship Id="rId9" Type="http://schemas.openxmlformats.org/officeDocument/2006/relationships/oleObject" Target="../embeddings/oleObject3.bin"/><Relationship Id="rId14" Type="http://schemas.openxmlformats.org/officeDocument/2006/relationships/image" Target="../media/image36.wmf"/><Relationship Id="rId22" Type="http://schemas.openxmlformats.org/officeDocument/2006/relationships/image" Target="../media/image39.wmf"/></Relationships>
</file>

<file path=ppt/slides/_rels/slide9.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46.wmf"/><Relationship Id="rId18" Type="http://schemas.openxmlformats.org/officeDocument/2006/relationships/oleObject" Target="../embeddings/oleObject15.bin"/><Relationship Id="rId26" Type="http://schemas.openxmlformats.org/officeDocument/2006/relationships/oleObject" Target="../embeddings/oleObject19.bin"/><Relationship Id="rId3" Type="http://schemas.openxmlformats.org/officeDocument/2006/relationships/notesSlide" Target="../notesSlides/notesSlide9.xml"/><Relationship Id="rId21" Type="http://schemas.openxmlformats.org/officeDocument/2006/relationships/image" Target="../media/image50.emf"/><Relationship Id="rId7" Type="http://schemas.openxmlformats.org/officeDocument/2006/relationships/oleObject" Target="../embeddings/oleObject10.bin"/><Relationship Id="rId12" Type="http://schemas.openxmlformats.org/officeDocument/2006/relationships/oleObject" Target="../embeddings/oleObject12.bin"/><Relationship Id="rId17" Type="http://schemas.openxmlformats.org/officeDocument/2006/relationships/image" Target="../media/image48.emf"/><Relationship Id="rId25" Type="http://schemas.openxmlformats.org/officeDocument/2006/relationships/image" Target="../media/image52.emf"/><Relationship Id="rId2" Type="http://schemas.openxmlformats.org/officeDocument/2006/relationships/slideLayout" Target="../slideLayouts/slideLayout8.xml"/><Relationship Id="rId16" Type="http://schemas.openxmlformats.org/officeDocument/2006/relationships/oleObject" Target="../embeddings/oleObject14.bin"/><Relationship Id="rId20" Type="http://schemas.openxmlformats.org/officeDocument/2006/relationships/oleObject" Target="../embeddings/oleObject16.bin"/><Relationship Id="rId29" Type="http://schemas.openxmlformats.org/officeDocument/2006/relationships/image" Target="../media/image54.wmf"/><Relationship Id="rId1" Type="http://schemas.openxmlformats.org/officeDocument/2006/relationships/vmlDrawing" Target="../drawings/vmlDrawing4.vml"/><Relationship Id="rId6" Type="http://schemas.openxmlformats.org/officeDocument/2006/relationships/image" Target="../media/image43.wmf"/><Relationship Id="rId11" Type="http://schemas.openxmlformats.org/officeDocument/2006/relationships/image" Target="../media/image45.wmf"/><Relationship Id="rId24" Type="http://schemas.openxmlformats.org/officeDocument/2006/relationships/oleObject" Target="../embeddings/oleObject18.bin"/><Relationship Id="rId5" Type="http://schemas.openxmlformats.org/officeDocument/2006/relationships/oleObject" Target="../embeddings/oleObject9.bin"/><Relationship Id="rId15" Type="http://schemas.openxmlformats.org/officeDocument/2006/relationships/image" Target="../media/image47.emf"/><Relationship Id="rId23" Type="http://schemas.openxmlformats.org/officeDocument/2006/relationships/image" Target="../media/image51.emf"/><Relationship Id="rId28" Type="http://schemas.openxmlformats.org/officeDocument/2006/relationships/oleObject" Target="../embeddings/oleObject20.bin"/><Relationship Id="rId10" Type="http://schemas.openxmlformats.org/officeDocument/2006/relationships/oleObject" Target="../embeddings/oleObject11.bin"/><Relationship Id="rId19" Type="http://schemas.openxmlformats.org/officeDocument/2006/relationships/image" Target="../media/image49.emf"/><Relationship Id="rId31" Type="http://schemas.openxmlformats.org/officeDocument/2006/relationships/image" Target="../media/image55.wmf"/><Relationship Id="rId4" Type="http://schemas.openxmlformats.org/officeDocument/2006/relationships/image" Target="../media/image5.jpeg"/><Relationship Id="rId9" Type="http://schemas.openxmlformats.org/officeDocument/2006/relationships/image" Target="../media/image56.emf"/><Relationship Id="rId14" Type="http://schemas.openxmlformats.org/officeDocument/2006/relationships/oleObject" Target="../embeddings/oleObject13.bin"/><Relationship Id="rId22" Type="http://schemas.openxmlformats.org/officeDocument/2006/relationships/oleObject" Target="../embeddings/oleObject17.bin"/><Relationship Id="rId27" Type="http://schemas.openxmlformats.org/officeDocument/2006/relationships/image" Target="../media/image53.emf"/><Relationship Id="rId30" Type="http://schemas.openxmlformats.org/officeDocument/2006/relationships/oleObject" Target="../embeddings/oleObject21.bin"/></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60.emf"/><Relationship Id="rId3" Type="http://schemas.openxmlformats.org/officeDocument/2006/relationships/notesSlide" Target="../notesSlides/notesSlide11.xml"/><Relationship Id="rId7" Type="http://schemas.openxmlformats.org/officeDocument/2006/relationships/image" Target="../media/image59.emf"/><Relationship Id="rId2" Type="http://schemas.openxmlformats.org/officeDocument/2006/relationships/slideLayout" Target="../slideLayouts/slideLayout8.xml"/><Relationship Id="rId1" Type="http://schemas.openxmlformats.org/officeDocument/2006/relationships/vmlDrawing" Target="../drawings/vmlDrawing6.vml"/><Relationship Id="rId6" Type="http://schemas.openxmlformats.org/officeDocument/2006/relationships/image" Target="../media/image58.emf"/><Relationship Id="rId11" Type="http://schemas.openxmlformats.org/officeDocument/2006/relationships/image" Target="../media/image63.emf"/><Relationship Id="rId5" Type="http://schemas.openxmlformats.org/officeDocument/2006/relationships/oleObject" Target="../embeddings/oleObject23.bin"/><Relationship Id="rId10" Type="http://schemas.openxmlformats.org/officeDocument/2006/relationships/image" Target="../media/image62.emf"/><Relationship Id="rId4" Type="http://schemas.openxmlformats.org/officeDocument/2006/relationships/image" Target="../media/image5.jpeg"/><Relationship Id="rId9" Type="http://schemas.openxmlformats.org/officeDocument/2006/relationships/image" Target="../media/image61.emf"/></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64.emf"/></Relationships>
</file>

<file path=ppt/slides/_rels/slide14.xml.rels><?xml version="1.0" encoding="UTF-8" standalone="yes"?>
<Relationships xmlns="http://schemas.openxmlformats.org/package/2006/relationships"><Relationship Id="rId8" Type="http://schemas.openxmlformats.org/officeDocument/2006/relationships/image" Target="../media/image66.emf"/><Relationship Id="rId13" Type="http://schemas.openxmlformats.org/officeDocument/2006/relationships/oleObject" Target="../embeddings/oleObject28.bin"/><Relationship Id="rId18" Type="http://schemas.openxmlformats.org/officeDocument/2006/relationships/image" Target="../media/image71.emf"/><Relationship Id="rId26" Type="http://schemas.openxmlformats.org/officeDocument/2006/relationships/oleObject" Target="../embeddings/oleObject34.bin"/><Relationship Id="rId3" Type="http://schemas.openxmlformats.org/officeDocument/2006/relationships/notesSlide" Target="../notesSlides/notesSlide14.xml"/><Relationship Id="rId21" Type="http://schemas.openxmlformats.org/officeDocument/2006/relationships/image" Target="../media/image72.emf"/><Relationship Id="rId7" Type="http://schemas.openxmlformats.org/officeDocument/2006/relationships/oleObject" Target="../embeddings/oleObject25.bin"/><Relationship Id="rId12" Type="http://schemas.openxmlformats.org/officeDocument/2006/relationships/image" Target="../media/image68.emf"/><Relationship Id="rId17" Type="http://schemas.openxmlformats.org/officeDocument/2006/relationships/oleObject" Target="../embeddings/oleObject30.bin"/><Relationship Id="rId25" Type="http://schemas.openxmlformats.org/officeDocument/2006/relationships/image" Target="../media/image74.emf"/><Relationship Id="rId2" Type="http://schemas.openxmlformats.org/officeDocument/2006/relationships/slideLayout" Target="../slideLayouts/slideLayout8.xml"/><Relationship Id="rId16" Type="http://schemas.openxmlformats.org/officeDocument/2006/relationships/image" Target="../media/image70.emf"/><Relationship Id="rId20" Type="http://schemas.openxmlformats.org/officeDocument/2006/relationships/oleObject" Target="../embeddings/oleObject31.bin"/><Relationship Id="rId29" Type="http://schemas.openxmlformats.org/officeDocument/2006/relationships/image" Target="../media/image76.emf"/><Relationship Id="rId1" Type="http://schemas.openxmlformats.org/officeDocument/2006/relationships/vmlDrawing" Target="../drawings/vmlDrawing7.vml"/><Relationship Id="rId6" Type="http://schemas.openxmlformats.org/officeDocument/2006/relationships/image" Target="../media/image65.emf"/><Relationship Id="rId11" Type="http://schemas.openxmlformats.org/officeDocument/2006/relationships/oleObject" Target="../embeddings/oleObject27.bin"/><Relationship Id="rId24" Type="http://schemas.openxmlformats.org/officeDocument/2006/relationships/oleObject" Target="../embeddings/oleObject33.bin"/><Relationship Id="rId5" Type="http://schemas.openxmlformats.org/officeDocument/2006/relationships/oleObject" Target="../embeddings/oleObject24.bin"/><Relationship Id="rId15" Type="http://schemas.openxmlformats.org/officeDocument/2006/relationships/oleObject" Target="../embeddings/oleObject29.bin"/><Relationship Id="rId23" Type="http://schemas.openxmlformats.org/officeDocument/2006/relationships/image" Target="../media/image73.emf"/><Relationship Id="rId28" Type="http://schemas.openxmlformats.org/officeDocument/2006/relationships/oleObject" Target="../embeddings/oleObject35.bin"/><Relationship Id="rId10" Type="http://schemas.openxmlformats.org/officeDocument/2006/relationships/image" Target="../media/image67.emf"/><Relationship Id="rId19" Type="http://schemas.openxmlformats.org/officeDocument/2006/relationships/image" Target="../media/image78.emf"/><Relationship Id="rId31" Type="http://schemas.openxmlformats.org/officeDocument/2006/relationships/image" Target="../media/image77.emf"/><Relationship Id="rId4" Type="http://schemas.openxmlformats.org/officeDocument/2006/relationships/image" Target="../media/image5.jpeg"/><Relationship Id="rId9" Type="http://schemas.openxmlformats.org/officeDocument/2006/relationships/oleObject" Target="../embeddings/oleObject26.bin"/><Relationship Id="rId14" Type="http://schemas.openxmlformats.org/officeDocument/2006/relationships/image" Target="../media/image69.emf"/><Relationship Id="rId22" Type="http://schemas.openxmlformats.org/officeDocument/2006/relationships/oleObject" Target="../embeddings/oleObject32.bin"/><Relationship Id="rId27" Type="http://schemas.openxmlformats.org/officeDocument/2006/relationships/image" Target="../media/image75.emf"/><Relationship Id="rId30" Type="http://schemas.openxmlformats.org/officeDocument/2006/relationships/oleObject" Target="../embeddings/oleObject36.bin"/></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79.emf"/></Relationships>
</file>

<file path=ppt/slides/_rels/slide16.xml.rels><?xml version="1.0" encoding="UTF-8" standalone="yes"?>
<Relationships xmlns="http://schemas.openxmlformats.org/package/2006/relationships"><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image" Target="../media/image80.emf"/><Relationship Id="rId39" Type="http://schemas.openxmlformats.org/officeDocument/2006/relationships/image" Target="../media/image93.emf"/><Relationship Id="rId21" Type="http://schemas.openxmlformats.org/officeDocument/2006/relationships/tags" Target="../tags/tag22.xml"/><Relationship Id="rId34" Type="http://schemas.openxmlformats.org/officeDocument/2006/relationships/image" Target="../media/image88.emf"/><Relationship Id="rId7" Type="http://schemas.openxmlformats.org/officeDocument/2006/relationships/tags" Target="../tags/tag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image" Target="../media/image83.emf"/><Relationship Id="rId41" Type="http://schemas.openxmlformats.org/officeDocument/2006/relationships/image" Target="../media/image95.emf"/><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notesSlide" Target="../notesSlides/notesSlide16.xml"/><Relationship Id="rId32" Type="http://schemas.openxmlformats.org/officeDocument/2006/relationships/image" Target="../media/image86.emf"/><Relationship Id="rId37" Type="http://schemas.openxmlformats.org/officeDocument/2006/relationships/image" Target="../media/image91.emf"/><Relationship Id="rId40" Type="http://schemas.openxmlformats.org/officeDocument/2006/relationships/image" Target="../media/image94.emf"/><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slideLayout" Target="../slideLayouts/slideLayout8.xml"/><Relationship Id="rId28" Type="http://schemas.openxmlformats.org/officeDocument/2006/relationships/image" Target="../media/image82.emf"/><Relationship Id="rId36" Type="http://schemas.openxmlformats.org/officeDocument/2006/relationships/image" Target="../media/image90.emf"/><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image" Target="../media/image85.emf"/><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image" Target="../media/image81.emf"/><Relationship Id="rId30" Type="http://schemas.openxmlformats.org/officeDocument/2006/relationships/image" Target="../media/image84.emf"/><Relationship Id="rId35" Type="http://schemas.openxmlformats.org/officeDocument/2006/relationships/image" Target="../media/image89.emf"/><Relationship Id="rId8" Type="http://schemas.openxmlformats.org/officeDocument/2006/relationships/tags" Target="../tags/tag9.xml"/><Relationship Id="rId3" Type="http://schemas.openxmlformats.org/officeDocument/2006/relationships/tags" Target="../tags/tag4.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5.jpeg"/><Relationship Id="rId33" Type="http://schemas.openxmlformats.org/officeDocument/2006/relationships/image" Target="../media/image87.emf"/><Relationship Id="rId38" Type="http://schemas.openxmlformats.org/officeDocument/2006/relationships/image" Target="../media/image92.emf"/></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97.emf"/><Relationship Id="rId4" Type="http://schemas.openxmlformats.org/officeDocument/2006/relationships/image" Target="../media/image96.emf"/></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01.emf"/><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8.emf"/></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105.emf"/><Relationship Id="rId18" Type="http://schemas.openxmlformats.org/officeDocument/2006/relationships/oleObject" Target="../embeddings/oleObject43.bin"/><Relationship Id="rId26" Type="http://schemas.openxmlformats.org/officeDocument/2006/relationships/oleObject" Target="../embeddings/oleObject47.bin"/><Relationship Id="rId3" Type="http://schemas.openxmlformats.org/officeDocument/2006/relationships/notesSlide" Target="../notesSlides/notesSlide20.xml"/><Relationship Id="rId21" Type="http://schemas.openxmlformats.org/officeDocument/2006/relationships/image" Target="../media/image109.emf"/><Relationship Id="rId7" Type="http://schemas.openxmlformats.org/officeDocument/2006/relationships/image" Target="../media/image102.emf"/><Relationship Id="rId12" Type="http://schemas.openxmlformats.org/officeDocument/2006/relationships/oleObject" Target="../embeddings/oleObject40.bin"/><Relationship Id="rId17" Type="http://schemas.openxmlformats.org/officeDocument/2006/relationships/image" Target="../media/image107.emf"/><Relationship Id="rId25" Type="http://schemas.openxmlformats.org/officeDocument/2006/relationships/image" Target="../media/image111.emf"/><Relationship Id="rId2" Type="http://schemas.openxmlformats.org/officeDocument/2006/relationships/slideLayout" Target="../slideLayouts/slideLayout8.xml"/><Relationship Id="rId16" Type="http://schemas.openxmlformats.org/officeDocument/2006/relationships/oleObject" Target="../embeddings/oleObject42.bin"/><Relationship Id="rId20" Type="http://schemas.openxmlformats.org/officeDocument/2006/relationships/oleObject" Target="../embeddings/oleObject44.bin"/><Relationship Id="rId29" Type="http://schemas.openxmlformats.org/officeDocument/2006/relationships/image" Target="../media/image113.emf"/><Relationship Id="rId1" Type="http://schemas.openxmlformats.org/officeDocument/2006/relationships/vmlDrawing" Target="../drawings/vmlDrawing8.vml"/><Relationship Id="rId6" Type="http://schemas.openxmlformats.org/officeDocument/2006/relationships/oleObject" Target="../embeddings/oleObject37.bin"/><Relationship Id="rId11" Type="http://schemas.openxmlformats.org/officeDocument/2006/relationships/image" Target="../media/image104.emf"/><Relationship Id="rId24" Type="http://schemas.openxmlformats.org/officeDocument/2006/relationships/oleObject" Target="../embeddings/oleObject46.bin"/><Relationship Id="rId5" Type="http://schemas.openxmlformats.org/officeDocument/2006/relationships/image" Target="../media/image114.emf"/><Relationship Id="rId15" Type="http://schemas.openxmlformats.org/officeDocument/2006/relationships/image" Target="../media/image106.emf"/><Relationship Id="rId23" Type="http://schemas.openxmlformats.org/officeDocument/2006/relationships/image" Target="../media/image110.emf"/><Relationship Id="rId28" Type="http://schemas.openxmlformats.org/officeDocument/2006/relationships/oleObject" Target="../embeddings/oleObject48.bin"/><Relationship Id="rId10" Type="http://schemas.openxmlformats.org/officeDocument/2006/relationships/oleObject" Target="../embeddings/oleObject39.bin"/><Relationship Id="rId19" Type="http://schemas.openxmlformats.org/officeDocument/2006/relationships/image" Target="../media/image108.emf"/><Relationship Id="rId4" Type="http://schemas.openxmlformats.org/officeDocument/2006/relationships/image" Target="../media/image5.jpeg"/><Relationship Id="rId9" Type="http://schemas.openxmlformats.org/officeDocument/2006/relationships/image" Target="../media/image103.emf"/><Relationship Id="rId14" Type="http://schemas.openxmlformats.org/officeDocument/2006/relationships/oleObject" Target="../embeddings/oleObject41.bin"/><Relationship Id="rId22" Type="http://schemas.openxmlformats.org/officeDocument/2006/relationships/oleObject" Target="../embeddings/oleObject45.bin"/><Relationship Id="rId27" Type="http://schemas.openxmlformats.org/officeDocument/2006/relationships/image" Target="../media/image112.emf"/></Relationships>
</file>

<file path=ppt/slides/_rels/slide21.xml.rels><?xml version="1.0" encoding="UTF-8" standalone="yes"?>
<Relationships xmlns="http://schemas.openxmlformats.org/package/2006/relationships"><Relationship Id="rId8" Type="http://schemas.openxmlformats.org/officeDocument/2006/relationships/image" Target="../media/image117.emf"/><Relationship Id="rId3" Type="http://schemas.openxmlformats.org/officeDocument/2006/relationships/notesSlide" Target="../notesSlides/notesSlide21.xml"/><Relationship Id="rId7" Type="http://schemas.openxmlformats.org/officeDocument/2006/relationships/image" Target="../media/image116.emf"/><Relationship Id="rId2" Type="http://schemas.openxmlformats.org/officeDocument/2006/relationships/slideLayout" Target="../slideLayouts/slideLayout8.xml"/><Relationship Id="rId1" Type="http://schemas.openxmlformats.org/officeDocument/2006/relationships/vmlDrawing" Target="../drawings/vmlDrawing9.vml"/><Relationship Id="rId6" Type="http://schemas.openxmlformats.org/officeDocument/2006/relationships/image" Target="../media/image115.emf"/><Relationship Id="rId5" Type="http://schemas.openxmlformats.org/officeDocument/2006/relationships/oleObject" Target="../embeddings/oleObject49.bin"/><Relationship Id="rId4" Type="http://schemas.openxmlformats.org/officeDocument/2006/relationships/image" Target="../media/image5.jpeg"/></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121.emf"/><Relationship Id="rId18" Type="http://schemas.openxmlformats.org/officeDocument/2006/relationships/oleObject" Target="../embeddings/oleObject56.bin"/><Relationship Id="rId3" Type="http://schemas.openxmlformats.org/officeDocument/2006/relationships/notesSlide" Target="../notesSlides/notesSlide22.xml"/><Relationship Id="rId21" Type="http://schemas.openxmlformats.org/officeDocument/2006/relationships/image" Target="../media/image125.emf"/><Relationship Id="rId7" Type="http://schemas.openxmlformats.org/officeDocument/2006/relationships/image" Target="../media/image118.emf"/><Relationship Id="rId12" Type="http://schemas.openxmlformats.org/officeDocument/2006/relationships/oleObject" Target="../embeddings/oleObject53.bin"/><Relationship Id="rId17" Type="http://schemas.openxmlformats.org/officeDocument/2006/relationships/image" Target="../media/image123.emf"/><Relationship Id="rId25" Type="http://schemas.openxmlformats.org/officeDocument/2006/relationships/image" Target="../media/image127.emf"/><Relationship Id="rId2" Type="http://schemas.openxmlformats.org/officeDocument/2006/relationships/slideLayout" Target="../slideLayouts/slideLayout8.xml"/><Relationship Id="rId16" Type="http://schemas.openxmlformats.org/officeDocument/2006/relationships/oleObject" Target="../embeddings/oleObject55.bin"/><Relationship Id="rId20" Type="http://schemas.openxmlformats.org/officeDocument/2006/relationships/oleObject" Target="../embeddings/oleObject57.bin"/><Relationship Id="rId1" Type="http://schemas.openxmlformats.org/officeDocument/2006/relationships/vmlDrawing" Target="../drawings/vmlDrawing10.vml"/><Relationship Id="rId6" Type="http://schemas.openxmlformats.org/officeDocument/2006/relationships/oleObject" Target="../embeddings/oleObject50.bin"/><Relationship Id="rId11" Type="http://schemas.openxmlformats.org/officeDocument/2006/relationships/image" Target="../media/image120.emf"/><Relationship Id="rId24" Type="http://schemas.openxmlformats.org/officeDocument/2006/relationships/oleObject" Target="../embeddings/oleObject59.bin"/><Relationship Id="rId5" Type="http://schemas.openxmlformats.org/officeDocument/2006/relationships/image" Target="../media/image128.emf"/><Relationship Id="rId15" Type="http://schemas.openxmlformats.org/officeDocument/2006/relationships/image" Target="../media/image122.emf"/><Relationship Id="rId23" Type="http://schemas.openxmlformats.org/officeDocument/2006/relationships/image" Target="../media/image126.emf"/><Relationship Id="rId10" Type="http://schemas.openxmlformats.org/officeDocument/2006/relationships/oleObject" Target="../embeddings/oleObject52.bin"/><Relationship Id="rId19" Type="http://schemas.openxmlformats.org/officeDocument/2006/relationships/image" Target="../media/image124.emf"/><Relationship Id="rId4" Type="http://schemas.openxmlformats.org/officeDocument/2006/relationships/image" Target="../media/image5.jpeg"/><Relationship Id="rId9" Type="http://schemas.openxmlformats.org/officeDocument/2006/relationships/image" Target="../media/image119.emf"/><Relationship Id="rId14" Type="http://schemas.openxmlformats.org/officeDocument/2006/relationships/oleObject" Target="../embeddings/oleObject54.bin"/><Relationship Id="rId22" Type="http://schemas.openxmlformats.org/officeDocument/2006/relationships/oleObject" Target="../embeddings/oleObject58.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132.emf"/><Relationship Id="rId18" Type="http://schemas.openxmlformats.org/officeDocument/2006/relationships/oleObject" Target="../embeddings/oleObject66.bin"/><Relationship Id="rId26" Type="http://schemas.openxmlformats.org/officeDocument/2006/relationships/oleObject" Target="../embeddings/oleObject70.bin"/><Relationship Id="rId3" Type="http://schemas.openxmlformats.org/officeDocument/2006/relationships/notesSlide" Target="../notesSlides/notesSlide23.xml"/><Relationship Id="rId21" Type="http://schemas.openxmlformats.org/officeDocument/2006/relationships/image" Target="../media/image136.emf"/><Relationship Id="rId7" Type="http://schemas.openxmlformats.org/officeDocument/2006/relationships/image" Target="../media/image129.emf"/><Relationship Id="rId12" Type="http://schemas.openxmlformats.org/officeDocument/2006/relationships/oleObject" Target="../embeddings/oleObject63.bin"/><Relationship Id="rId17" Type="http://schemas.openxmlformats.org/officeDocument/2006/relationships/image" Target="../media/image134.emf"/><Relationship Id="rId25" Type="http://schemas.openxmlformats.org/officeDocument/2006/relationships/image" Target="../media/image138.emf"/><Relationship Id="rId2" Type="http://schemas.openxmlformats.org/officeDocument/2006/relationships/slideLayout" Target="../slideLayouts/slideLayout8.xml"/><Relationship Id="rId16" Type="http://schemas.openxmlformats.org/officeDocument/2006/relationships/oleObject" Target="../embeddings/oleObject65.bin"/><Relationship Id="rId20" Type="http://schemas.openxmlformats.org/officeDocument/2006/relationships/oleObject" Target="../embeddings/oleObject67.bin"/><Relationship Id="rId29" Type="http://schemas.openxmlformats.org/officeDocument/2006/relationships/image" Target="../media/image140.emf"/><Relationship Id="rId1" Type="http://schemas.openxmlformats.org/officeDocument/2006/relationships/vmlDrawing" Target="../drawings/vmlDrawing11.vml"/><Relationship Id="rId6" Type="http://schemas.openxmlformats.org/officeDocument/2006/relationships/oleObject" Target="../embeddings/oleObject60.bin"/><Relationship Id="rId11" Type="http://schemas.openxmlformats.org/officeDocument/2006/relationships/image" Target="../media/image131.emf"/><Relationship Id="rId24" Type="http://schemas.openxmlformats.org/officeDocument/2006/relationships/oleObject" Target="../embeddings/oleObject69.bin"/><Relationship Id="rId5" Type="http://schemas.openxmlformats.org/officeDocument/2006/relationships/image" Target="../media/image141.emf"/><Relationship Id="rId15" Type="http://schemas.openxmlformats.org/officeDocument/2006/relationships/image" Target="../media/image133.emf"/><Relationship Id="rId23" Type="http://schemas.openxmlformats.org/officeDocument/2006/relationships/image" Target="../media/image137.emf"/><Relationship Id="rId28" Type="http://schemas.openxmlformats.org/officeDocument/2006/relationships/oleObject" Target="../embeddings/oleObject71.bin"/><Relationship Id="rId10" Type="http://schemas.openxmlformats.org/officeDocument/2006/relationships/oleObject" Target="../embeddings/oleObject62.bin"/><Relationship Id="rId19" Type="http://schemas.openxmlformats.org/officeDocument/2006/relationships/image" Target="../media/image135.emf"/><Relationship Id="rId4" Type="http://schemas.openxmlformats.org/officeDocument/2006/relationships/image" Target="../media/image5.jpeg"/><Relationship Id="rId9" Type="http://schemas.openxmlformats.org/officeDocument/2006/relationships/image" Target="../media/image130.emf"/><Relationship Id="rId14" Type="http://schemas.openxmlformats.org/officeDocument/2006/relationships/oleObject" Target="../embeddings/oleObject64.bin"/><Relationship Id="rId22" Type="http://schemas.openxmlformats.org/officeDocument/2006/relationships/oleObject" Target="../embeddings/oleObject68.bin"/><Relationship Id="rId27" Type="http://schemas.openxmlformats.org/officeDocument/2006/relationships/image" Target="../media/image139.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145.emf"/><Relationship Id="rId18" Type="http://schemas.openxmlformats.org/officeDocument/2006/relationships/oleObject" Target="../embeddings/oleObject78.bin"/><Relationship Id="rId26" Type="http://schemas.openxmlformats.org/officeDocument/2006/relationships/image" Target="../media/image153.emf"/><Relationship Id="rId3" Type="http://schemas.openxmlformats.org/officeDocument/2006/relationships/notesSlide" Target="../notesSlides/notesSlide24.xml"/><Relationship Id="rId21" Type="http://schemas.openxmlformats.org/officeDocument/2006/relationships/image" Target="../media/image149.emf"/><Relationship Id="rId7" Type="http://schemas.openxmlformats.org/officeDocument/2006/relationships/image" Target="../media/image142.wmf"/><Relationship Id="rId12" Type="http://schemas.openxmlformats.org/officeDocument/2006/relationships/oleObject" Target="../embeddings/oleObject75.bin"/><Relationship Id="rId17" Type="http://schemas.openxmlformats.org/officeDocument/2006/relationships/image" Target="../media/image147.emf"/><Relationship Id="rId25" Type="http://schemas.openxmlformats.org/officeDocument/2006/relationships/image" Target="../media/image151.emf"/><Relationship Id="rId2" Type="http://schemas.openxmlformats.org/officeDocument/2006/relationships/slideLayout" Target="../slideLayouts/slideLayout8.xml"/><Relationship Id="rId16" Type="http://schemas.openxmlformats.org/officeDocument/2006/relationships/oleObject" Target="../embeddings/oleObject77.bin"/><Relationship Id="rId20" Type="http://schemas.openxmlformats.org/officeDocument/2006/relationships/oleObject" Target="../embeddings/oleObject79.bin"/><Relationship Id="rId1" Type="http://schemas.openxmlformats.org/officeDocument/2006/relationships/vmlDrawing" Target="../drawings/vmlDrawing12.vml"/><Relationship Id="rId6" Type="http://schemas.openxmlformats.org/officeDocument/2006/relationships/oleObject" Target="../embeddings/oleObject72.bin"/><Relationship Id="rId11" Type="http://schemas.openxmlformats.org/officeDocument/2006/relationships/image" Target="../media/image144.emf"/><Relationship Id="rId24" Type="http://schemas.openxmlformats.org/officeDocument/2006/relationships/oleObject" Target="../embeddings/oleObject81.bin"/><Relationship Id="rId5" Type="http://schemas.openxmlformats.org/officeDocument/2006/relationships/image" Target="../media/image152.emf"/><Relationship Id="rId15" Type="http://schemas.openxmlformats.org/officeDocument/2006/relationships/image" Target="../media/image146.emf"/><Relationship Id="rId23" Type="http://schemas.openxmlformats.org/officeDocument/2006/relationships/image" Target="../media/image150.emf"/><Relationship Id="rId10" Type="http://schemas.openxmlformats.org/officeDocument/2006/relationships/oleObject" Target="../embeddings/oleObject74.bin"/><Relationship Id="rId19" Type="http://schemas.openxmlformats.org/officeDocument/2006/relationships/image" Target="../media/image148.emf"/><Relationship Id="rId4" Type="http://schemas.openxmlformats.org/officeDocument/2006/relationships/image" Target="../media/image5.jpeg"/><Relationship Id="rId9" Type="http://schemas.openxmlformats.org/officeDocument/2006/relationships/image" Target="../media/image143.wmf"/><Relationship Id="rId14" Type="http://schemas.openxmlformats.org/officeDocument/2006/relationships/oleObject" Target="../embeddings/oleObject76.bin"/><Relationship Id="rId22" Type="http://schemas.openxmlformats.org/officeDocument/2006/relationships/oleObject" Target="../embeddings/oleObject80.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157.emf"/><Relationship Id="rId3" Type="http://schemas.openxmlformats.org/officeDocument/2006/relationships/notesSlide" Target="../notesSlides/notesSlide25.xml"/><Relationship Id="rId7" Type="http://schemas.openxmlformats.org/officeDocument/2006/relationships/image" Target="../media/image154.emf"/><Relationship Id="rId12" Type="http://schemas.openxmlformats.org/officeDocument/2006/relationships/oleObject" Target="../embeddings/oleObject85.bin"/><Relationship Id="rId2" Type="http://schemas.openxmlformats.org/officeDocument/2006/relationships/slideLayout" Target="../slideLayouts/slideLayout8.xml"/><Relationship Id="rId1" Type="http://schemas.openxmlformats.org/officeDocument/2006/relationships/vmlDrawing" Target="../drawings/vmlDrawing13.vml"/><Relationship Id="rId6" Type="http://schemas.openxmlformats.org/officeDocument/2006/relationships/oleObject" Target="../embeddings/oleObject82.bin"/><Relationship Id="rId11" Type="http://schemas.openxmlformats.org/officeDocument/2006/relationships/image" Target="../media/image156.emf"/><Relationship Id="rId5" Type="http://schemas.openxmlformats.org/officeDocument/2006/relationships/image" Target="../media/image159.emf"/><Relationship Id="rId15" Type="http://schemas.openxmlformats.org/officeDocument/2006/relationships/image" Target="../media/image158.emf"/><Relationship Id="rId10" Type="http://schemas.openxmlformats.org/officeDocument/2006/relationships/oleObject" Target="../embeddings/oleObject84.bin"/><Relationship Id="rId4" Type="http://schemas.openxmlformats.org/officeDocument/2006/relationships/image" Target="../media/image5.jpeg"/><Relationship Id="rId9" Type="http://schemas.openxmlformats.org/officeDocument/2006/relationships/image" Target="../media/image155.emf"/><Relationship Id="rId14" Type="http://schemas.openxmlformats.org/officeDocument/2006/relationships/oleObject" Target="../embeddings/oleObject86.bin"/></Relationships>
</file>

<file path=ppt/slides/_rels/slide26.xml.rels><?xml version="1.0" encoding="UTF-8" standalone="yes"?>
<Relationships xmlns="http://schemas.openxmlformats.org/package/2006/relationships"><Relationship Id="rId13" Type="http://schemas.openxmlformats.org/officeDocument/2006/relationships/oleObject" Target="../embeddings/oleObject91.bin"/><Relationship Id="rId18" Type="http://schemas.openxmlformats.org/officeDocument/2006/relationships/image" Target="../media/image166.emf"/><Relationship Id="rId26" Type="http://schemas.openxmlformats.org/officeDocument/2006/relationships/image" Target="../media/image170.emf"/><Relationship Id="rId3" Type="http://schemas.openxmlformats.org/officeDocument/2006/relationships/notesSlide" Target="../notesSlides/notesSlide26.xml"/><Relationship Id="rId21" Type="http://schemas.openxmlformats.org/officeDocument/2006/relationships/oleObject" Target="../embeddings/oleObject95.bin"/><Relationship Id="rId34" Type="http://schemas.openxmlformats.org/officeDocument/2006/relationships/image" Target="../media/image174.emf"/><Relationship Id="rId7" Type="http://schemas.openxmlformats.org/officeDocument/2006/relationships/oleObject" Target="../embeddings/oleObject88.bin"/><Relationship Id="rId12" Type="http://schemas.openxmlformats.org/officeDocument/2006/relationships/image" Target="../media/image163.emf"/><Relationship Id="rId17" Type="http://schemas.openxmlformats.org/officeDocument/2006/relationships/oleObject" Target="../embeddings/oleObject93.bin"/><Relationship Id="rId25" Type="http://schemas.openxmlformats.org/officeDocument/2006/relationships/oleObject" Target="../embeddings/oleObject97.bin"/><Relationship Id="rId33" Type="http://schemas.openxmlformats.org/officeDocument/2006/relationships/oleObject" Target="../embeddings/oleObject101.bin"/><Relationship Id="rId2" Type="http://schemas.openxmlformats.org/officeDocument/2006/relationships/slideLayout" Target="../slideLayouts/slideLayout8.xml"/><Relationship Id="rId16" Type="http://schemas.openxmlformats.org/officeDocument/2006/relationships/image" Target="../media/image165.emf"/><Relationship Id="rId20" Type="http://schemas.openxmlformats.org/officeDocument/2006/relationships/image" Target="../media/image167.emf"/><Relationship Id="rId29" Type="http://schemas.openxmlformats.org/officeDocument/2006/relationships/oleObject" Target="../embeddings/oleObject99.bin"/><Relationship Id="rId1" Type="http://schemas.openxmlformats.org/officeDocument/2006/relationships/vmlDrawing" Target="../drawings/vmlDrawing14.vml"/><Relationship Id="rId6" Type="http://schemas.openxmlformats.org/officeDocument/2006/relationships/image" Target="../media/image160.emf"/><Relationship Id="rId11" Type="http://schemas.openxmlformats.org/officeDocument/2006/relationships/oleObject" Target="../embeddings/oleObject90.bin"/><Relationship Id="rId24" Type="http://schemas.openxmlformats.org/officeDocument/2006/relationships/image" Target="../media/image169.emf"/><Relationship Id="rId32" Type="http://schemas.openxmlformats.org/officeDocument/2006/relationships/image" Target="../media/image173.emf"/><Relationship Id="rId5" Type="http://schemas.openxmlformats.org/officeDocument/2006/relationships/oleObject" Target="../embeddings/oleObject87.bin"/><Relationship Id="rId15" Type="http://schemas.openxmlformats.org/officeDocument/2006/relationships/oleObject" Target="../embeddings/oleObject92.bin"/><Relationship Id="rId23" Type="http://schemas.openxmlformats.org/officeDocument/2006/relationships/oleObject" Target="../embeddings/oleObject96.bin"/><Relationship Id="rId28" Type="http://schemas.openxmlformats.org/officeDocument/2006/relationships/image" Target="../media/image171.emf"/><Relationship Id="rId10" Type="http://schemas.openxmlformats.org/officeDocument/2006/relationships/image" Target="../media/image162.wmf"/><Relationship Id="rId19" Type="http://schemas.openxmlformats.org/officeDocument/2006/relationships/oleObject" Target="../embeddings/oleObject94.bin"/><Relationship Id="rId31" Type="http://schemas.openxmlformats.org/officeDocument/2006/relationships/oleObject" Target="../embeddings/oleObject100.bin"/><Relationship Id="rId4" Type="http://schemas.openxmlformats.org/officeDocument/2006/relationships/image" Target="../media/image5.jpeg"/><Relationship Id="rId9" Type="http://schemas.openxmlformats.org/officeDocument/2006/relationships/oleObject" Target="../embeddings/oleObject89.bin"/><Relationship Id="rId14" Type="http://schemas.openxmlformats.org/officeDocument/2006/relationships/image" Target="../media/image164.emf"/><Relationship Id="rId22" Type="http://schemas.openxmlformats.org/officeDocument/2006/relationships/image" Target="../media/image168.emf"/><Relationship Id="rId27" Type="http://schemas.openxmlformats.org/officeDocument/2006/relationships/oleObject" Target="../embeddings/oleObject98.bin"/><Relationship Id="rId30" Type="http://schemas.openxmlformats.org/officeDocument/2006/relationships/image" Target="../media/image172.emf"/><Relationship Id="rId8" Type="http://schemas.openxmlformats.org/officeDocument/2006/relationships/image" Target="../media/image161.emf"/></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78.emf"/><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77.emf"/><Relationship Id="rId5" Type="http://schemas.openxmlformats.org/officeDocument/2006/relationships/image" Target="../media/image176.emf"/><Relationship Id="rId4" Type="http://schemas.openxmlformats.org/officeDocument/2006/relationships/image" Target="../media/image175.emf"/></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79.emf"/></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slideLayout" Target="../slideLayouts/slideLayout8.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image" Target="../media/image5.jpeg"/><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tags" Target="../tags/tag53.xml"/><Relationship Id="rId26" Type="http://schemas.openxmlformats.org/officeDocument/2006/relationships/notesSlide" Target="../notesSlides/notesSlide32.xml"/><Relationship Id="rId3" Type="http://schemas.openxmlformats.org/officeDocument/2006/relationships/tags" Target="../tags/tag38.xml"/><Relationship Id="rId21" Type="http://schemas.openxmlformats.org/officeDocument/2006/relationships/tags" Target="../tags/tag56.xml"/><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5" Type="http://schemas.openxmlformats.org/officeDocument/2006/relationships/slideLayout" Target="../slideLayouts/slideLayout8.xml"/><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tags" Target="../tags/tag55.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24" Type="http://schemas.openxmlformats.org/officeDocument/2006/relationships/tags" Target="../tags/tag59.xml"/><Relationship Id="rId5" Type="http://schemas.openxmlformats.org/officeDocument/2006/relationships/tags" Target="../tags/tag40.xml"/><Relationship Id="rId15" Type="http://schemas.openxmlformats.org/officeDocument/2006/relationships/tags" Target="../tags/tag50.xml"/><Relationship Id="rId23" Type="http://schemas.openxmlformats.org/officeDocument/2006/relationships/tags" Target="../tags/tag58.xml"/><Relationship Id="rId10" Type="http://schemas.openxmlformats.org/officeDocument/2006/relationships/tags" Target="../tags/tag45.xml"/><Relationship Id="rId19" Type="http://schemas.openxmlformats.org/officeDocument/2006/relationships/tags" Target="../tags/tag54.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 Id="rId22" Type="http://schemas.openxmlformats.org/officeDocument/2006/relationships/tags" Target="../tags/tag5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矩形 44"/>
          <p:cNvSpPr/>
          <p:nvPr/>
        </p:nvSpPr>
        <p:spPr>
          <a:xfrm>
            <a:off x="0" y="1625600"/>
            <a:ext cx="12192000" cy="3546475"/>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291" name="Freeform 5"/>
          <p:cNvSpPr>
            <a:spLocks noEditPoints="1"/>
          </p:cNvSpPr>
          <p:nvPr/>
        </p:nvSpPr>
        <p:spPr>
          <a:xfrm>
            <a:off x="8599488" y="5791200"/>
            <a:ext cx="1114425" cy="99695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12292" name="文本框 34"/>
          <p:cNvSpPr txBox="1"/>
          <p:nvPr/>
        </p:nvSpPr>
        <p:spPr>
          <a:xfrm>
            <a:off x="1513523" y="1655763"/>
            <a:ext cx="9058275" cy="52197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zh-CN" altLang="en-US" b="1" dirty="0">
                <a:solidFill>
                  <a:schemeClr val="bg1"/>
                </a:solidFill>
                <a:latin typeface="黑体" panose="02010609060101010101" pitchFamily="49" charset="-122"/>
                <a:ea typeface="黑体" panose="02010609060101010101" pitchFamily="49" charset="-122"/>
              </a:rPr>
              <a:t>东北大学</a:t>
            </a:r>
            <a:r>
              <a:rPr lang="en-US" altLang="zh-CN" b="1" dirty="0">
                <a:solidFill>
                  <a:schemeClr val="bg1"/>
                </a:solidFill>
                <a:latin typeface="黑体" panose="02010609060101010101" pitchFamily="49" charset="-122"/>
                <a:ea typeface="黑体" panose="02010609060101010101" pitchFamily="49" charset="-122"/>
              </a:rPr>
              <a:t>2022</a:t>
            </a:r>
            <a:r>
              <a:rPr lang="zh-CN" altLang="en-US" b="1" dirty="0">
                <a:solidFill>
                  <a:schemeClr val="bg1"/>
                </a:solidFill>
                <a:latin typeface="黑体" panose="02010609060101010101" pitchFamily="49" charset="-122"/>
                <a:ea typeface="黑体" panose="02010609060101010101" pitchFamily="49" charset="-122"/>
              </a:rPr>
              <a:t>级研究生毕业答辩</a:t>
            </a:r>
          </a:p>
        </p:txBody>
      </p:sp>
      <p:cxnSp>
        <p:nvCxnSpPr>
          <p:cNvPr id="5" name="直接连接符 4"/>
          <p:cNvCxnSpPr/>
          <p:nvPr/>
        </p:nvCxnSpPr>
        <p:spPr>
          <a:xfrm>
            <a:off x="1928813" y="4357688"/>
            <a:ext cx="8343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294" name="文本框 49"/>
          <p:cNvSpPr txBox="1"/>
          <p:nvPr/>
        </p:nvSpPr>
        <p:spPr>
          <a:xfrm>
            <a:off x="1363663" y="4500563"/>
            <a:ext cx="9358312"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20000"/>
              </a:lnSpc>
              <a:spcBef>
                <a:spcPct val="0"/>
              </a:spcBef>
              <a:buFontTx/>
              <a:buNone/>
            </a:pPr>
            <a:r>
              <a:rPr lang="zh-CN" altLang="en-US" sz="2000" dirty="0">
                <a:solidFill>
                  <a:schemeClr val="bg1"/>
                </a:solidFill>
                <a:latin typeface="黑体" panose="02010609060101010101" pitchFamily="49" charset="-122"/>
                <a:ea typeface="黑体" panose="02010609060101010101" pitchFamily="49" charset="-122"/>
              </a:rPr>
              <a:t>答辩人：孙书博      专业：电气工程      导师：刘鑫蕊</a:t>
            </a:r>
          </a:p>
        </p:txBody>
      </p:sp>
      <p:sp>
        <p:nvSpPr>
          <p:cNvPr id="12" name="等腰三角形 11"/>
          <p:cNvSpPr/>
          <p:nvPr/>
        </p:nvSpPr>
        <p:spPr>
          <a:xfrm flipV="1">
            <a:off x="8977313" y="5172075"/>
            <a:ext cx="358775" cy="2063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2296" name="图片 5"/>
          <p:cNvPicPr>
            <a:picLocks noChangeAspect="1"/>
          </p:cNvPicPr>
          <p:nvPr/>
        </p:nvPicPr>
        <p:blipFill>
          <a:blip r:embed="rId3"/>
          <a:stretch>
            <a:fillRect/>
          </a:stretch>
        </p:blipFill>
        <p:spPr>
          <a:xfrm>
            <a:off x="419100" y="393700"/>
            <a:ext cx="1976438" cy="735013"/>
          </a:xfrm>
          <a:prstGeom prst="rect">
            <a:avLst/>
          </a:prstGeom>
          <a:noFill/>
          <a:ln w="9525">
            <a:noFill/>
          </a:ln>
        </p:spPr>
      </p:pic>
      <p:sp>
        <p:nvSpPr>
          <p:cNvPr id="12297" name="文本框 7"/>
          <p:cNvSpPr txBox="1"/>
          <p:nvPr/>
        </p:nvSpPr>
        <p:spPr>
          <a:xfrm>
            <a:off x="1830705" y="2467610"/>
            <a:ext cx="8442325" cy="1553845"/>
          </a:xfrm>
          <a:prstGeom prst="rect">
            <a:avLst/>
          </a:prstGeom>
          <a:noFill/>
          <a:ln w="9525">
            <a:noFill/>
          </a:ln>
        </p:spPr>
        <p:txBody>
          <a:bodyPr>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zh-CN" altLang="en-US" sz="4800" b="1" dirty="0">
                <a:solidFill>
                  <a:schemeClr val="bg1"/>
                </a:solidFill>
                <a:latin typeface="黑体" panose="02010609060101010101" pitchFamily="49" charset="-122"/>
                <a:ea typeface="黑体" panose="02010609060101010101" pitchFamily="49" charset="-122"/>
              </a:rPr>
              <a:t>考虑聚合商风险的多能信息物理系统优化调度方法</a:t>
            </a:r>
          </a:p>
          <a:p>
            <a:pPr marL="0" lvl="0" indent="0" algn="ctr" eaLnBrk="1" hangingPunct="1">
              <a:lnSpc>
                <a:spcPct val="100000"/>
              </a:lnSpc>
              <a:spcBef>
                <a:spcPct val="0"/>
              </a:spcBef>
              <a:buFontTx/>
              <a:buNone/>
            </a:pPr>
            <a:endParaRPr lang="zh-CN" altLang="en-US" sz="4800" b="1" dirty="0">
              <a:solidFill>
                <a:schemeClr val="bg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advTm="11964"/>
    </mc:Choice>
    <mc:Fallback xmlns="">
      <p:transition advTm="11964"/>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矩形 5"/>
          <p:cNvSpPr/>
          <p:nvPr/>
        </p:nvSpPr>
        <p:spPr>
          <a:xfrm>
            <a:off x="6471920" y="1204913"/>
            <a:ext cx="2233613" cy="750888"/>
          </a:xfrm>
          <a:prstGeom prst="rect">
            <a:avLst/>
          </a:prstGeom>
          <a:noFill/>
          <a:ln w="19050">
            <a:solidFill>
              <a:srgbClr val="1C488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39" name="文本框 3"/>
          <p:cNvSpPr txBox="1"/>
          <p:nvPr/>
        </p:nvSpPr>
        <p:spPr>
          <a:xfrm>
            <a:off x="6471920" y="1447800"/>
            <a:ext cx="2233613" cy="5238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zh-CN" altLang="en-US" b="1" dirty="0">
                <a:latin typeface="微软雅黑" panose="020B0503020204020204" pitchFamily="34" charset="-122"/>
                <a:ea typeface="微软雅黑" panose="020B0503020204020204" pitchFamily="34" charset="-122"/>
              </a:rPr>
              <a:t>目录</a:t>
            </a:r>
          </a:p>
        </p:txBody>
      </p:sp>
      <p:sp>
        <p:nvSpPr>
          <p:cNvPr id="7" name="矩形 6"/>
          <p:cNvSpPr/>
          <p:nvPr/>
        </p:nvSpPr>
        <p:spPr>
          <a:xfrm>
            <a:off x="7205345" y="1152525"/>
            <a:ext cx="766763" cy="204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41" name="Freeform 5"/>
          <p:cNvSpPr>
            <a:spLocks noEditPoints="1"/>
          </p:cNvSpPr>
          <p:nvPr/>
        </p:nvSpPr>
        <p:spPr>
          <a:xfrm>
            <a:off x="7205345" y="823913"/>
            <a:ext cx="766763" cy="68580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2" name="矩形 31"/>
          <p:cNvSpPr/>
          <p:nvPr/>
        </p:nvSpPr>
        <p:spPr>
          <a:xfrm>
            <a:off x="0" y="0"/>
            <a:ext cx="3244850"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 name="图片 1"/>
          <p:cNvPicPr>
            <a:picLocks noChangeAspect="1"/>
          </p:cNvPicPr>
          <p:nvPr/>
        </p:nvPicPr>
        <p:blipFill rotWithShape="1">
          <a:blip r:embed="rId3" cstate="print"/>
          <a:srcRect l="8888" t="6664" r="8957" b="5601"/>
          <a:stretch>
            <a:fillRect/>
          </a:stretch>
        </p:blipFill>
        <p:spPr>
          <a:xfrm>
            <a:off x="307975" y="2152650"/>
            <a:ext cx="2628900" cy="2552065"/>
          </a:xfrm>
          <a:prstGeom prst="ellipse">
            <a:avLst/>
          </a:prstGeom>
        </p:spPr>
      </p:pic>
      <p:grpSp>
        <p:nvGrpSpPr>
          <p:cNvPr id="14344" name="组合 8"/>
          <p:cNvGrpSpPr/>
          <p:nvPr/>
        </p:nvGrpSpPr>
        <p:grpSpPr>
          <a:xfrm>
            <a:off x="3637915" y="2317750"/>
            <a:ext cx="8441690" cy="3643629"/>
            <a:chOff x="6244085" y="2538064"/>
            <a:chExt cx="8904611" cy="3643274"/>
          </a:xfrm>
        </p:grpSpPr>
        <p:sp>
          <p:nvSpPr>
            <p:cNvPr id="14345" name="文本框 34"/>
            <p:cNvSpPr txBox="1"/>
            <p:nvPr/>
          </p:nvSpPr>
          <p:spPr>
            <a:xfrm>
              <a:off x="6534070" y="2538064"/>
              <a:ext cx="4262459" cy="46033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400" dirty="0">
                  <a:latin typeface="微软雅黑" panose="020B0503020204020204" pitchFamily="34" charset="-122"/>
                  <a:ea typeface="微软雅黑" panose="020B0503020204020204" pitchFamily="34" charset="-122"/>
                </a:rPr>
                <a:t>研究背景及研究框架</a:t>
              </a:r>
            </a:p>
          </p:txBody>
        </p:sp>
        <p:sp>
          <p:nvSpPr>
            <p:cNvPr id="14346" name="文本框 26"/>
            <p:cNvSpPr txBox="1"/>
            <p:nvPr/>
          </p:nvSpPr>
          <p:spPr>
            <a:xfrm>
              <a:off x="6533949" y="3344450"/>
              <a:ext cx="7314207" cy="692095"/>
            </a:xfrm>
            <a:prstGeom prst="rect">
              <a:avLst/>
            </a:prstGeom>
            <a:noFill/>
            <a:ln w="9525">
              <a:noFill/>
            </a:ln>
          </p:spPr>
          <p:txBody>
            <a:bodyPr wrap="square">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400" dirty="0">
                  <a:latin typeface="微软雅黑" panose="020B0503020204020204" pitchFamily="34" charset="-122"/>
                  <a:ea typeface="微软雅黑" panose="020B0503020204020204" pitchFamily="34" charset="-122"/>
                </a:rPr>
                <a:t>研究内容</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：考虑内部风险的聚合商最优成本选择</a:t>
              </a:r>
            </a:p>
            <a:p>
              <a:pPr marL="0" lvl="0" indent="0" eaLnBrk="1" hangingPunct="1">
                <a:lnSpc>
                  <a:spcPct val="100000"/>
                </a:lnSpc>
                <a:spcBef>
                  <a:spcPct val="0"/>
                </a:spcBef>
                <a:buFontTx/>
                <a:buNone/>
              </a:pPr>
              <a:endParaRPr lang="zh-CN" altLang="en-US" sz="2400" dirty="0">
                <a:latin typeface="微软雅黑" panose="020B0503020204020204" pitchFamily="34" charset="-122"/>
                <a:ea typeface="微软雅黑" panose="020B0503020204020204" pitchFamily="34" charset="-122"/>
              </a:endParaRPr>
            </a:p>
          </p:txBody>
        </p:sp>
        <p:sp>
          <p:nvSpPr>
            <p:cNvPr id="14347" name="Freeform 9"/>
            <p:cNvSpPr/>
            <p:nvPr/>
          </p:nvSpPr>
          <p:spPr>
            <a:xfrm>
              <a:off x="6244085" y="2620284"/>
              <a:ext cx="270832" cy="259124"/>
            </a:xfrm>
            <a:custGeom>
              <a:avLst/>
              <a:gdLst>
                <a:gd name="txL" fmla="*/ 0 w 347"/>
                <a:gd name="txT" fmla="*/ 0 h 332"/>
                <a:gd name="txR" fmla="*/ 347 w 347"/>
                <a:gd name="txB" fmla="*/ 332 h 332"/>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0"/>
                </a:cxn>
              </a:cxnLst>
              <a:rect l="txL" t="txT" r="txR" b="tx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1C4885">
                <a:alpha val="100000"/>
              </a:srgbClr>
            </a:solidFill>
            <a:ln w="9525">
              <a:noFill/>
            </a:ln>
          </p:spPr>
          <p:txBody>
            <a:bodyPr/>
            <a:lstStyle/>
            <a:p>
              <a:endParaRPr lang="zh-CN" altLang="en-US"/>
            </a:p>
          </p:txBody>
        </p:sp>
        <p:sp>
          <p:nvSpPr>
            <p:cNvPr id="14348" name="Freeform 9"/>
            <p:cNvSpPr/>
            <p:nvPr/>
          </p:nvSpPr>
          <p:spPr>
            <a:xfrm>
              <a:off x="6244085" y="3427862"/>
              <a:ext cx="270832" cy="259124"/>
            </a:xfrm>
            <a:custGeom>
              <a:avLst/>
              <a:gdLst>
                <a:gd name="txL" fmla="*/ 0 w 347"/>
                <a:gd name="txT" fmla="*/ 0 h 332"/>
                <a:gd name="txR" fmla="*/ 347 w 347"/>
                <a:gd name="txB" fmla="*/ 332 h 332"/>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0"/>
                </a:cxn>
              </a:cxnLst>
              <a:rect l="txL" t="txT" r="txR" b="tx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1C4885">
                <a:alpha val="100000"/>
              </a:srgbClr>
            </a:solidFill>
            <a:ln w="9525">
              <a:noFill/>
            </a:ln>
          </p:spPr>
          <p:txBody>
            <a:bodyPr/>
            <a:lstStyle/>
            <a:p>
              <a:endParaRPr lang="zh-CN" altLang="en-US"/>
            </a:p>
          </p:txBody>
        </p:sp>
        <p:sp>
          <p:nvSpPr>
            <p:cNvPr id="14349" name="文本框 21"/>
            <p:cNvSpPr txBox="1"/>
            <p:nvPr/>
          </p:nvSpPr>
          <p:spPr>
            <a:xfrm>
              <a:off x="6533949" y="4143851"/>
              <a:ext cx="7754672" cy="46033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400" dirty="0">
                  <a:latin typeface="微软雅黑" panose="020B0503020204020204" pitchFamily="34" charset="-122"/>
                  <a:ea typeface="微软雅黑" panose="020B0503020204020204" pitchFamily="34" charset="-122"/>
                </a:rPr>
                <a:t>研究内容</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：针对聚合商成本函数的</a:t>
              </a:r>
              <a:r>
                <a:rPr lang="en-US" altLang="zh-CN" sz="2400" dirty="0">
                  <a:latin typeface="微软雅黑" panose="020B0503020204020204" pitchFamily="34" charset="-122"/>
                  <a:ea typeface="微软雅黑" panose="020B0503020204020204" pitchFamily="34" charset="-122"/>
                </a:rPr>
                <a:t>FDI</a:t>
              </a:r>
              <a:r>
                <a:rPr lang="zh-CN" altLang="en-US" sz="2400" dirty="0">
                  <a:latin typeface="微软雅黑" panose="020B0503020204020204" pitchFamily="34" charset="-122"/>
                  <a:ea typeface="微软雅黑" panose="020B0503020204020204" pitchFamily="34" charset="-122"/>
                </a:rPr>
                <a:t>攻击建模方法</a:t>
              </a:r>
            </a:p>
          </p:txBody>
        </p:sp>
        <p:sp>
          <p:nvSpPr>
            <p:cNvPr id="14350" name="文本框 35"/>
            <p:cNvSpPr txBox="1"/>
            <p:nvPr/>
          </p:nvSpPr>
          <p:spPr>
            <a:xfrm>
              <a:off x="6534118" y="4950194"/>
              <a:ext cx="8614578" cy="829864"/>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400" dirty="0">
                  <a:latin typeface="微软雅黑" panose="020B0503020204020204" pitchFamily="34" charset="-122"/>
                  <a:ea typeface="微软雅黑" panose="020B0503020204020204" pitchFamily="34" charset="-122"/>
                </a:rPr>
                <a:t>研究内容</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：考虑聚合商风险的</a:t>
              </a:r>
              <a:r>
                <a:rPr lang="en-US" altLang="zh-CN" sz="2400" dirty="0">
                  <a:latin typeface="微软雅黑" panose="020B0503020204020204" pitchFamily="34" charset="-122"/>
                  <a:ea typeface="微软雅黑" panose="020B0503020204020204" pitchFamily="34" charset="-122"/>
                </a:rPr>
                <a:t>MECPS</a:t>
              </a:r>
              <a:r>
                <a:rPr lang="zh-CN" altLang="en-US" sz="2400" dirty="0">
                  <a:latin typeface="微软雅黑" panose="020B0503020204020204" pitchFamily="34" charset="-122"/>
                  <a:ea typeface="微软雅黑" panose="020B0503020204020204" pitchFamily="34" charset="-122"/>
                </a:rPr>
                <a:t>分布式优化调度方法</a:t>
              </a:r>
            </a:p>
            <a:p>
              <a:pPr marL="0" lvl="0" indent="0" eaLnBrk="1" hangingPunct="1">
                <a:lnSpc>
                  <a:spcPct val="100000"/>
                </a:lnSpc>
                <a:spcBef>
                  <a:spcPct val="0"/>
                </a:spcBef>
                <a:buFontTx/>
                <a:buNone/>
              </a:pPr>
              <a:endParaRPr lang="zh-CN" altLang="en-US" sz="2400" dirty="0">
                <a:latin typeface="微软雅黑" panose="020B0503020204020204" pitchFamily="34" charset="-122"/>
                <a:ea typeface="微软雅黑" panose="020B0503020204020204" pitchFamily="34" charset="-122"/>
              </a:endParaRPr>
            </a:p>
          </p:txBody>
        </p:sp>
        <p:sp>
          <p:nvSpPr>
            <p:cNvPr id="14351" name="Freeform 9"/>
            <p:cNvSpPr/>
            <p:nvPr/>
          </p:nvSpPr>
          <p:spPr>
            <a:xfrm>
              <a:off x="6267471" y="4226173"/>
              <a:ext cx="270832" cy="259124"/>
            </a:xfrm>
            <a:custGeom>
              <a:avLst/>
              <a:gdLst>
                <a:gd name="txL" fmla="*/ 0 w 347"/>
                <a:gd name="txT" fmla="*/ 0 h 332"/>
                <a:gd name="txR" fmla="*/ 347 w 347"/>
                <a:gd name="txB" fmla="*/ 332 h 332"/>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0"/>
                </a:cxn>
              </a:cxnLst>
              <a:rect l="txL" t="txT" r="txR" b="tx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1C4885">
                <a:alpha val="100000"/>
              </a:srgbClr>
            </a:solidFill>
            <a:ln w="9525">
              <a:noFill/>
            </a:ln>
          </p:spPr>
          <p:txBody>
            <a:bodyPr/>
            <a:lstStyle/>
            <a:p>
              <a:endParaRPr lang="zh-CN" altLang="en-US"/>
            </a:p>
          </p:txBody>
        </p:sp>
        <p:sp>
          <p:nvSpPr>
            <p:cNvPr id="14352" name="Freeform 9"/>
            <p:cNvSpPr/>
            <p:nvPr/>
          </p:nvSpPr>
          <p:spPr>
            <a:xfrm>
              <a:off x="6267471" y="5033751"/>
              <a:ext cx="270832" cy="259124"/>
            </a:xfrm>
            <a:custGeom>
              <a:avLst/>
              <a:gdLst>
                <a:gd name="txL" fmla="*/ 0 w 347"/>
                <a:gd name="txT" fmla="*/ 0 h 332"/>
                <a:gd name="txR" fmla="*/ 347 w 347"/>
                <a:gd name="txB" fmla="*/ 332 h 332"/>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0"/>
                </a:cxn>
              </a:cxnLst>
              <a:rect l="txL" t="txT" r="txR" b="tx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1C4885">
                <a:alpha val="100000"/>
              </a:srgbClr>
            </a:solidFill>
            <a:ln w="9525">
              <a:noFill/>
            </a:ln>
          </p:spPr>
          <p:txBody>
            <a:bodyPr/>
            <a:lstStyle/>
            <a:p>
              <a:endParaRPr lang="zh-CN" altLang="en-US"/>
            </a:p>
          </p:txBody>
        </p:sp>
        <p:sp>
          <p:nvSpPr>
            <p:cNvPr id="14353" name="文本框 17"/>
            <p:cNvSpPr txBox="1"/>
            <p:nvPr/>
          </p:nvSpPr>
          <p:spPr>
            <a:xfrm>
              <a:off x="6534070" y="5721008"/>
              <a:ext cx="4262459" cy="46033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400" dirty="0">
                  <a:latin typeface="微软雅黑" panose="020B0503020204020204" pitchFamily="34" charset="-122"/>
                  <a:ea typeface="微软雅黑" panose="020B0503020204020204" pitchFamily="34" charset="-122"/>
                </a:rPr>
                <a:t>总结与展望</a:t>
              </a:r>
            </a:p>
          </p:txBody>
        </p:sp>
        <p:sp>
          <p:nvSpPr>
            <p:cNvPr id="14354" name="Freeform 9"/>
            <p:cNvSpPr/>
            <p:nvPr/>
          </p:nvSpPr>
          <p:spPr>
            <a:xfrm>
              <a:off x="6267471" y="5804356"/>
              <a:ext cx="270832" cy="259124"/>
            </a:xfrm>
            <a:custGeom>
              <a:avLst/>
              <a:gdLst>
                <a:gd name="txL" fmla="*/ 0 w 347"/>
                <a:gd name="txT" fmla="*/ 0 h 332"/>
                <a:gd name="txR" fmla="*/ 347 w 347"/>
                <a:gd name="txB" fmla="*/ 332 h 332"/>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0"/>
                </a:cxn>
              </a:cxnLst>
              <a:rect l="txL" t="txT" r="txR" b="tx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1C4885">
                <a:alpha val="100000"/>
              </a:srgbClr>
            </a:solidFill>
            <a:ln w="9525">
              <a:noFill/>
            </a:ln>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advTm="1105"/>
    </mc:Choice>
    <mc:Fallback xmlns="">
      <p:transition advTm="110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标题 1"/>
          <p:cNvSpPr txBox="1"/>
          <p:nvPr/>
        </p:nvSpPr>
        <p:spPr>
          <a:xfrm>
            <a:off x="1524000" y="3382963"/>
            <a:ext cx="9144000" cy="814387"/>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buFontTx/>
              <a:buNone/>
            </a:pPr>
            <a:r>
              <a:rPr lang="zh-CN" altLang="en-US" sz="4400" b="1" dirty="0">
                <a:solidFill>
                  <a:srgbClr val="1C4885"/>
                </a:solidFill>
                <a:latin typeface="微软雅黑" panose="020B0503020204020204" pitchFamily="34" charset="-122"/>
                <a:ea typeface="微软雅黑" panose="020B0503020204020204" pitchFamily="34" charset="-122"/>
              </a:rPr>
              <a:t>研究背景及研究框架</a:t>
            </a:r>
          </a:p>
        </p:txBody>
      </p:sp>
      <p:pic>
        <p:nvPicPr>
          <p:cNvPr id="16387" name="图片 19"/>
          <p:cNvPicPr>
            <a:picLocks noChangeAspect="1"/>
          </p:cNvPicPr>
          <p:nvPr/>
        </p:nvPicPr>
        <p:blipFill>
          <a:blip r:embed="rId3"/>
          <a:stretch>
            <a:fillRect/>
          </a:stretch>
        </p:blipFill>
        <p:spPr>
          <a:xfrm>
            <a:off x="419100" y="393700"/>
            <a:ext cx="1976438" cy="735013"/>
          </a:xfrm>
          <a:prstGeom prst="rect">
            <a:avLst/>
          </a:prstGeom>
          <a:noFill/>
          <a:ln w="9525">
            <a:noFill/>
          </a:ln>
        </p:spPr>
      </p:pic>
      <p:sp>
        <p:nvSpPr>
          <p:cNvPr id="16388" name="Freeform 5"/>
          <p:cNvSpPr>
            <a:spLocks noEditPoints="1"/>
          </p:cNvSpPr>
          <p:nvPr/>
        </p:nvSpPr>
        <p:spPr>
          <a:xfrm>
            <a:off x="5538788" y="2087563"/>
            <a:ext cx="1114425" cy="99695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1607"/>
    </mc:Choice>
    <mc:Fallback xmlns="">
      <p:transition advTm="1607"/>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36" name="文本框 4"/>
          <p:cNvSpPr txBox="1"/>
          <p:nvPr/>
        </p:nvSpPr>
        <p:spPr>
          <a:xfrm>
            <a:off x="42863" y="1857375"/>
            <a:ext cx="151765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研究背景</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18443" name="标题 1"/>
          <p:cNvSpPr txBox="1"/>
          <p:nvPr/>
        </p:nvSpPr>
        <p:spPr>
          <a:xfrm>
            <a:off x="2620963" y="242888"/>
            <a:ext cx="76025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研究背景</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72" name="等腰三角形 71"/>
          <p:cNvSpPr/>
          <p:nvPr/>
        </p:nvSpPr>
        <p:spPr>
          <a:xfrm rot="16200000" flipV="1">
            <a:off x="1525588" y="1979613"/>
            <a:ext cx="363538" cy="157163"/>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94" name="文本框 93"/>
          <p:cNvSpPr txBox="1"/>
          <p:nvPr/>
        </p:nvSpPr>
        <p:spPr>
          <a:xfrm>
            <a:off x="-71437" y="6180138"/>
            <a:ext cx="1754188" cy="39878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83" name="矩形 282"/>
          <p:cNvSpPr/>
          <p:nvPr/>
        </p:nvSpPr>
        <p:spPr>
          <a:xfrm>
            <a:off x="2116138" y="5641975"/>
            <a:ext cx="7234238" cy="398780"/>
          </a:xfrm>
          <a:prstGeom prst="rect">
            <a:avLst/>
          </a:prstGeom>
        </p:spPr>
        <p:txBody>
          <a:bodyPr>
            <a:spAutoFit/>
          </a:bodyPr>
          <a:lstStyle/>
          <a:p>
            <a:pPr marL="342900" marR="0" lvl="0" indent="-342900" algn="l" defTabSz="914400" rtl="0" eaLnBrk="0" fontAlgn="base" latinLnBrk="0" hangingPunct="0">
              <a:lnSpc>
                <a:spcPct val="100000"/>
              </a:lnSpc>
              <a:spcBef>
                <a:spcPct val="0"/>
              </a:spcBef>
              <a:spcAft>
                <a:spcPts val="0"/>
              </a:spcAft>
              <a:buClrTx/>
              <a:buSzTx/>
              <a:buFont typeface="Arial" panose="020B0604020202020204" pitchFamily="34" charset="0"/>
              <a:buChar char="•"/>
              <a:defRPr/>
            </a:pPr>
            <a:endParaRPr kumimoji="0" lang="zh-CN" altLang="zh-CN" sz="2000" b="1"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4" name="矩形 283"/>
          <p:cNvSpPr/>
          <p:nvPr/>
        </p:nvSpPr>
        <p:spPr>
          <a:xfrm>
            <a:off x="2116138" y="6040438"/>
            <a:ext cx="7242175" cy="398780"/>
          </a:xfrm>
          <a:prstGeom prst="rect">
            <a:avLst/>
          </a:prstGeom>
        </p:spPr>
        <p:txBody>
          <a:bodyPr>
            <a:spAutoFit/>
          </a:bodyPr>
          <a:lstStyle/>
          <a:p>
            <a:pPr marL="342900" marR="0" lvl="0" indent="-342900" algn="l" defTabSz="914400" rtl="0" eaLnBrk="0" fontAlgn="base" latinLnBrk="0" hangingPunct="0">
              <a:lnSpc>
                <a:spcPct val="100000"/>
              </a:lnSpc>
              <a:spcBef>
                <a:spcPct val="0"/>
              </a:spcBef>
              <a:spcAft>
                <a:spcPts val="0"/>
              </a:spcAft>
              <a:buClrTx/>
              <a:buSzTx/>
              <a:buFont typeface="Arial" panose="020B0604020202020204" pitchFamily="34" charset="0"/>
              <a:buChar char="•"/>
              <a:defRPr/>
            </a:pPr>
            <a:endParaRPr kumimoji="0" lang="zh-CN" altLang="zh-CN" sz="2000" b="1"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 name="对象 1"/>
          <p:cNvGraphicFramePr/>
          <p:nvPr>
            <p:extLst>
              <p:ext uri="{D42A27DB-BD31-4B8C-83A1-F6EECF244321}">
                <p14:modId xmlns:p14="http://schemas.microsoft.com/office/powerpoint/2010/main" val="1386883119"/>
              </p:ext>
            </p:extLst>
          </p:nvPr>
        </p:nvGraphicFramePr>
        <p:xfrm>
          <a:off x="1292860" y="1323976"/>
          <a:ext cx="6149023" cy="5029199"/>
        </p:xfrm>
        <a:graphic>
          <a:graphicData uri="http://schemas.openxmlformats.org/presentationml/2006/ole">
            <mc:AlternateContent xmlns:mc="http://schemas.openxmlformats.org/markup-compatibility/2006">
              <mc:Choice xmlns:v="urn:schemas-microsoft-com:vml" Requires="v">
                <p:oleObj spid="_x0000_s1142" r:id="rId5" imgW="11336655" imgH="8602980" progId="Visio.Drawing.15">
                  <p:embed/>
                </p:oleObj>
              </mc:Choice>
              <mc:Fallback>
                <p:oleObj r:id="rId5" imgW="11336655" imgH="8602980" progId="Visio.Drawing.15">
                  <p:embed/>
                  <p:pic>
                    <p:nvPicPr>
                      <p:cNvPr id="0" name="图片 3"/>
                      <p:cNvPicPr/>
                      <p:nvPr/>
                    </p:nvPicPr>
                    <p:blipFill>
                      <a:blip r:embed="rId6"/>
                      <a:stretch>
                        <a:fillRect/>
                      </a:stretch>
                    </p:blipFill>
                    <p:spPr>
                      <a:xfrm>
                        <a:off x="1292860" y="1323976"/>
                        <a:ext cx="6149023" cy="5029199"/>
                      </a:xfrm>
                      <a:prstGeom prst="rect">
                        <a:avLst/>
                      </a:prstGeom>
                    </p:spPr>
                  </p:pic>
                </p:oleObj>
              </mc:Fallback>
            </mc:AlternateContent>
          </a:graphicData>
        </a:graphic>
      </p:graphicFrame>
      <p:sp>
        <p:nvSpPr>
          <p:cNvPr id="5" name="文本框 4"/>
          <p:cNvSpPr txBox="1"/>
          <p:nvPr/>
        </p:nvSpPr>
        <p:spPr>
          <a:xfrm>
            <a:off x="2727984" y="6439218"/>
            <a:ext cx="3843655" cy="368300"/>
          </a:xfrm>
          <a:prstGeom prst="rect">
            <a:avLst/>
          </a:prstGeom>
        </p:spPr>
        <p:txBody>
          <a:bodyPr wrap="square">
            <a:spAutoFit/>
          </a:bodyPr>
          <a:lstStyle/>
          <a:p>
            <a:pPr defTabSz="266700"/>
            <a:r>
              <a:rPr lang="zh-CN" sz="1800" dirty="0">
                <a:latin typeface="微软雅黑" panose="020B0503020204020204" pitchFamily="34" charset="-122"/>
                <a:ea typeface="微软雅黑" panose="020B0503020204020204" pitchFamily="34" charset="-122"/>
              </a:rPr>
              <a:t>含聚合商的多能信息物理系统结构图</a:t>
            </a:r>
            <a:endParaRPr lang="zh-CN" altLang="en-US" sz="18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7395845" y="905659"/>
            <a:ext cx="1415772"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smtClean="0"/>
              <a:t>问题聚焦</a:t>
            </a:r>
            <a:endParaRPr lang="zh-CN" altLang="en-US" sz="2400" b="1" dirty="0"/>
          </a:p>
        </p:txBody>
      </p:sp>
      <p:graphicFrame>
        <p:nvGraphicFramePr>
          <p:cNvPr id="9" name="图示 8"/>
          <p:cNvGraphicFramePr/>
          <p:nvPr>
            <p:extLst>
              <p:ext uri="{D42A27DB-BD31-4B8C-83A1-F6EECF244321}">
                <p14:modId xmlns:p14="http://schemas.microsoft.com/office/powerpoint/2010/main" val="4045472989"/>
              </p:ext>
            </p:extLst>
          </p:nvPr>
        </p:nvGraphicFramePr>
        <p:xfrm>
          <a:off x="7490506" y="1387178"/>
          <a:ext cx="4458878" cy="5203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9" name="矩形 18"/>
          <p:cNvSpPr/>
          <p:nvPr/>
        </p:nvSpPr>
        <p:spPr>
          <a:xfrm>
            <a:off x="7395845" y="1367324"/>
            <a:ext cx="4723765" cy="5369391"/>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8729"/>
    </mc:Choice>
    <mc:Fallback xmlns="">
      <p:transition advTm="8729"/>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532" name="文本框 4"/>
          <p:cNvSpPr txBox="1"/>
          <p:nvPr/>
        </p:nvSpPr>
        <p:spPr>
          <a:xfrm>
            <a:off x="42863" y="1857375"/>
            <a:ext cx="151765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研究框架</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22539" name="标题 1"/>
          <p:cNvSpPr txBox="1"/>
          <p:nvPr/>
        </p:nvSpPr>
        <p:spPr>
          <a:xfrm>
            <a:off x="2620963" y="242888"/>
            <a:ext cx="76025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研究框架</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72" name="等腰三角形 71"/>
          <p:cNvSpPr/>
          <p:nvPr/>
        </p:nvSpPr>
        <p:spPr>
          <a:xfrm rot="16200000" flipV="1">
            <a:off x="1525588" y="1979613"/>
            <a:ext cx="363538" cy="157163"/>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94" name="文本框 93"/>
          <p:cNvSpPr txBox="1"/>
          <p:nvPr/>
        </p:nvSpPr>
        <p:spPr>
          <a:xfrm>
            <a:off x="-71437" y="6180138"/>
            <a:ext cx="1754188" cy="39878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graphicFrame>
        <p:nvGraphicFramePr>
          <p:cNvPr id="4" name="对象 3"/>
          <p:cNvGraphicFramePr/>
          <p:nvPr>
            <p:extLst>
              <p:ext uri="{D42A27DB-BD31-4B8C-83A1-F6EECF244321}">
                <p14:modId xmlns:p14="http://schemas.microsoft.com/office/powerpoint/2010/main" val="3831618014"/>
              </p:ext>
            </p:extLst>
          </p:nvPr>
        </p:nvGraphicFramePr>
        <p:xfrm>
          <a:off x="2743835" y="760095"/>
          <a:ext cx="8130540" cy="6097905"/>
        </p:xfrm>
        <a:graphic>
          <a:graphicData uri="http://schemas.openxmlformats.org/presentationml/2006/ole">
            <mc:AlternateContent xmlns:mc="http://schemas.openxmlformats.org/markup-compatibility/2006">
              <mc:Choice xmlns:v="urn:schemas-microsoft-com:vml" Requires="v">
                <p:oleObj spid="_x0000_s2167" name="Visio" r:id="rId5" imgW="12001370" imgH="9730668" progId="Visio.Drawing.15">
                  <p:embed/>
                </p:oleObj>
              </mc:Choice>
              <mc:Fallback>
                <p:oleObj name="Visio" r:id="rId5" imgW="12001370" imgH="9730668" progId="Visio.Drawing.15">
                  <p:embed/>
                  <p:pic>
                    <p:nvPicPr>
                      <p:cNvPr id="0" name="图片 4"/>
                      <p:cNvPicPr/>
                      <p:nvPr/>
                    </p:nvPicPr>
                    <p:blipFill>
                      <a:blip r:embed="rId6"/>
                      <a:stretch>
                        <a:fillRect/>
                      </a:stretch>
                    </p:blipFill>
                    <p:spPr>
                      <a:xfrm>
                        <a:off x="2743835" y="760095"/>
                        <a:ext cx="8130540" cy="609790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advTm="34381"/>
    </mc:Choice>
    <mc:Fallback xmlns="">
      <p:transition advTm="3438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标题 1"/>
          <p:cNvSpPr txBox="1"/>
          <p:nvPr/>
        </p:nvSpPr>
        <p:spPr>
          <a:xfrm>
            <a:off x="925830" y="3383280"/>
            <a:ext cx="10634345" cy="81407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buFontTx/>
              <a:buNone/>
            </a:pPr>
            <a:r>
              <a:rPr lang="zh-CN" altLang="en-US" sz="4400" b="1" dirty="0">
                <a:solidFill>
                  <a:srgbClr val="1C4885"/>
                </a:solidFill>
                <a:latin typeface="微软雅黑" panose="020B0503020204020204" pitchFamily="34" charset="-122"/>
                <a:ea typeface="微软雅黑" panose="020B0503020204020204" pitchFamily="34" charset="-122"/>
              </a:rPr>
              <a:t>考虑内部风险的聚合商最优成本选择</a:t>
            </a:r>
          </a:p>
          <a:p>
            <a:pPr marL="0" lvl="0" indent="0" algn="ctr" eaLnBrk="1" hangingPunct="1">
              <a:spcBef>
                <a:spcPct val="0"/>
              </a:spcBef>
              <a:buFontTx/>
              <a:buNone/>
            </a:pPr>
            <a:endParaRPr lang="zh-CN" altLang="en-US" sz="4400" b="1" dirty="0">
              <a:solidFill>
                <a:srgbClr val="1C4885"/>
              </a:solidFill>
              <a:latin typeface="微软雅黑" panose="020B0503020204020204" pitchFamily="34" charset="-122"/>
              <a:ea typeface="微软雅黑" panose="020B0503020204020204" pitchFamily="34" charset="-122"/>
            </a:endParaRPr>
          </a:p>
        </p:txBody>
      </p:sp>
      <p:pic>
        <p:nvPicPr>
          <p:cNvPr id="24579" name="图片 19"/>
          <p:cNvPicPr>
            <a:picLocks noChangeAspect="1"/>
          </p:cNvPicPr>
          <p:nvPr/>
        </p:nvPicPr>
        <p:blipFill>
          <a:blip r:embed="rId3"/>
          <a:stretch>
            <a:fillRect/>
          </a:stretch>
        </p:blipFill>
        <p:spPr>
          <a:xfrm>
            <a:off x="419100" y="393700"/>
            <a:ext cx="1976438" cy="735013"/>
          </a:xfrm>
          <a:prstGeom prst="rect">
            <a:avLst/>
          </a:prstGeom>
          <a:noFill/>
          <a:ln w="9525">
            <a:noFill/>
          </a:ln>
        </p:spPr>
      </p:pic>
      <p:sp>
        <p:nvSpPr>
          <p:cNvPr id="24580" name="Freeform 5"/>
          <p:cNvSpPr>
            <a:spLocks noEditPoints="1"/>
          </p:cNvSpPr>
          <p:nvPr/>
        </p:nvSpPr>
        <p:spPr>
          <a:xfrm>
            <a:off x="5538788" y="2087563"/>
            <a:ext cx="1114425" cy="99695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1536"/>
    </mc:Choice>
    <mc:Fallback xmlns="">
      <p:transition advTm="1536"/>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文本框 4"/>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26635" name="标题 1"/>
          <p:cNvSpPr txBox="1"/>
          <p:nvPr/>
        </p:nvSpPr>
        <p:spPr>
          <a:xfrm>
            <a:off x="2620963" y="242888"/>
            <a:ext cx="8386762"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a:latin typeface="微软雅黑" panose="020B0503020204020204" pitchFamily="34" charset="-122"/>
                <a:ea typeface="微软雅黑" panose="020B0503020204020204" pitchFamily="34" charset="-122"/>
              </a:rPr>
              <a:t>1.1</a:t>
            </a:r>
            <a:r>
              <a:rPr lang="zh-CN" altLang="en-US" sz="3200" b="1" dirty="0">
                <a:latin typeface="微软雅黑" panose="020B0503020204020204" pitchFamily="34" charset="-122"/>
                <a:ea typeface="微软雅黑" panose="020B0503020204020204" pitchFamily="34" charset="-122"/>
              </a:rPr>
              <a:t>：</a:t>
            </a:r>
            <a:r>
              <a:rPr lang="zh-CN" altLang="en-US" sz="3200" b="1" dirty="0" smtClean="0">
                <a:solidFill>
                  <a:schemeClr val="tx1">
                    <a:lumMod val="50000"/>
                  </a:schemeClr>
                </a:solidFill>
                <a:latin typeface="Arial" panose="020B0604020202020204" pitchFamily="34" charset="0"/>
                <a:ea typeface="微软雅黑" panose="020B0503020204020204" pitchFamily="34" charset="-122"/>
                <a:sym typeface="Arial" panose="020B0604020202020204" pitchFamily="34" charset="0"/>
              </a:rPr>
              <a:t>聚合商分布式资源建模</a:t>
            </a:r>
            <a:endParaRPr lang="en-US" altLang="zh-CN" sz="3200" b="1" dirty="0">
              <a:solidFill>
                <a:schemeClr val="tx1">
                  <a:lumMod val="50000"/>
                </a:schemeClr>
              </a:solidFill>
              <a:latin typeface="Arial" panose="020B0604020202020204" pitchFamily="34" charset="0"/>
              <a:ea typeface="微软雅黑" panose="020B0503020204020204" pitchFamily="34" charset="-122"/>
              <a:sym typeface="Arial" panose="020B0604020202020204" pitchFamily="34" charset="0"/>
            </a:endParaRPr>
          </a:p>
          <a:p>
            <a:pPr marL="0" lvl="0" indent="0" eaLnBrk="1" hangingPunct="1">
              <a:spcBef>
                <a:spcPct val="0"/>
              </a:spcBef>
              <a:buFontTx/>
              <a:buNone/>
            </a:pPr>
            <a:endParaRPr lang="zh-CN" altLang="en-US" sz="3200" b="1" dirty="0">
              <a:latin typeface="微软雅黑" panose="020B0503020204020204" pitchFamily="34" charset="-122"/>
              <a:ea typeface="微软雅黑" panose="020B0503020204020204" pitchFamily="34" charset="-122"/>
            </a:endParaRPr>
          </a:p>
        </p:txBody>
      </p:sp>
      <p:sp>
        <p:nvSpPr>
          <p:cNvPr id="26636" name="文本框 53"/>
          <p:cNvSpPr txBox="1"/>
          <p:nvPr/>
        </p:nvSpPr>
        <p:spPr>
          <a:xfrm>
            <a:off x="120650" y="29305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106" name="矩形 105"/>
          <p:cNvSpPr/>
          <p:nvPr/>
        </p:nvSpPr>
        <p:spPr>
          <a:xfrm>
            <a:off x="1652588" y="3830638"/>
            <a:ext cx="376238" cy="706755"/>
          </a:xfrm>
          <a:prstGeom prst="rect">
            <a:avLst/>
          </a:prstGeom>
          <a:noFill/>
          <a:ln>
            <a:noFill/>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mn-lt"/>
              <a:ea typeface="+mn-ea"/>
              <a:cs typeface="+mn-cs"/>
            </a:endParaRPr>
          </a:p>
        </p:txBody>
      </p:sp>
      <p:sp>
        <p:nvSpPr>
          <p:cNvPr id="90" name="等腰三角形 89"/>
          <p:cNvSpPr/>
          <p:nvPr/>
        </p:nvSpPr>
        <p:spPr>
          <a:xfrm rot="16200000" flipV="1">
            <a:off x="1497013" y="3071813"/>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111" name="文本框 110"/>
          <p:cNvSpPr txBox="1"/>
          <p:nvPr/>
        </p:nvSpPr>
        <p:spPr>
          <a:xfrm>
            <a:off x="-71437" y="6180138"/>
            <a:ext cx="1754188" cy="39878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所做工作</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19" name="矩形 18"/>
          <p:cNvSpPr/>
          <p:nvPr/>
        </p:nvSpPr>
        <p:spPr bwMode="auto">
          <a:xfrm>
            <a:off x="2467610" y="862330"/>
            <a:ext cx="4111625" cy="193865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6" name="矩形 35"/>
          <p:cNvSpPr/>
          <p:nvPr/>
        </p:nvSpPr>
        <p:spPr>
          <a:xfrm>
            <a:off x="2467610" y="875665"/>
            <a:ext cx="327025" cy="192468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solidFill>
                  <a:schemeClr val="tx1"/>
                </a:solidFill>
                <a:latin typeface="微软雅黑" panose="020B0503020204020204" pitchFamily="34" charset="-122"/>
                <a:ea typeface="微软雅黑" panose="020B0503020204020204" pitchFamily="34" charset="-122"/>
              </a:rPr>
              <a:t>可控负荷</a:t>
            </a:r>
          </a:p>
        </p:txBody>
      </p:sp>
      <p:sp>
        <p:nvSpPr>
          <p:cNvPr id="42" name="矩形 41"/>
          <p:cNvSpPr/>
          <p:nvPr/>
        </p:nvSpPr>
        <p:spPr>
          <a:xfrm>
            <a:off x="2467477" y="2884626"/>
            <a:ext cx="327025" cy="183769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dirty="0" smtClean="0">
                <a:solidFill>
                  <a:schemeClr val="tx1"/>
                </a:solidFill>
                <a:latin typeface="微软雅黑" panose="020B0503020204020204" pitchFamily="34" charset="-122"/>
                <a:ea typeface="微软雅黑" panose="020B0503020204020204" pitchFamily="34" charset="-122"/>
                <a:sym typeface="+mn-ea"/>
              </a:rPr>
              <a:t>其他</a:t>
            </a:r>
          </a:p>
        </p:txBody>
      </p:sp>
      <p:sp>
        <p:nvSpPr>
          <p:cNvPr id="43" name="矩形 42"/>
          <p:cNvSpPr/>
          <p:nvPr/>
        </p:nvSpPr>
        <p:spPr>
          <a:xfrm>
            <a:off x="7318375" y="827405"/>
            <a:ext cx="327025" cy="197294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dirty="0" smtClean="0">
                <a:solidFill>
                  <a:schemeClr val="tx1"/>
                </a:solidFill>
                <a:latin typeface="微软雅黑" panose="020B0503020204020204" pitchFamily="34" charset="-122"/>
                <a:ea typeface="微软雅黑" panose="020B0503020204020204" pitchFamily="34" charset="-122"/>
                <a:sym typeface="+mn-ea"/>
              </a:rPr>
              <a:t>储能资源</a:t>
            </a:r>
          </a:p>
        </p:txBody>
      </p:sp>
      <p:sp>
        <p:nvSpPr>
          <p:cNvPr id="44" name="矩形 43"/>
          <p:cNvSpPr/>
          <p:nvPr/>
        </p:nvSpPr>
        <p:spPr>
          <a:xfrm>
            <a:off x="7313797" y="2882900"/>
            <a:ext cx="327025" cy="197294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dirty="0" smtClean="0">
                <a:solidFill>
                  <a:schemeClr val="tx1"/>
                </a:solidFill>
                <a:latin typeface="微软雅黑" panose="020B0503020204020204" pitchFamily="34" charset="-122"/>
                <a:ea typeface="微软雅黑" panose="020B0503020204020204" pitchFamily="34" charset="-122"/>
                <a:sym typeface="+mn-ea"/>
              </a:rPr>
              <a:t>分布式电源</a:t>
            </a:r>
          </a:p>
        </p:txBody>
      </p:sp>
      <p:pic>
        <p:nvPicPr>
          <p:cNvPr id="8" name="图片 7"/>
          <p:cNvPicPr/>
          <p:nvPr/>
        </p:nvPicPr>
        <p:blipFill>
          <a:blip r:embed="rId4"/>
          <a:stretch>
            <a:fillRect/>
          </a:stretch>
        </p:blipFill>
        <p:spPr>
          <a:xfrm>
            <a:off x="3732530" y="925830"/>
            <a:ext cx="1976755" cy="257810"/>
          </a:xfrm>
          <a:prstGeom prst="rect">
            <a:avLst/>
          </a:prstGeom>
        </p:spPr>
      </p:pic>
      <p:pic>
        <p:nvPicPr>
          <p:cNvPr id="9" name="图片 8"/>
          <p:cNvPicPr/>
          <p:nvPr/>
        </p:nvPicPr>
        <p:blipFill>
          <a:blip r:embed="rId5"/>
          <a:stretch>
            <a:fillRect/>
          </a:stretch>
        </p:blipFill>
        <p:spPr>
          <a:xfrm>
            <a:off x="8304530" y="978535"/>
            <a:ext cx="1399540" cy="257175"/>
          </a:xfrm>
          <a:prstGeom prst="rect">
            <a:avLst/>
          </a:prstGeom>
        </p:spPr>
      </p:pic>
      <p:pic>
        <p:nvPicPr>
          <p:cNvPr id="10" name="图片 9"/>
          <p:cNvPicPr/>
          <p:nvPr/>
        </p:nvPicPr>
        <p:blipFill>
          <a:blip r:embed="rId6"/>
          <a:stretch>
            <a:fillRect/>
          </a:stretch>
        </p:blipFill>
        <p:spPr>
          <a:xfrm>
            <a:off x="9977120" y="997585"/>
            <a:ext cx="1640840" cy="238125"/>
          </a:xfrm>
          <a:prstGeom prst="rect">
            <a:avLst/>
          </a:prstGeom>
        </p:spPr>
      </p:pic>
      <p:pic>
        <p:nvPicPr>
          <p:cNvPr id="11" name="图片 10"/>
          <p:cNvPicPr/>
          <p:nvPr/>
        </p:nvPicPr>
        <p:blipFill>
          <a:blip r:embed="rId7"/>
          <a:stretch>
            <a:fillRect/>
          </a:stretch>
        </p:blipFill>
        <p:spPr>
          <a:xfrm>
            <a:off x="8308975" y="1308100"/>
            <a:ext cx="2447290" cy="238125"/>
          </a:xfrm>
          <a:prstGeom prst="rect">
            <a:avLst/>
          </a:prstGeom>
        </p:spPr>
      </p:pic>
      <p:pic>
        <p:nvPicPr>
          <p:cNvPr id="12" name="图片 11"/>
          <p:cNvPicPr/>
          <p:nvPr/>
        </p:nvPicPr>
        <p:blipFill>
          <a:blip r:embed="rId8"/>
          <a:stretch>
            <a:fillRect/>
          </a:stretch>
        </p:blipFill>
        <p:spPr>
          <a:xfrm>
            <a:off x="8304530" y="1601470"/>
            <a:ext cx="1155065" cy="230505"/>
          </a:xfrm>
          <a:prstGeom prst="rect">
            <a:avLst/>
          </a:prstGeom>
        </p:spPr>
      </p:pic>
      <p:pic>
        <p:nvPicPr>
          <p:cNvPr id="14" name="图片 13"/>
          <p:cNvPicPr/>
          <p:nvPr/>
        </p:nvPicPr>
        <p:blipFill>
          <a:blip r:embed="rId9"/>
          <a:stretch>
            <a:fillRect/>
          </a:stretch>
        </p:blipFill>
        <p:spPr>
          <a:xfrm>
            <a:off x="10140315" y="1577340"/>
            <a:ext cx="1217930" cy="266700"/>
          </a:xfrm>
          <a:prstGeom prst="rect">
            <a:avLst/>
          </a:prstGeom>
        </p:spPr>
      </p:pic>
      <p:sp>
        <p:nvSpPr>
          <p:cNvPr id="56" name="矩形 55"/>
          <p:cNvSpPr/>
          <p:nvPr/>
        </p:nvSpPr>
        <p:spPr>
          <a:xfrm>
            <a:off x="2780030" y="875030"/>
            <a:ext cx="408305" cy="95694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可削减</a:t>
            </a:r>
          </a:p>
        </p:txBody>
      </p:sp>
      <p:sp>
        <p:nvSpPr>
          <p:cNvPr id="58" name="矩形 57"/>
          <p:cNvSpPr/>
          <p:nvPr/>
        </p:nvSpPr>
        <p:spPr>
          <a:xfrm>
            <a:off x="2780030" y="1831975"/>
            <a:ext cx="408305" cy="96837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可转移</a:t>
            </a:r>
          </a:p>
        </p:txBody>
      </p:sp>
      <p:sp>
        <p:nvSpPr>
          <p:cNvPr id="59" name="矩形 58"/>
          <p:cNvSpPr/>
          <p:nvPr/>
        </p:nvSpPr>
        <p:spPr>
          <a:xfrm>
            <a:off x="7645400" y="828675"/>
            <a:ext cx="386715" cy="102806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电储能</a:t>
            </a:r>
          </a:p>
        </p:txBody>
      </p:sp>
      <p:sp>
        <p:nvSpPr>
          <p:cNvPr id="60" name="矩形 59"/>
          <p:cNvSpPr/>
          <p:nvPr/>
        </p:nvSpPr>
        <p:spPr>
          <a:xfrm>
            <a:off x="7645400" y="1843405"/>
            <a:ext cx="386715" cy="97726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热储能</a:t>
            </a:r>
          </a:p>
        </p:txBody>
      </p:sp>
      <p:pic>
        <p:nvPicPr>
          <p:cNvPr id="20" name="图片 19"/>
          <p:cNvPicPr/>
          <p:nvPr/>
        </p:nvPicPr>
        <p:blipFill>
          <a:blip r:embed="rId10"/>
          <a:stretch>
            <a:fillRect/>
          </a:stretch>
        </p:blipFill>
        <p:spPr>
          <a:xfrm>
            <a:off x="4039235" y="1133475"/>
            <a:ext cx="1607185" cy="419100"/>
          </a:xfrm>
          <a:prstGeom prst="rect">
            <a:avLst/>
          </a:prstGeom>
        </p:spPr>
      </p:pic>
      <p:pic>
        <p:nvPicPr>
          <p:cNvPr id="22" name="图片 21"/>
          <p:cNvPicPr/>
          <p:nvPr/>
        </p:nvPicPr>
        <p:blipFill>
          <a:blip r:embed="rId11"/>
          <a:stretch>
            <a:fillRect/>
          </a:stretch>
        </p:blipFill>
        <p:spPr>
          <a:xfrm>
            <a:off x="3477260" y="1494155"/>
            <a:ext cx="3260725" cy="314325"/>
          </a:xfrm>
          <a:prstGeom prst="rect">
            <a:avLst/>
          </a:prstGeom>
        </p:spPr>
      </p:pic>
      <p:pic>
        <p:nvPicPr>
          <p:cNvPr id="23" name="图片 22"/>
          <p:cNvPicPr/>
          <p:nvPr/>
        </p:nvPicPr>
        <p:blipFill>
          <a:blip r:embed="rId12"/>
          <a:stretch>
            <a:fillRect/>
          </a:stretch>
        </p:blipFill>
        <p:spPr>
          <a:xfrm>
            <a:off x="3756660" y="1831975"/>
            <a:ext cx="2217420" cy="314325"/>
          </a:xfrm>
          <a:prstGeom prst="rect">
            <a:avLst/>
          </a:prstGeom>
        </p:spPr>
      </p:pic>
      <p:pic>
        <p:nvPicPr>
          <p:cNvPr id="25" name="图片 24"/>
          <p:cNvPicPr/>
          <p:nvPr/>
        </p:nvPicPr>
        <p:blipFill>
          <a:blip r:embed="rId13"/>
          <a:stretch>
            <a:fillRect/>
          </a:stretch>
        </p:blipFill>
        <p:spPr>
          <a:xfrm>
            <a:off x="3756660" y="2162810"/>
            <a:ext cx="2435225" cy="238125"/>
          </a:xfrm>
          <a:prstGeom prst="rect">
            <a:avLst/>
          </a:prstGeom>
        </p:spPr>
      </p:pic>
      <p:pic>
        <p:nvPicPr>
          <p:cNvPr id="26" name="图片 25"/>
          <p:cNvPicPr/>
          <p:nvPr/>
        </p:nvPicPr>
        <p:blipFill>
          <a:blip r:embed="rId14"/>
          <a:stretch>
            <a:fillRect/>
          </a:stretch>
        </p:blipFill>
        <p:spPr>
          <a:xfrm>
            <a:off x="3675380" y="2400935"/>
            <a:ext cx="2420620" cy="419100"/>
          </a:xfrm>
          <a:prstGeom prst="rect">
            <a:avLst/>
          </a:prstGeom>
        </p:spPr>
      </p:pic>
      <p:pic>
        <p:nvPicPr>
          <p:cNvPr id="27" name="图片 26"/>
          <p:cNvPicPr/>
          <p:nvPr/>
        </p:nvPicPr>
        <p:blipFill>
          <a:blip r:embed="rId15"/>
          <a:stretch>
            <a:fillRect/>
          </a:stretch>
        </p:blipFill>
        <p:spPr>
          <a:xfrm>
            <a:off x="8221345" y="1924685"/>
            <a:ext cx="1752600" cy="238125"/>
          </a:xfrm>
          <a:prstGeom prst="rect">
            <a:avLst/>
          </a:prstGeom>
        </p:spPr>
      </p:pic>
      <p:pic>
        <p:nvPicPr>
          <p:cNvPr id="28" name="图片 27"/>
          <p:cNvPicPr/>
          <p:nvPr/>
        </p:nvPicPr>
        <p:blipFill>
          <a:blip r:embed="rId16"/>
          <a:stretch>
            <a:fillRect/>
          </a:stretch>
        </p:blipFill>
        <p:spPr>
          <a:xfrm>
            <a:off x="9977120" y="1924685"/>
            <a:ext cx="1640840" cy="238125"/>
          </a:xfrm>
          <a:prstGeom prst="rect">
            <a:avLst/>
          </a:prstGeom>
        </p:spPr>
      </p:pic>
      <p:pic>
        <p:nvPicPr>
          <p:cNvPr id="29" name="图片 28"/>
          <p:cNvPicPr/>
          <p:nvPr/>
        </p:nvPicPr>
        <p:blipFill>
          <a:blip r:embed="rId17"/>
          <a:stretch>
            <a:fillRect/>
          </a:stretch>
        </p:blipFill>
        <p:spPr>
          <a:xfrm>
            <a:off x="8221345" y="2257425"/>
            <a:ext cx="2534920" cy="238125"/>
          </a:xfrm>
          <a:prstGeom prst="rect">
            <a:avLst/>
          </a:prstGeom>
        </p:spPr>
      </p:pic>
      <p:pic>
        <p:nvPicPr>
          <p:cNvPr id="30" name="图片 29"/>
          <p:cNvPicPr/>
          <p:nvPr/>
        </p:nvPicPr>
        <p:blipFill>
          <a:blip r:embed="rId18"/>
          <a:stretch>
            <a:fillRect/>
          </a:stretch>
        </p:blipFill>
        <p:spPr>
          <a:xfrm>
            <a:off x="8221345" y="2562225"/>
            <a:ext cx="1391920" cy="238125"/>
          </a:xfrm>
          <a:prstGeom prst="rect">
            <a:avLst/>
          </a:prstGeom>
        </p:spPr>
      </p:pic>
      <p:pic>
        <p:nvPicPr>
          <p:cNvPr id="31" name="图片 30"/>
          <p:cNvPicPr/>
          <p:nvPr/>
        </p:nvPicPr>
        <p:blipFill>
          <a:blip r:embed="rId19"/>
          <a:stretch>
            <a:fillRect/>
          </a:stretch>
        </p:blipFill>
        <p:spPr>
          <a:xfrm>
            <a:off x="10140315" y="2543175"/>
            <a:ext cx="1289685" cy="257175"/>
          </a:xfrm>
          <a:prstGeom prst="rect">
            <a:avLst/>
          </a:prstGeom>
        </p:spPr>
      </p:pic>
      <p:sp>
        <p:nvSpPr>
          <p:cNvPr id="75" name="矩形 74"/>
          <p:cNvSpPr/>
          <p:nvPr/>
        </p:nvSpPr>
        <p:spPr>
          <a:xfrm>
            <a:off x="7640822" y="2882900"/>
            <a:ext cx="383540" cy="90868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光伏</a:t>
            </a:r>
          </a:p>
        </p:txBody>
      </p:sp>
      <p:sp>
        <p:nvSpPr>
          <p:cNvPr id="76" name="矩形 75"/>
          <p:cNvSpPr/>
          <p:nvPr/>
        </p:nvSpPr>
        <p:spPr>
          <a:xfrm>
            <a:off x="7640822" y="3787140"/>
            <a:ext cx="384175" cy="105791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风机</a:t>
            </a:r>
          </a:p>
        </p:txBody>
      </p:sp>
      <p:cxnSp>
        <p:nvCxnSpPr>
          <p:cNvPr id="77" name="直接连接符 76"/>
          <p:cNvCxnSpPr/>
          <p:nvPr/>
        </p:nvCxnSpPr>
        <p:spPr>
          <a:xfrm flipV="1">
            <a:off x="7647682" y="3772039"/>
            <a:ext cx="4097655" cy="17145"/>
          </a:xfrm>
          <a:prstGeom prst="lin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cxnSp>
      <p:pic>
        <p:nvPicPr>
          <p:cNvPr id="33" name="图片 32"/>
          <p:cNvPicPr/>
          <p:nvPr/>
        </p:nvPicPr>
        <p:blipFill>
          <a:blip r:embed="rId20"/>
          <a:stretch>
            <a:fillRect/>
          </a:stretch>
        </p:blipFill>
        <p:spPr>
          <a:xfrm>
            <a:off x="9001627" y="2918460"/>
            <a:ext cx="1694180" cy="257175"/>
          </a:xfrm>
          <a:prstGeom prst="rect">
            <a:avLst/>
          </a:prstGeom>
        </p:spPr>
      </p:pic>
      <p:pic>
        <p:nvPicPr>
          <p:cNvPr id="34" name="图片 33"/>
          <p:cNvPicPr/>
          <p:nvPr/>
        </p:nvPicPr>
        <p:blipFill>
          <a:blip r:embed="rId21"/>
          <a:stretch>
            <a:fillRect/>
          </a:stretch>
        </p:blipFill>
        <p:spPr>
          <a:xfrm>
            <a:off x="8084052" y="3220720"/>
            <a:ext cx="3529330" cy="472440"/>
          </a:xfrm>
          <a:prstGeom prst="rect">
            <a:avLst/>
          </a:prstGeom>
        </p:spPr>
      </p:pic>
      <p:pic>
        <p:nvPicPr>
          <p:cNvPr id="35" name="图片 34"/>
          <p:cNvPicPr/>
          <p:nvPr/>
        </p:nvPicPr>
        <p:blipFill>
          <a:blip r:embed="rId22"/>
          <a:stretch>
            <a:fillRect/>
          </a:stretch>
        </p:blipFill>
        <p:spPr>
          <a:xfrm>
            <a:off x="8045952" y="3806825"/>
            <a:ext cx="2089785" cy="461645"/>
          </a:xfrm>
          <a:prstGeom prst="rect">
            <a:avLst/>
          </a:prstGeom>
        </p:spPr>
      </p:pic>
      <p:pic>
        <p:nvPicPr>
          <p:cNvPr id="37" name="图片 36"/>
          <p:cNvPicPr/>
          <p:nvPr/>
        </p:nvPicPr>
        <p:blipFill>
          <a:blip r:embed="rId23"/>
          <a:stretch>
            <a:fillRect/>
          </a:stretch>
        </p:blipFill>
        <p:spPr>
          <a:xfrm>
            <a:off x="8045317" y="4269105"/>
            <a:ext cx="2090420" cy="542290"/>
          </a:xfrm>
          <a:prstGeom prst="rect">
            <a:avLst/>
          </a:prstGeom>
        </p:spPr>
      </p:pic>
      <p:pic>
        <p:nvPicPr>
          <p:cNvPr id="93" name="图片 92"/>
          <p:cNvPicPr>
            <a:picLocks noChangeAspect="1"/>
          </p:cNvPicPr>
          <p:nvPr/>
        </p:nvPicPr>
        <p:blipFill>
          <a:blip r:embed="rId24"/>
          <a:stretch>
            <a:fillRect/>
          </a:stretch>
        </p:blipFill>
        <p:spPr>
          <a:xfrm>
            <a:off x="10135737" y="3807460"/>
            <a:ext cx="1553845" cy="530225"/>
          </a:xfrm>
          <a:prstGeom prst="rect">
            <a:avLst/>
          </a:prstGeom>
        </p:spPr>
      </p:pic>
      <p:pic>
        <p:nvPicPr>
          <p:cNvPr id="95" name="图片 94"/>
          <p:cNvPicPr>
            <a:picLocks noChangeAspect="1"/>
          </p:cNvPicPr>
          <p:nvPr/>
        </p:nvPicPr>
        <p:blipFill>
          <a:blip r:embed="rId25"/>
          <a:stretch>
            <a:fillRect/>
          </a:stretch>
        </p:blipFill>
        <p:spPr>
          <a:xfrm>
            <a:off x="10140315" y="4361180"/>
            <a:ext cx="1703705" cy="564515"/>
          </a:xfrm>
          <a:prstGeom prst="rect">
            <a:avLst/>
          </a:prstGeom>
        </p:spPr>
      </p:pic>
      <p:sp>
        <p:nvSpPr>
          <p:cNvPr id="96" name="矩形 95"/>
          <p:cNvSpPr/>
          <p:nvPr/>
        </p:nvSpPr>
        <p:spPr>
          <a:xfrm>
            <a:off x="2779897" y="2879546"/>
            <a:ext cx="408305" cy="9620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微燃机</a:t>
            </a:r>
          </a:p>
        </p:txBody>
      </p:sp>
      <p:sp>
        <p:nvSpPr>
          <p:cNvPr id="97" name="矩形 96"/>
          <p:cNvSpPr/>
          <p:nvPr/>
        </p:nvSpPr>
        <p:spPr>
          <a:xfrm>
            <a:off x="2779897" y="3841571"/>
            <a:ext cx="408305" cy="847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400" dirty="0" smtClean="0">
                <a:solidFill>
                  <a:schemeClr val="tx1"/>
                </a:solidFill>
                <a:latin typeface="微软雅黑" panose="020B0503020204020204" pitchFamily="34" charset="-122"/>
                <a:ea typeface="微软雅黑" panose="020B0503020204020204" pitchFamily="34" charset="-122"/>
                <a:sym typeface="+mn-ea"/>
              </a:rPr>
              <a:t>燃气锅炉</a:t>
            </a:r>
          </a:p>
        </p:txBody>
      </p:sp>
      <p:cxnSp>
        <p:nvCxnSpPr>
          <p:cNvPr id="98" name="直接连接符 97"/>
          <p:cNvCxnSpPr/>
          <p:nvPr/>
        </p:nvCxnSpPr>
        <p:spPr>
          <a:xfrm>
            <a:off x="2775585" y="3860084"/>
            <a:ext cx="3803650" cy="3810"/>
          </a:xfrm>
          <a:prstGeom prst="lin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cxnSp>
      <p:pic>
        <p:nvPicPr>
          <p:cNvPr id="38" name="图片 37"/>
          <p:cNvPicPr/>
          <p:nvPr/>
        </p:nvPicPr>
        <p:blipFill>
          <a:blip r:embed="rId26"/>
          <a:stretch>
            <a:fillRect/>
          </a:stretch>
        </p:blipFill>
        <p:spPr>
          <a:xfrm>
            <a:off x="3871462" y="3051631"/>
            <a:ext cx="2028190" cy="483870"/>
          </a:xfrm>
          <a:prstGeom prst="rect">
            <a:avLst/>
          </a:prstGeom>
        </p:spPr>
      </p:pic>
      <p:pic>
        <p:nvPicPr>
          <p:cNvPr id="39" name="图片 38"/>
          <p:cNvPicPr/>
          <p:nvPr/>
        </p:nvPicPr>
        <p:blipFill>
          <a:blip r:embed="rId27"/>
          <a:stretch>
            <a:fillRect/>
          </a:stretch>
        </p:blipFill>
        <p:spPr>
          <a:xfrm>
            <a:off x="3922897" y="3562171"/>
            <a:ext cx="1723390" cy="241300"/>
          </a:xfrm>
          <a:prstGeom prst="rect">
            <a:avLst/>
          </a:prstGeom>
        </p:spPr>
      </p:pic>
      <p:pic>
        <p:nvPicPr>
          <p:cNvPr id="40" name="图片 39"/>
          <p:cNvPicPr/>
          <p:nvPr/>
        </p:nvPicPr>
        <p:blipFill>
          <a:blip r:embed="rId28"/>
          <a:stretch>
            <a:fillRect/>
          </a:stretch>
        </p:blipFill>
        <p:spPr>
          <a:xfrm>
            <a:off x="3756527" y="3957141"/>
            <a:ext cx="1890395" cy="306705"/>
          </a:xfrm>
          <a:prstGeom prst="rect">
            <a:avLst/>
          </a:prstGeom>
        </p:spPr>
      </p:pic>
      <p:pic>
        <p:nvPicPr>
          <p:cNvPr id="41" name="图片 40"/>
          <p:cNvPicPr/>
          <p:nvPr/>
        </p:nvPicPr>
        <p:blipFill>
          <a:blip r:embed="rId29"/>
          <a:stretch>
            <a:fillRect/>
          </a:stretch>
        </p:blipFill>
        <p:spPr>
          <a:xfrm>
            <a:off x="3756527" y="4327981"/>
            <a:ext cx="2143760" cy="292100"/>
          </a:xfrm>
          <a:prstGeom prst="rect">
            <a:avLst/>
          </a:prstGeom>
        </p:spPr>
      </p:pic>
      <p:pic>
        <p:nvPicPr>
          <p:cNvPr id="45" name="图片 44"/>
          <p:cNvPicPr>
            <a:picLocks noChangeAspect="1"/>
          </p:cNvPicPr>
          <p:nvPr/>
        </p:nvPicPr>
        <p:blipFill>
          <a:blip r:embed="rId30"/>
          <a:stretch>
            <a:fillRect/>
          </a:stretch>
        </p:blipFill>
        <p:spPr>
          <a:xfrm>
            <a:off x="2189956" y="4706441"/>
            <a:ext cx="4827270" cy="2139059"/>
          </a:xfrm>
          <a:prstGeom prst="rect">
            <a:avLst/>
          </a:prstGeom>
          <a:noFill/>
        </p:spPr>
      </p:pic>
      <p:sp>
        <p:nvSpPr>
          <p:cNvPr id="46" name="矩形 45"/>
          <p:cNvSpPr/>
          <p:nvPr/>
        </p:nvSpPr>
        <p:spPr bwMode="auto">
          <a:xfrm>
            <a:off x="7318375" y="828040"/>
            <a:ext cx="4438015" cy="197294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49" name="矩形 48"/>
          <p:cNvSpPr/>
          <p:nvPr/>
        </p:nvSpPr>
        <p:spPr bwMode="auto">
          <a:xfrm>
            <a:off x="2466842" y="2884626"/>
            <a:ext cx="4112260" cy="182181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50" name="矩形 49"/>
          <p:cNvSpPr/>
          <p:nvPr/>
        </p:nvSpPr>
        <p:spPr bwMode="auto">
          <a:xfrm>
            <a:off x="7313797" y="2882900"/>
            <a:ext cx="4438015" cy="197294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cxnSp>
        <p:nvCxnSpPr>
          <p:cNvPr id="24" name="直接连接符 23"/>
          <p:cNvCxnSpPr>
            <a:endCxn id="19" idx="3"/>
          </p:cNvCxnSpPr>
          <p:nvPr/>
        </p:nvCxnSpPr>
        <p:spPr>
          <a:xfrm flipV="1">
            <a:off x="2775585" y="1831975"/>
            <a:ext cx="3803650" cy="2540"/>
          </a:xfrm>
          <a:prstGeom prst="lin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48" name="直接连接符 47"/>
          <p:cNvCxnSpPr/>
          <p:nvPr/>
        </p:nvCxnSpPr>
        <p:spPr>
          <a:xfrm>
            <a:off x="7652385" y="1857375"/>
            <a:ext cx="4104005" cy="12700"/>
          </a:xfrm>
          <a:prstGeom prst="lin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cxnSp>
      <p:sp>
        <p:nvSpPr>
          <p:cNvPr id="51" name="文本框 50"/>
          <p:cNvSpPr txBox="1"/>
          <p:nvPr/>
        </p:nvSpPr>
        <p:spPr>
          <a:xfrm>
            <a:off x="7318375" y="5046345"/>
            <a:ext cx="4437380" cy="1753235"/>
          </a:xfrm>
          <a:prstGeom prst="rect">
            <a:avLst/>
          </a:prstGeom>
          <a:noFill/>
          <a:ln w="19050">
            <a:solidFill>
              <a:schemeClr val="accent1"/>
            </a:solidFill>
            <a:prstDash val="dash"/>
          </a:ln>
        </p:spPr>
        <p:txBody>
          <a:bodyPr wrap="square" rtlCol="0" anchor="t">
            <a:spAutoFit/>
          </a:bodyPr>
          <a:lstStyle/>
          <a:p>
            <a:r>
              <a:rPr lang="zh-CN" altLang="en-US" sz="1800" dirty="0">
                <a:latin typeface="微软雅黑" panose="020B0503020204020204" pitchFamily="34" charset="-122"/>
                <a:ea typeface="微软雅黑" panose="020B0503020204020204" pitchFamily="34" charset="-122"/>
                <a:sym typeface="+mn-ea"/>
              </a:rPr>
              <a:t>综合考虑多能聚合商的运行特性和可调节特性，对多能聚合商下属的</a:t>
            </a:r>
            <a:r>
              <a:rPr lang="zh-CN" altLang="en-US" sz="1800" dirty="0">
                <a:solidFill>
                  <a:srgbClr val="FF0000"/>
                </a:solidFill>
                <a:latin typeface="微软雅黑" panose="020B0503020204020204" pitchFamily="34" charset="-122"/>
                <a:ea typeface="微软雅黑" panose="020B0503020204020204" pitchFamily="34" charset="-122"/>
                <a:sym typeface="+mn-ea"/>
              </a:rPr>
              <a:t>可控负荷</a:t>
            </a:r>
            <a:r>
              <a:rPr lang="zh-CN" altLang="en-US" sz="1800" dirty="0">
                <a:latin typeface="微软雅黑" panose="020B0503020204020204" pitchFamily="34" charset="-122"/>
                <a:ea typeface="微软雅黑" panose="020B0503020204020204" pitchFamily="34" charset="-122"/>
                <a:sym typeface="+mn-ea"/>
              </a:rPr>
              <a:t>、</a:t>
            </a:r>
            <a:r>
              <a:rPr lang="zh-CN" altLang="en-US" sz="1800" dirty="0">
                <a:solidFill>
                  <a:srgbClr val="FF0000"/>
                </a:solidFill>
                <a:latin typeface="微软雅黑" panose="020B0503020204020204" pitchFamily="34" charset="-122"/>
                <a:ea typeface="微软雅黑" panose="020B0503020204020204" pitchFamily="34" charset="-122"/>
                <a:sym typeface="+mn-ea"/>
              </a:rPr>
              <a:t>储能、分布式电源和其他资源</a:t>
            </a:r>
            <a:r>
              <a:rPr lang="zh-CN" altLang="en-US" sz="1800" dirty="0">
                <a:latin typeface="微软雅黑" panose="020B0503020204020204" pitchFamily="34" charset="-122"/>
                <a:ea typeface="微软雅黑" panose="020B0503020204020204" pitchFamily="34" charset="-122"/>
                <a:sym typeface="+mn-ea"/>
              </a:rPr>
              <a:t>等异构资源进行建模。考虑可再生能源发电的不确定性，同时引入用户用电舒适度和对负荷需求响应的参与积极性。</a:t>
            </a:r>
          </a:p>
        </p:txBody>
      </p:sp>
    </p:spTree>
  </p:cSld>
  <p:clrMapOvr>
    <a:masterClrMapping/>
  </p:clrMapOvr>
  <mc:AlternateContent xmlns:mc="http://schemas.openxmlformats.org/markup-compatibility/2006" xmlns:p14="http://schemas.microsoft.com/office/powerpoint/2010/main">
    <mc:Choice Requires="p14">
      <p:transition p14:dur="0" advTm="36479"/>
    </mc:Choice>
    <mc:Fallback xmlns="">
      <p:transition advTm="36479"/>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圆角矩形 40"/>
          <p:cNvSpPr/>
          <p:nvPr/>
        </p:nvSpPr>
        <p:spPr>
          <a:xfrm>
            <a:off x="8099300" y="1211955"/>
            <a:ext cx="2015741" cy="3929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圆角矩形 38"/>
          <p:cNvSpPr/>
          <p:nvPr/>
        </p:nvSpPr>
        <p:spPr>
          <a:xfrm>
            <a:off x="3131060" y="1224020"/>
            <a:ext cx="2015741" cy="3929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674"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28682" name="标题 1"/>
          <p:cNvSpPr txBox="1"/>
          <p:nvPr/>
        </p:nvSpPr>
        <p:spPr>
          <a:xfrm>
            <a:off x="2620963" y="242888"/>
            <a:ext cx="95710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a:latin typeface="微软雅黑" panose="020B0503020204020204" pitchFamily="34" charset="-122"/>
                <a:ea typeface="微软雅黑" panose="020B0503020204020204" pitchFamily="34" charset="-122"/>
              </a:rPr>
              <a:t>1.2</a:t>
            </a:r>
            <a:r>
              <a:rPr lang="zh-CN" altLang="en-US" sz="3200" b="1" dirty="0">
                <a:latin typeface="微软雅黑" panose="020B0503020204020204" pitchFamily="34" charset="-122"/>
                <a:ea typeface="微软雅黑" panose="020B0503020204020204" pitchFamily="34" charset="-122"/>
              </a:rPr>
              <a:t>：</a:t>
            </a:r>
            <a:r>
              <a:rPr lang="zh-CN" altLang="en-US" sz="3200" b="1" kern="100" dirty="0" smtClean="0">
                <a:latin typeface="微软雅黑" panose="020B0503020204020204" pitchFamily="34" charset="-122"/>
                <a:ea typeface="微软雅黑" panose="020B0503020204020204" pitchFamily="34" charset="-122"/>
                <a:cs typeface="Times New Roman" panose="02020603050405020304" pitchFamily="18" charset="0"/>
                <a:sym typeface="+mn-ea"/>
              </a:rPr>
              <a:t>影响聚合商的内部风险</a:t>
            </a:r>
            <a:endParaRPr sz="3200" b="1" dirty="0">
              <a:latin typeface="微软雅黑" panose="020B0503020204020204" pitchFamily="34" charset="-122"/>
              <a:ea typeface="微软雅黑" panose="020B0503020204020204" pitchFamily="34" charset="-122"/>
            </a:endParaRPr>
          </a:p>
          <a:p>
            <a:pPr marL="0" lvl="0" indent="0" eaLnBrk="1" hangingPunct="1">
              <a:spcBef>
                <a:spcPct val="0"/>
              </a:spcBef>
              <a:buFontTx/>
              <a:buNone/>
            </a:pPr>
            <a:endParaRPr lang="zh-CN" altLang="en-US" sz="3200" b="1" dirty="0">
              <a:latin typeface="微软雅黑" panose="020B0503020204020204" pitchFamily="34" charset="-122"/>
              <a:ea typeface="微软雅黑" panose="020B0503020204020204" pitchFamily="34" charset="-122"/>
            </a:endParaRPr>
          </a:p>
        </p:txBody>
      </p:sp>
      <p:sp>
        <p:nvSpPr>
          <p:cNvPr id="28683" name="文本框 53"/>
          <p:cNvSpPr txBox="1"/>
          <p:nvPr/>
        </p:nvSpPr>
        <p:spPr>
          <a:xfrm>
            <a:off x="120650" y="29305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142" name="等腰三角形 141"/>
          <p:cNvSpPr/>
          <p:nvPr/>
        </p:nvSpPr>
        <p:spPr>
          <a:xfrm rot="16200000" flipV="1">
            <a:off x="1497013" y="3071813"/>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34" name="文本框 33"/>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35" name="文本框 34"/>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9" name="矩形 28"/>
          <p:cNvSpPr/>
          <p:nvPr/>
        </p:nvSpPr>
        <p:spPr>
          <a:xfrm>
            <a:off x="2039620" y="1116330"/>
            <a:ext cx="4586350" cy="253682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0" name="文本框 29"/>
          <p:cNvSpPr txBox="1"/>
          <p:nvPr/>
        </p:nvSpPr>
        <p:spPr>
          <a:xfrm>
            <a:off x="3115648" y="1235829"/>
            <a:ext cx="2031325"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smtClean="0">
                <a:solidFill>
                  <a:schemeClr val="bg1"/>
                </a:solidFill>
                <a:latin typeface="微软雅黑" panose="020B0503020204020204" pitchFamily="34" charset="-122"/>
                <a:ea typeface="微软雅黑" panose="020B0503020204020204" pitchFamily="34" charset="-122"/>
              </a:rPr>
              <a:t>风光出力不确定性</a:t>
            </a:r>
          </a:p>
        </p:txBody>
      </p:sp>
      <p:pic>
        <p:nvPicPr>
          <p:cNvPr id="31" name="图片 30"/>
          <p:cNvPicPr/>
          <p:nvPr/>
        </p:nvPicPr>
        <p:blipFill>
          <a:blip r:embed="rId5"/>
          <a:stretch>
            <a:fillRect/>
          </a:stretch>
        </p:blipFill>
        <p:spPr>
          <a:xfrm>
            <a:off x="2378219" y="1840821"/>
            <a:ext cx="3767937" cy="518795"/>
          </a:xfrm>
          <a:prstGeom prst="rect">
            <a:avLst/>
          </a:prstGeom>
        </p:spPr>
      </p:pic>
      <p:pic>
        <p:nvPicPr>
          <p:cNvPr id="32" name="图片 31"/>
          <p:cNvPicPr/>
          <p:nvPr/>
        </p:nvPicPr>
        <p:blipFill>
          <a:blip r:embed="rId6"/>
          <a:stretch>
            <a:fillRect/>
          </a:stretch>
        </p:blipFill>
        <p:spPr>
          <a:xfrm>
            <a:off x="2837057" y="2416577"/>
            <a:ext cx="2551342" cy="547687"/>
          </a:xfrm>
          <a:prstGeom prst="rect">
            <a:avLst/>
          </a:prstGeom>
        </p:spPr>
      </p:pic>
      <p:pic>
        <p:nvPicPr>
          <p:cNvPr id="33" name="图片 32"/>
          <p:cNvPicPr/>
          <p:nvPr/>
        </p:nvPicPr>
        <p:blipFill>
          <a:blip r:embed="rId7"/>
          <a:stretch>
            <a:fillRect/>
          </a:stretch>
        </p:blipFill>
        <p:spPr>
          <a:xfrm>
            <a:off x="2877185" y="3037430"/>
            <a:ext cx="2269616" cy="542558"/>
          </a:xfrm>
          <a:prstGeom prst="rect">
            <a:avLst/>
          </a:prstGeom>
        </p:spPr>
      </p:pic>
      <p:sp>
        <p:nvSpPr>
          <p:cNvPr id="40" name="文本框 39"/>
          <p:cNvSpPr txBox="1"/>
          <p:nvPr/>
        </p:nvSpPr>
        <p:spPr>
          <a:xfrm>
            <a:off x="8102938" y="1224399"/>
            <a:ext cx="2011680" cy="36830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smtClean="0">
                <a:solidFill>
                  <a:schemeClr val="bg1"/>
                </a:solidFill>
                <a:latin typeface="微软雅黑" panose="020B0503020204020204" pitchFamily="34" charset="-122"/>
                <a:ea typeface="微软雅黑" panose="020B0503020204020204" pitchFamily="34" charset="-122"/>
              </a:rPr>
              <a:t>用户行为不确定性</a:t>
            </a:r>
          </a:p>
        </p:txBody>
      </p:sp>
      <p:sp>
        <p:nvSpPr>
          <p:cNvPr id="42" name="矩形 41"/>
          <p:cNvSpPr/>
          <p:nvPr/>
        </p:nvSpPr>
        <p:spPr>
          <a:xfrm>
            <a:off x="6774044" y="1116330"/>
            <a:ext cx="4431801" cy="3560011"/>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43" name="图片 42"/>
          <p:cNvPicPr>
            <a:picLocks noChangeAspect="1"/>
          </p:cNvPicPr>
          <p:nvPr/>
        </p:nvPicPr>
        <p:blipFill>
          <a:blip r:embed="rId8"/>
          <a:stretch>
            <a:fillRect/>
          </a:stretch>
        </p:blipFill>
        <p:spPr>
          <a:xfrm>
            <a:off x="2039360" y="4016615"/>
            <a:ext cx="4461913" cy="2672837"/>
          </a:xfrm>
          <a:prstGeom prst="rect">
            <a:avLst/>
          </a:prstGeom>
        </p:spPr>
      </p:pic>
      <p:sp>
        <p:nvSpPr>
          <p:cNvPr id="44" name="矩形 43"/>
          <p:cNvSpPr/>
          <p:nvPr/>
        </p:nvSpPr>
        <p:spPr>
          <a:xfrm>
            <a:off x="2039620" y="3843655"/>
            <a:ext cx="4584440" cy="273653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5" name="文本框 44"/>
          <p:cNvSpPr txBox="1"/>
          <p:nvPr/>
        </p:nvSpPr>
        <p:spPr>
          <a:xfrm>
            <a:off x="6822329" y="1681346"/>
            <a:ext cx="111760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用户心理</a:t>
            </a:r>
          </a:p>
        </p:txBody>
      </p:sp>
      <p:graphicFrame>
        <p:nvGraphicFramePr>
          <p:cNvPr id="47" name="对象 46"/>
          <p:cNvGraphicFramePr/>
          <p:nvPr>
            <p:extLst>
              <p:ext uri="{D42A27DB-BD31-4B8C-83A1-F6EECF244321}">
                <p14:modId xmlns:p14="http://schemas.microsoft.com/office/powerpoint/2010/main" val="825047331"/>
              </p:ext>
            </p:extLst>
          </p:nvPr>
        </p:nvGraphicFramePr>
        <p:xfrm>
          <a:off x="7053933" y="2003023"/>
          <a:ext cx="1989618" cy="881305"/>
        </p:xfrm>
        <a:graphic>
          <a:graphicData uri="http://schemas.openxmlformats.org/presentationml/2006/ole">
            <mc:AlternateContent xmlns:mc="http://schemas.openxmlformats.org/markup-compatibility/2006">
              <mc:Choice xmlns:v="urn:schemas-microsoft-com:vml" Requires="v">
                <p:oleObj spid="_x0000_s3775" r:id="rId9" imgW="1814830" imgH="702310" progId="Equation.DSMT4">
                  <p:embed/>
                </p:oleObj>
              </mc:Choice>
              <mc:Fallback>
                <p:oleObj r:id="rId9" imgW="1814830" imgH="702310" progId="Equation.DSMT4">
                  <p:embed/>
                  <p:pic>
                    <p:nvPicPr>
                      <p:cNvPr id="0" name="图片 55"/>
                      <p:cNvPicPr/>
                      <p:nvPr/>
                    </p:nvPicPr>
                    <p:blipFill>
                      <a:blip r:embed="rId10"/>
                      <a:stretch>
                        <a:fillRect/>
                      </a:stretch>
                    </p:blipFill>
                    <p:spPr>
                      <a:xfrm>
                        <a:off x="7053933" y="2003023"/>
                        <a:ext cx="1989618" cy="881305"/>
                      </a:xfrm>
                      <a:prstGeom prst="rect">
                        <a:avLst/>
                      </a:prstGeom>
                    </p:spPr>
                  </p:pic>
                </p:oleObj>
              </mc:Fallback>
            </mc:AlternateContent>
          </a:graphicData>
        </a:graphic>
      </p:graphicFrame>
      <p:graphicFrame>
        <p:nvGraphicFramePr>
          <p:cNvPr id="58" name="对象 57"/>
          <p:cNvGraphicFramePr/>
          <p:nvPr>
            <p:extLst>
              <p:ext uri="{D42A27DB-BD31-4B8C-83A1-F6EECF244321}">
                <p14:modId xmlns:p14="http://schemas.microsoft.com/office/powerpoint/2010/main" val="872399248"/>
              </p:ext>
            </p:extLst>
          </p:nvPr>
        </p:nvGraphicFramePr>
        <p:xfrm>
          <a:off x="9154583" y="1995213"/>
          <a:ext cx="1920070" cy="850640"/>
        </p:xfrm>
        <a:graphic>
          <a:graphicData uri="http://schemas.openxmlformats.org/presentationml/2006/ole">
            <mc:AlternateContent xmlns:mc="http://schemas.openxmlformats.org/markup-compatibility/2006">
              <mc:Choice xmlns:v="urn:schemas-microsoft-com:vml" Requires="v">
                <p:oleObj spid="_x0000_s3776" r:id="rId11" imgW="1598930" imgH="697865" progId="Equation.DSMT4">
                  <p:embed/>
                </p:oleObj>
              </mc:Choice>
              <mc:Fallback>
                <p:oleObj r:id="rId11" imgW="1598930" imgH="697865" progId="Equation.DSMT4">
                  <p:embed/>
                  <p:pic>
                    <p:nvPicPr>
                      <p:cNvPr id="0" name="图片 58"/>
                      <p:cNvPicPr/>
                      <p:nvPr/>
                    </p:nvPicPr>
                    <p:blipFill>
                      <a:blip r:embed="rId12"/>
                      <a:stretch>
                        <a:fillRect/>
                      </a:stretch>
                    </p:blipFill>
                    <p:spPr>
                      <a:xfrm>
                        <a:off x="9154583" y="1995213"/>
                        <a:ext cx="1920070" cy="850640"/>
                      </a:xfrm>
                      <a:prstGeom prst="rect">
                        <a:avLst/>
                      </a:prstGeom>
                    </p:spPr>
                  </p:pic>
                </p:oleObj>
              </mc:Fallback>
            </mc:AlternateContent>
          </a:graphicData>
        </a:graphic>
      </p:graphicFrame>
      <p:graphicFrame>
        <p:nvGraphicFramePr>
          <p:cNvPr id="60" name="对象 59"/>
          <p:cNvGraphicFramePr/>
          <p:nvPr>
            <p:extLst>
              <p:ext uri="{D42A27DB-BD31-4B8C-83A1-F6EECF244321}">
                <p14:modId xmlns:p14="http://schemas.microsoft.com/office/powerpoint/2010/main" val="1794377741"/>
              </p:ext>
            </p:extLst>
          </p:nvPr>
        </p:nvGraphicFramePr>
        <p:xfrm>
          <a:off x="7043344" y="2902483"/>
          <a:ext cx="1532519" cy="506781"/>
        </p:xfrm>
        <a:graphic>
          <a:graphicData uri="http://schemas.openxmlformats.org/presentationml/2006/ole">
            <mc:AlternateContent xmlns:mc="http://schemas.openxmlformats.org/markup-compatibility/2006">
              <mc:Choice xmlns:v="urn:schemas-microsoft-com:vml" Requires="v">
                <p:oleObj spid="_x0000_s3777" r:id="rId13" imgW="1397000" imgH="431800" progId="Equation.DSMT4">
                  <p:embed/>
                </p:oleObj>
              </mc:Choice>
              <mc:Fallback>
                <p:oleObj r:id="rId13" imgW="1397000" imgH="431800" progId="Equation.DSMT4">
                  <p:embed/>
                  <p:pic>
                    <p:nvPicPr>
                      <p:cNvPr id="0" name="图片 60"/>
                      <p:cNvPicPr/>
                      <p:nvPr/>
                    </p:nvPicPr>
                    <p:blipFill>
                      <a:blip r:embed="rId14"/>
                      <a:stretch>
                        <a:fillRect/>
                      </a:stretch>
                    </p:blipFill>
                    <p:spPr>
                      <a:xfrm>
                        <a:off x="7043344" y="2902483"/>
                        <a:ext cx="1532519" cy="506781"/>
                      </a:xfrm>
                      <a:prstGeom prst="rect">
                        <a:avLst/>
                      </a:prstGeom>
                    </p:spPr>
                  </p:pic>
                </p:oleObj>
              </mc:Fallback>
            </mc:AlternateContent>
          </a:graphicData>
        </a:graphic>
      </p:graphicFrame>
      <p:graphicFrame>
        <p:nvGraphicFramePr>
          <p:cNvPr id="64" name="对象 63"/>
          <p:cNvGraphicFramePr/>
          <p:nvPr>
            <p:extLst>
              <p:ext uri="{D42A27DB-BD31-4B8C-83A1-F6EECF244321}">
                <p14:modId xmlns:p14="http://schemas.microsoft.com/office/powerpoint/2010/main" val="425936882"/>
              </p:ext>
            </p:extLst>
          </p:nvPr>
        </p:nvGraphicFramePr>
        <p:xfrm>
          <a:off x="9093940" y="2962232"/>
          <a:ext cx="2017861" cy="617756"/>
        </p:xfrm>
        <a:graphic>
          <a:graphicData uri="http://schemas.openxmlformats.org/presentationml/2006/ole">
            <mc:AlternateContent xmlns:mc="http://schemas.openxmlformats.org/markup-compatibility/2006">
              <mc:Choice xmlns:v="urn:schemas-microsoft-com:vml" Requires="v">
                <p:oleObj spid="_x0000_s3778" r:id="rId15" imgW="1930400" imgH="558800" progId="Equation.DSMT4">
                  <p:embed/>
                </p:oleObj>
              </mc:Choice>
              <mc:Fallback>
                <p:oleObj r:id="rId15" imgW="1930400" imgH="558800" progId="Equation.DSMT4">
                  <p:embed/>
                  <p:pic>
                    <p:nvPicPr>
                      <p:cNvPr id="0" name="图片 64"/>
                      <p:cNvPicPr/>
                      <p:nvPr/>
                    </p:nvPicPr>
                    <p:blipFill>
                      <a:blip r:embed="rId16"/>
                      <a:stretch>
                        <a:fillRect/>
                      </a:stretch>
                    </p:blipFill>
                    <p:spPr>
                      <a:xfrm>
                        <a:off x="9093940" y="2962232"/>
                        <a:ext cx="2017861" cy="617756"/>
                      </a:xfrm>
                      <a:prstGeom prst="rect">
                        <a:avLst/>
                      </a:prstGeom>
                    </p:spPr>
                  </p:pic>
                </p:oleObj>
              </mc:Fallback>
            </mc:AlternateContent>
          </a:graphicData>
        </a:graphic>
      </p:graphicFrame>
      <p:sp>
        <p:nvSpPr>
          <p:cNvPr id="66" name="文本框 65"/>
          <p:cNvSpPr txBox="1"/>
          <p:nvPr/>
        </p:nvSpPr>
        <p:spPr>
          <a:xfrm>
            <a:off x="6904735" y="3486517"/>
            <a:ext cx="111760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激励水平</a:t>
            </a:r>
          </a:p>
        </p:txBody>
      </p:sp>
      <p:graphicFrame>
        <p:nvGraphicFramePr>
          <p:cNvPr id="67" name="对象 66"/>
          <p:cNvGraphicFramePr/>
          <p:nvPr>
            <p:extLst>
              <p:ext uri="{D42A27DB-BD31-4B8C-83A1-F6EECF244321}">
                <p14:modId xmlns:p14="http://schemas.microsoft.com/office/powerpoint/2010/main" val="1337290429"/>
              </p:ext>
            </p:extLst>
          </p:nvPr>
        </p:nvGraphicFramePr>
        <p:xfrm>
          <a:off x="7153444" y="3828321"/>
          <a:ext cx="3856821" cy="764172"/>
        </p:xfrm>
        <a:graphic>
          <a:graphicData uri="http://schemas.openxmlformats.org/presentationml/2006/ole">
            <mc:AlternateContent xmlns:mc="http://schemas.openxmlformats.org/markup-compatibility/2006">
              <mc:Choice xmlns:v="urn:schemas-microsoft-com:vml" Requires="v">
                <p:oleObj spid="_x0000_s3779" r:id="rId17" imgW="3672840" imgH="737235" progId="Equation.DSMT4">
                  <p:embed/>
                </p:oleObj>
              </mc:Choice>
              <mc:Fallback>
                <p:oleObj r:id="rId17" imgW="3672840" imgH="737235" progId="Equation.DSMT4">
                  <p:embed/>
                  <p:pic>
                    <p:nvPicPr>
                      <p:cNvPr id="0" name="图片 67"/>
                      <p:cNvPicPr/>
                      <p:nvPr/>
                    </p:nvPicPr>
                    <p:blipFill>
                      <a:blip r:embed="rId18"/>
                      <a:stretch>
                        <a:fillRect/>
                      </a:stretch>
                    </p:blipFill>
                    <p:spPr>
                      <a:xfrm>
                        <a:off x="7153444" y="3828321"/>
                        <a:ext cx="3856821" cy="764172"/>
                      </a:xfrm>
                      <a:prstGeom prst="rect">
                        <a:avLst/>
                      </a:prstGeom>
                    </p:spPr>
                  </p:pic>
                </p:oleObj>
              </mc:Fallback>
            </mc:AlternateContent>
          </a:graphicData>
        </a:graphic>
      </p:graphicFrame>
      <p:sp>
        <p:nvSpPr>
          <p:cNvPr id="71" name="文本框 70"/>
          <p:cNvSpPr txBox="1"/>
          <p:nvPr/>
        </p:nvSpPr>
        <p:spPr>
          <a:xfrm>
            <a:off x="3027378" y="3907472"/>
            <a:ext cx="2608924" cy="30816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400" b="1" dirty="0">
                <a:latin typeface="微软雅黑" panose="020B0503020204020204" pitchFamily="34" charset="-122"/>
                <a:ea typeface="微软雅黑" panose="020B0503020204020204" pitchFamily="34" charset="-122"/>
              </a:rPr>
              <a:t>基于</a:t>
            </a:r>
            <a:r>
              <a:rPr lang="en-US" altLang="zh-CN" sz="1400" b="1" dirty="0">
                <a:latin typeface="微软雅黑" panose="020B0503020204020204" pitchFamily="34" charset="-122"/>
                <a:ea typeface="微软雅黑" panose="020B0503020204020204" pitchFamily="34" charset="-122"/>
              </a:rPr>
              <a:t>LHS</a:t>
            </a:r>
            <a:r>
              <a:rPr lang="zh-CN" altLang="en-US" sz="1400" b="1" dirty="0">
                <a:latin typeface="微软雅黑" panose="020B0503020204020204" pitchFamily="34" charset="-122"/>
                <a:ea typeface="微软雅黑" panose="020B0503020204020204" pitchFamily="34" charset="-122"/>
              </a:rPr>
              <a:t>的场景生成法</a:t>
            </a:r>
            <a:endParaRPr lang="en-US" altLang="zh-CN" sz="1400" b="1" dirty="0">
              <a:latin typeface="微软雅黑" panose="020B0503020204020204" pitchFamily="34" charset="-122"/>
              <a:ea typeface="微软雅黑" panose="020B0503020204020204" pitchFamily="34" charset="-122"/>
            </a:endParaRPr>
          </a:p>
        </p:txBody>
      </p:sp>
      <p:sp>
        <p:nvSpPr>
          <p:cNvPr id="72" name="矩形 71"/>
          <p:cNvSpPr/>
          <p:nvPr/>
        </p:nvSpPr>
        <p:spPr>
          <a:xfrm>
            <a:off x="6774044" y="4831714"/>
            <a:ext cx="4431801" cy="174847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3" name="文本框 72"/>
          <p:cNvSpPr txBox="1"/>
          <p:nvPr/>
        </p:nvSpPr>
        <p:spPr>
          <a:xfrm>
            <a:off x="6903920" y="4950929"/>
            <a:ext cx="165100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(1)拉丁超立方生成</a:t>
            </a:r>
          </a:p>
        </p:txBody>
      </p:sp>
      <p:sp>
        <p:nvSpPr>
          <p:cNvPr id="75" name="文本框 74"/>
          <p:cNvSpPr txBox="1"/>
          <p:nvPr/>
        </p:nvSpPr>
        <p:spPr>
          <a:xfrm>
            <a:off x="8174619" y="5257050"/>
            <a:ext cx="5384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采样</a:t>
            </a:r>
            <a:endParaRPr lang="zh-CN" altLang="en-US" sz="1600" dirty="0"/>
          </a:p>
        </p:txBody>
      </p:sp>
      <p:sp>
        <p:nvSpPr>
          <p:cNvPr id="77" name="文本框 76"/>
          <p:cNvSpPr txBox="1"/>
          <p:nvPr/>
        </p:nvSpPr>
        <p:spPr>
          <a:xfrm>
            <a:off x="8174690" y="5597075"/>
            <a:ext cx="5384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排列</a:t>
            </a:r>
            <a:endParaRPr lang="zh-CN" altLang="en-US" sz="1600" dirty="0"/>
          </a:p>
        </p:txBody>
      </p:sp>
      <p:pic>
        <p:nvPicPr>
          <p:cNvPr id="78" name="图片 77"/>
          <p:cNvPicPr/>
          <p:nvPr/>
        </p:nvPicPr>
        <p:blipFill>
          <a:blip r:embed="rId19"/>
          <a:stretch>
            <a:fillRect/>
          </a:stretch>
        </p:blipFill>
        <p:spPr>
          <a:xfrm>
            <a:off x="8713359" y="5272606"/>
            <a:ext cx="887095" cy="291465"/>
          </a:xfrm>
          <a:prstGeom prst="rect">
            <a:avLst/>
          </a:prstGeom>
        </p:spPr>
      </p:pic>
      <p:pic>
        <p:nvPicPr>
          <p:cNvPr id="79" name="图片 78"/>
          <p:cNvPicPr/>
          <p:nvPr/>
        </p:nvPicPr>
        <p:blipFill>
          <a:blip r:embed="rId20"/>
          <a:stretch>
            <a:fillRect/>
          </a:stretch>
        </p:blipFill>
        <p:spPr>
          <a:xfrm>
            <a:off x="8713359" y="5629476"/>
            <a:ext cx="1236980" cy="275590"/>
          </a:xfrm>
          <a:prstGeom prst="rect">
            <a:avLst/>
          </a:prstGeom>
        </p:spPr>
      </p:pic>
      <p:sp>
        <p:nvSpPr>
          <p:cNvPr id="80" name="文本框 79"/>
          <p:cNvSpPr txBox="1"/>
          <p:nvPr/>
        </p:nvSpPr>
        <p:spPr>
          <a:xfrm>
            <a:off x="6909951" y="5902845"/>
            <a:ext cx="213360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rPr>
              <a:t>Kantorovich</a:t>
            </a: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距离削减</a:t>
            </a:r>
          </a:p>
        </p:txBody>
      </p:sp>
      <p:sp>
        <p:nvSpPr>
          <p:cNvPr id="81" name="文本框 80"/>
          <p:cNvSpPr txBox="1"/>
          <p:nvPr/>
        </p:nvSpPr>
        <p:spPr>
          <a:xfrm>
            <a:off x="7939929" y="5257366"/>
            <a:ext cx="360680" cy="306705"/>
          </a:xfrm>
          <a:prstGeom prst="rect">
            <a:avLst/>
          </a:prstGeom>
          <a:noFill/>
        </p:spPr>
        <p:txBody>
          <a:bodyPr wrap="none" rtlCol="0" anchor="t">
            <a:spAutoFit/>
          </a:bodyPr>
          <a:lstStyle/>
          <a:p>
            <a:r>
              <a:rPr lang="zh-CN" altLang="en-US" sz="1400"/>
              <a:t>①</a:t>
            </a:r>
          </a:p>
        </p:txBody>
      </p:sp>
      <p:sp>
        <p:nvSpPr>
          <p:cNvPr id="82" name="文本框 81"/>
          <p:cNvSpPr txBox="1"/>
          <p:nvPr/>
        </p:nvSpPr>
        <p:spPr>
          <a:xfrm>
            <a:off x="7939929" y="5629476"/>
            <a:ext cx="360680" cy="306705"/>
          </a:xfrm>
          <a:prstGeom prst="rect">
            <a:avLst/>
          </a:prstGeom>
          <a:noFill/>
        </p:spPr>
        <p:txBody>
          <a:bodyPr wrap="none" rtlCol="0" anchor="t">
            <a:spAutoFit/>
          </a:bodyPr>
          <a:lstStyle/>
          <a:p>
            <a:r>
              <a:rPr lang="zh-CN" altLang="en-US" sz="1400"/>
              <a:t>②</a:t>
            </a:r>
          </a:p>
        </p:txBody>
      </p:sp>
      <p:graphicFrame>
        <p:nvGraphicFramePr>
          <p:cNvPr id="83" name="对象 82"/>
          <p:cNvGraphicFramePr/>
          <p:nvPr>
            <p:extLst>
              <p:ext uri="{D42A27DB-BD31-4B8C-83A1-F6EECF244321}">
                <p14:modId xmlns:p14="http://schemas.microsoft.com/office/powerpoint/2010/main" val="330906731"/>
              </p:ext>
            </p:extLst>
          </p:nvPr>
        </p:nvGraphicFramePr>
        <p:xfrm>
          <a:off x="7993946" y="6273958"/>
          <a:ext cx="1991995" cy="248285"/>
        </p:xfrm>
        <a:graphic>
          <a:graphicData uri="http://schemas.openxmlformats.org/presentationml/2006/ole">
            <mc:AlternateContent xmlns:mc="http://schemas.openxmlformats.org/markup-compatibility/2006">
              <mc:Choice xmlns:v="urn:schemas-microsoft-com:vml" Requires="v">
                <p:oleObj spid="_x0000_s3780" r:id="rId21" imgW="1879600" imgH="241300" progId="Equation.DSMT4">
                  <p:embed/>
                </p:oleObj>
              </mc:Choice>
              <mc:Fallback>
                <p:oleObj r:id="rId21" imgW="1879600" imgH="241300" progId="Equation.DSMT4">
                  <p:embed/>
                  <p:pic>
                    <p:nvPicPr>
                      <p:cNvPr id="0" name="图片 83"/>
                      <p:cNvPicPr/>
                      <p:nvPr/>
                    </p:nvPicPr>
                    <p:blipFill>
                      <a:blip r:embed="rId22"/>
                      <a:stretch>
                        <a:fillRect/>
                      </a:stretch>
                    </p:blipFill>
                    <p:spPr>
                      <a:xfrm>
                        <a:off x="7993946" y="6273958"/>
                        <a:ext cx="1991995" cy="24828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advTm="18751"/>
    </mc:Choice>
    <mc:Fallback xmlns="">
      <p:transition advTm="1875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30730" name="标题 1"/>
          <p:cNvSpPr txBox="1"/>
          <p:nvPr/>
        </p:nvSpPr>
        <p:spPr>
          <a:xfrm>
            <a:off x="2621280" y="243205"/>
            <a:ext cx="9074785"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a:latin typeface="微软雅黑" panose="020B0503020204020204" pitchFamily="34" charset="-122"/>
                <a:ea typeface="微软雅黑" panose="020B0503020204020204" pitchFamily="34" charset="-122"/>
              </a:rPr>
              <a:t>1.3</a:t>
            </a:r>
            <a:r>
              <a:rPr lang="zh-CN" altLang="en-US" sz="3200" b="1" dirty="0">
                <a:latin typeface="微软雅黑" panose="020B0503020204020204" pitchFamily="34" charset="-122"/>
                <a:ea typeface="微软雅黑" panose="020B0503020204020204" pitchFamily="34" charset="-122"/>
              </a:rPr>
              <a:t>：</a:t>
            </a:r>
            <a:r>
              <a:rPr lang="zh-CN" altLang="en-US" sz="3200" b="1" kern="100" dirty="0" smtClean="0">
                <a:latin typeface="微软雅黑" panose="020B0503020204020204" pitchFamily="34" charset="-122"/>
                <a:ea typeface="微软雅黑" panose="020B0503020204020204" pitchFamily="34" charset="-122"/>
                <a:cs typeface="Times New Roman" panose="02020603050405020304" pitchFamily="18" charset="0"/>
                <a:sym typeface="+mn-ea"/>
              </a:rPr>
              <a:t>内部不确定风险度量及聚合商成本建模</a:t>
            </a:r>
            <a:endParaRPr lang="zh-CN" altLang="en-US" sz="3200" b="1" dirty="0">
              <a:latin typeface="微软雅黑" panose="020B0503020204020204" pitchFamily="34" charset="-122"/>
              <a:ea typeface="微软雅黑" panose="020B0503020204020204" pitchFamily="34" charset="-122"/>
            </a:endParaRPr>
          </a:p>
        </p:txBody>
      </p:sp>
      <p:sp>
        <p:nvSpPr>
          <p:cNvPr id="30731" name="文本框 53"/>
          <p:cNvSpPr txBox="1"/>
          <p:nvPr/>
        </p:nvSpPr>
        <p:spPr>
          <a:xfrm>
            <a:off x="120650" y="29305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142" name="等腰三角形 141"/>
          <p:cNvSpPr/>
          <p:nvPr/>
        </p:nvSpPr>
        <p:spPr>
          <a:xfrm rot="16200000" flipV="1">
            <a:off x="1497013" y="3071813"/>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58" name="文本框 57"/>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9" name="文本框 58"/>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9" name="矩形 28"/>
          <p:cNvSpPr/>
          <p:nvPr/>
        </p:nvSpPr>
        <p:spPr>
          <a:xfrm>
            <a:off x="2039620" y="1116330"/>
            <a:ext cx="4183380" cy="338010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6" name="圆角矩形 55"/>
          <p:cNvSpPr/>
          <p:nvPr/>
        </p:nvSpPr>
        <p:spPr>
          <a:xfrm>
            <a:off x="3123440" y="1284345"/>
            <a:ext cx="2015741" cy="3929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条件风险价值</a:t>
            </a:r>
          </a:p>
        </p:txBody>
      </p:sp>
      <p:sp>
        <p:nvSpPr>
          <p:cNvPr id="11" name="文本框 10"/>
          <p:cNvSpPr txBox="1"/>
          <p:nvPr/>
        </p:nvSpPr>
        <p:spPr>
          <a:xfrm>
            <a:off x="2092325" y="1857375"/>
            <a:ext cx="4003675" cy="1568450"/>
          </a:xfrm>
          <a:prstGeom prst="rect">
            <a:avLst/>
          </a:prstGeom>
          <a:noFill/>
        </p:spPr>
        <p:txBody>
          <a:bodyPr wrap="square" rtlCol="0" anchor="t">
            <a:spAutoFit/>
          </a:bodyPr>
          <a:lstStyle/>
          <a:p>
            <a:pPr algn="just"/>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聚合</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商作为营利机构，会追求在风险一定的情况下</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希望</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成本</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能</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达到</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最</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小</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而</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成本一定</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情况下，寻求风险最小</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由于聚合商内部不确定因素带来的风险难以直观表现，因此采用条件风险价值</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sym typeface="+mn-ea"/>
              </a:rPr>
              <a:t>CVaR)</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来量化内部风险可能造成的潜在</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损失。</a:t>
            </a:r>
          </a:p>
        </p:txBody>
      </p:sp>
      <p:graphicFrame>
        <p:nvGraphicFramePr>
          <p:cNvPr id="12" name="对象 11"/>
          <p:cNvGraphicFramePr/>
          <p:nvPr/>
        </p:nvGraphicFramePr>
        <p:xfrm>
          <a:off x="2238693" y="3469005"/>
          <a:ext cx="3759835" cy="566420"/>
        </p:xfrm>
        <a:graphic>
          <a:graphicData uri="http://schemas.openxmlformats.org/presentationml/2006/ole">
            <mc:AlternateContent xmlns:mc="http://schemas.openxmlformats.org/markup-compatibility/2006">
              <mc:Choice xmlns:v="urn:schemas-microsoft-com:vml" Requires="v">
                <p:oleObj spid="_x0000_s23030" r:id="rId5" imgW="3482340" imgH="515620" progId="Equation.DSMT4">
                  <p:embed/>
                </p:oleObj>
              </mc:Choice>
              <mc:Fallback>
                <p:oleObj r:id="rId5" imgW="3482340" imgH="515620" progId="Equation.DSMT4">
                  <p:embed/>
                  <p:pic>
                    <p:nvPicPr>
                      <p:cNvPr id="0" name="图片 13"/>
                      <p:cNvPicPr/>
                      <p:nvPr/>
                    </p:nvPicPr>
                    <p:blipFill>
                      <a:blip r:embed="rId6"/>
                      <a:stretch>
                        <a:fillRect/>
                      </a:stretch>
                    </p:blipFill>
                    <p:spPr>
                      <a:xfrm>
                        <a:off x="2238693" y="3469005"/>
                        <a:ext cx="3759835" cy="566420"/>
                      </a:xfrm>
                      <a:prstGeom prst="rect">
                        <a:avLst/>
                      </a:prstGeom>
                    </p:spPr>
                  </p:pic>
                </p:oleObj>
              </mc:Fallback>
            </mc:AlternateContent>
          </a:graphicData>
        </a:graphic>
      </p:graphicFrame>
      <p:graphicFrame>
        <p:nvGraphicFramePr>
          <p:cNvPr id="19" name="对象 18"/>
          <p:cNvGraphicFramePr/>
          <p:nvPr/>
        </p:nvGraphicFramePr>
        <p:xfrm>
          <a:off x="2783840" y="4170045"/>
          <a:ext cx="2289810" cy="276860"/>
        </p:xfrm>
        <a:graphic>
          <a:graphicData uri="http://schemas.openxmlformats.org/presentationml/2006/ole">
            <mc:AlternateContent xmlns:mc="http://schemas.openxmlformats.org/markup-compatibility/2006">
              <mc:Choice xmlns:v="urn:schemas-microsoft-com:vml" Requires="v">
                <p:oleObj spid="_x0000_s23031" r:id="rId7" imgW="2010410" imgH="313055" progId="Equation.DSMT4">
                  <p:embed/>
                </p:oleObj>
              </mc:Choice>
              <mc:Fallback>
                <p:oleObj r:id="rId7" imgW="2010410" imgH="313055" progId="Equation.DSMT4">
                  <p:embed/>
                  <p:pic>
                    <p:nvPicPr>
                      <p:cNvPr id="0" name="图片 19"/>
                      <p:cNvPicPr/>
                      <p:nvPr/>
                    </p:nvPicPr>
                    <p:blipFill>
                      <a:blip r:embed="rId8"/>
                      <a:stretch>
                        <a:fillRect/>
                      </a:stretch>
                    </p:blipFill>
                    <p:spPr>
                      <a:xfrm>
                        <a:off x="2783840" y="4170045"/>
                        <a:ext cx="2289810" cy="276860"/>
                      </a:xfrm>
                      <a:prstGeom prst="rect">
                        <a:avLst/>
                      </a:prstGeom>
                    </p:spPr>
                  </p:pic>
                </p:oleObj>
              </mc:Fallback>
            </mc:AlternateContent>
          </a:graphicData>
        </a:graphic>
      </p:graphicFrame>
      <p:sp>
        <p:nvSpPr>
          <p:cNvPr id="22" name="矩形 21"/>
          <p:cNvSpPr/>
          <p:nvPr/>
        </p:nvSpPr>
        <p:spPr>
          <a:xfrm>
            <a:off x="2039620" y="4611370"/>
            <a:ext cx="4183380" cy="212852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39" name="图片 38"/>
          <p:cNvPicPr>
            <a:picLocks noChangeAspect="1"/>
          </p:cNvPicPr>
          <p:nvPr/>
        </p:nvPicPr>
        <p:blipFill>
          <a:blip r:embed="rId9"/>
          <a:stretch>
            <a:fillRect/>
          </a:stretch>
        </p:blipFill>
        <p:spPr>
          <a:xfrm>
            <a:off x="2039620" y="4750435"/>
            <a:ext cx="4130040" cy="2176145"/>
          </a:xfrm>
          <a:prstGeom prst="rect">
            <a:avLst/>
          </a:prstGeom>
        </p:spPr>
      </p:pic>
      <p:sp>
        <p:nvSpPr>
          <p:cNvPr id="23" name="矩形 22"/>
          <p:cNvSpPr/>
          <p:nvPr/>
        </p:nvSpPr>
        <p:spPr>
          <a:xfrm>
            <a:off x="6479539" y="1116330"/>
            <a:ext cx="5577979" cy="562419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圆角矩形 23"/>
          <p:cNvSpPr/>
          <p:nvPr/>
        </p:nvSpPr>
        <p:spPr>
          <a:xfrm>
            <a:off x="7741920" y="1283970"/>
            <a:ext cx="3213735"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计及</a:t>
            </a:r>
            <a:r>
              <a:rPr lang="en-US" altLang="zh-CN" dirty="0" err="1">
                <a:latin typeface="微软雅黑" panose="020B0503020204020204" pitchFamily="34" charset="-122"/>
                <a:ea typeface="微软雅黑" panose="020B0503020204020204" pitchFamily="34" charset="-122"/>
              </a:rPr>
              <a:t>CVaR</a:t>
            </a:r>
            <a:r>
              <a:rPr lang="zh-CN" altLang="en-US" dirty="0">
                <a:latin typeface="微软雅黑" panose="020B0503020204020204" pitchFamily="34" charset="-122"/>
                <a:ea typeface="微软雅黑" panose="020B0503020204020204" pitchFamily="34" charset="-122"/>
              </a:rPr>
              <a:t>的聚合商成本建模</a:t>
            </a:r>
          </a:p>
        </p:txBody>
      </p:sp>
      <p:sp>
        <p:nvSpPr>
          <p:cNvPr id="26" name="文本框 25"/>
          <p:cNvSpPr txBox="1"/>
          <p:nvPr/>
        </p:nvSpPr>
        <p:spPr>
          <a:xfrm>
            <a:off x="6625870" y="1923683"/>
            <a:ext cx="186055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聚合商成本建模</a:t>
            </a:r>
          </a:p>
        </p:txBody>
      </p:sp>
      <p:sp>
        <p:nvSpPr>
          <p:cNvPr id="25" name="矩形 24"/>
          <p:cNvSpPr/>
          <p:nvPr/>
        </p:nvSpPr>
        <p:spPr>
          <a:xfrm>
            <a:off x="6551295" y="2262505"/>
            <a:ext cx="5461634" cy="139065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8" name="文本框 47"/>
          <p:cNvSpPr txBox="1"/>
          <p:nvPr/>
        </p:nvSpPr>
        <p:spPr>
          <a:xfrm>
            <a:off x="6593066" y="2509153"/>
            <a:ext cx="10718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400" dirty="0">
                <a:latin typeface="微软雅黑" panose="020B0503020204020204" pitchFamily="34" charset="-122"/>
                <a:ea typeface="微软雅黑" panose="020B0503020204020204" pitchFamily="34" charset="-122"/>
                <a:cs typeface="微软雅黑" panose="020B0503020204020204" pitchFamily="34" charset="-122"/>
              </a:rPr>
              <a:t>①电聚合商</a:t>
            </a:r>
          </a:p>
        </p:txBody>
      </p:sp>
      <p:graphicFrame>
        <p:nvGraphicFramePr>
          <p:cNvPr id="27" name="对象 26"/>
          <p:cNvGraphicFramePr/>
          <p:nvPr/>
        </p:nvGraphicFramePr>
        <p:xfrm>
          <a:off x="7646988" y="2482215"/>
          <a:ext cx="4176395" cy="341630"/>
        </p:xfrm>
        <a:graphic>
          <a:graphicData uri="http://schemas.openxmlformats.org/presentationml/2006/ole">
            <mc:AlternateContent xmlns:mc="http://schemas.openxmlformats.org/markup-compatibility/2006">
              <mc:Choice xmlns:v="urn:schemas-microsoft-com:vml" Requires="v">
                <p:oleObj spid="_x0000_s23032" r:id="rId10" imgW="3921760" imgH="287020" progId="Equation.DSMT4">
                  <p:embed/>
                </p:oleObj>
              </mc:Choice>
              <mc:Fallback>
                <p:oleObj r:id="rId10" imgW="3921760" imgH="287020" progId="Equation.DSMT4">
                  <p:embed/>
                  <p:pic>
                    <p:nvPicPr>
                      <p:cNvPr id="0" name="图片 27"/>
                      <p:cNvPicPr/>
                      <p:nvPr/>
                    </p:nvPicPr>
                    <p:blipFill>
                      <a:blip r:embed="rId11"/>
                      <a:stretch>
                        <a:fillRect/>
                      </a:stretch>
                    </p:blipFill>
                    <p:spPr>
                      <a:xfrm>
                        <a:off x="7646988" y="2482215"/>
                        <a:ext cx="4176395" cy="341630"/>
                      </a:xfrm>
                      <a:prstGeom prst="rect">
                        <a:avLst/>
                      </a:prstGeom>
                    </p:spPr>
                  </p:pic>
                </p:oleObj>
              </mc:Fallback>
            </mc:AlternateContent>
          </a:graphicData>
        </a:graphic>
      </p:graphicFrame>
      <p:sp>
        <p:nvSpPr>
          <p:cNvPr id="49" name="文本框 48"/>
          <p:cNvSpPr txBox="1"/>
          <p:nvPr/>
        </p:nvSpPr>
        <p:spPr>
          <a:xfrm>
            <a:off x="6571476" y="3062238"/>
            <a:ext cx="10718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400" dirty="0">
                <a:latin typeface="微软雅黑" panose="020B0503020204020204" pitchFamily="34" charset="-122"/>
                <a:ea typeface="微软雅黑" panose="020B0503020204020204" pitchFamily="34" charset="-122"/>
                <a:cs typeface="微软雅黑" panose="020B0503020204020204" pitchFamily="34" charset="-122"/>
              </a:rPr>
              <a:t>②热聚合商</a:t>
            </a:r>
          </a:p>
        </p:txBody>
      </p:sp>
      <p:graphicFrame>
        <p:nvGraphicFramePr>
          <p:cNvPr id="30" name="对象 29"/>
          <p:cNvGraphicFramePr/>
          <p:nvPr/>
        </p:nvGraphicFramePr>
        <p:xfrm>
          <a:off x="7644130" y="3045460"/>
          <a:ext cx="3311525" cy="312420"/>
        </p:xfrm>
        <a:graphic>
          <a:graphicData uri="http://schemas.openxmlformats.org/presentationml/2006/ole">
            <mc:AlternateContent xmlns:mc="http://schemas.openxmlformats.org/markup-compatibility/2006">
              <mc:Choice xmlns:v="urn:schemas-microsoft-com:vml" Requires="v">
                <p:oleObj spid="_x0000_s23033" r:id="rId12" imgW="3216275" imgH="340360" progId="Equation.DSMT4">
                  <p:embed/>
                </p:oleObj>
              </mc:Choice>
              <mc:Fallback>
                <p:oleObj r:id="rId12" imgW="3216275" imgH="340360" progId="Equation.DSMT4">
                  <p:embed/>
                  <p:pic>
                    <p:nvPicPr>
                      <p:cNvPr id="0" name="图片 30"/>
                      <p:cNvPicPr/>
                      <p:nvPr/>
                    </p:nvPicPr>
                    <p:blipFill>
                      <a:blip r:embed="rId13"/>
                      <a:stretch>
                        <a:fillRect/>
                      </a:stretch>
                    </p:blipFill>
                    <p:spPr>
                      <a:xfrm>
                        <a:off x="7644130" y="3045460"/>
                        <a:ext cx="3311525" cy="312420"/>
                      </a:xfrm>
                      <a:prstGeom prst="rect">
                        <a:avLst/>
                      </a:prstGeom>
                    </p:spPr>
                  </p:pic>
                </p:oleObj>
              </mc:Fallback>
            </mc:AlternateContent>
          </a:graphicData>
        </a:graphic>
      </p:graphicFrame>
      <p:sp>
        <p:nvSpPr>
          <p:cNvPr id="32" name="文本框 31"/>
          <p:cNvSpPr txBox="1"/>
          <p:nvPr/>
        </p:nvSpPr>
        <p:spPr>
          <a:xfrm>
            <a:off x="6625870" y="3723908"/>
            <a:ext cx="328295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)考虑内部风险的聚合商成本建模</a:t>
            </a:r>
          </a:p>
        </p:txBody>
      </p:sp>
      <p:sp>
        <p:nvSpPr>
          <p:cNvPr id="33" name="矩形 32"/>
          <p:cNvSpPr/>
          <p:nvPr/>
        </p:nvSpPr>
        <p:spPr>
          <a:xfrm>
            <a:off x="6548754" y="4060825"/>
            <a:ext cx="5464175" cy="251904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4" name="文本框 33"/>
          <p:cNvSpPr txBox="1"/>
          <p:nvPr/>
        </p:nvSpPr>
        <p:spPr>
          <a:xfrm>
            <a:off x="6625451" y="4238893"/>
            <a:ext cx="10718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400" dirty="0">
                <a:latin typeface="微软雅黑" panose="020B0503020204020204" pitchFamily="34" charset="-122"/>
                <a:ea typeface="微软雅黑" panose="020B0503020204020204" pitchFamily="34" charset="-122"/>
                <a:cs typeface="微软雅黑" panose="020B0503020204020204" pitchFamily="34" charset="-122"/>
              </a:rPr>
              <a:t>①电聚合商</a:t>
            </a:r>
          </a:p>
        </p:txBody>
      </p:sp>
      <p:sp>
        <p:nvSpPr>
          <p:cNvPr id="36" name="文本框 35"/>
          <p:cNvSpPr txBox="1"/>
          <p:nvPr/>
        </p:nvSpPr>
        <p:spPr>
          <a:xfrm>
            <a:off x="6622911" y="4723398"/>
            <a:ext cx="10718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400" dirty="0">
                <a:latin typeface="微软雅黑" panose="020B0503020204020204" pitchFamily="34" charset="-122"/>
                <a:ea typeface="微软雅黑" panose="020B0503020204020204" pitchFamily="34" charset="-122"/>
                <a:cs typeface="微软雅黑" panose="020B0503020204020204" pitchFamily="34" charset="-122"/>
              </a:rPr>
              <a:t>②热聚合商</a:t>
            </a:r>
          </a:p>
        </p:txBody>
      </p:sp>
      <p:sp>
        <p:nvSpPr>
          <p:cNvPr id="37" name="文本框 36"/>
          <p:cNvSpPr txBox="1"/>
          <p:nvPr/>
        </p:nvSpPr>
        <p:spPr>
          <a:xfrm>
            <a:off x="6622911" y="5505083"/>
            <a:ext cx="10718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400" dirty="0">
                <a:latin typeface="微软雅黑" panose="020B0503020204020204" pitchFamily="34" charset="-122"/>
                <a:ea typeface="微软雅黑" panose="020B0503020204020204" pitchFamily="34" charset="-122"/>
                <a:cs typeface="微软雅黑" panose="020B0503020204020204" pitchFamily="34" charset="-122"/>
              </a:rPr>
              <a:t>①电聚合商</a:t>
            </a:r>
          </a:p>
        </p:txBody>
      </p:sp>
      <p:sp>
        <p:nvSpPr>
          <p:cNvPr id="38" name="文本框 37"/>
          <p:cNvSpPr txBox="1"/>
          <p:nvPr/>
        </p:nvSpPr>
        <p:spPr>
          <a:xfrm>
            <a:off x="6622911" y="6026785"/>
            <a:ext cx="1071880" cy="30670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400" dirty="0">
                <a:latin typeface="微软雅黑" panose="020B0503020204020204" pitchFamily="34" charset="-122"/>
                <a:ea typeface="微软雅黑" panose="020B0503020204020204" pitchFamily="34" charset="-122"/>
                <a:cs typeface="微软雅黑" panose="020B0503020204020204" pitchFamily="34" charset="-122"/>
              </a:rPr>
              <a:t>②热聚合商</a:t>
            </a:r>
          </a:p>
        </p:txBody>
      </p:sp>
      <p:graphicFrame>
        <p:nvGraphicFramePr>
          <p:cNvPr id="40" name="对象 39"/>
          <p:cNvGraphicFramePr>
            <a:graphicFrameLocks noChangeAspect="1"/>
          </p:cNvGraphicFramePr>
          <p:nvPr>
            <p:extLst>
              <p:ext uri="{D42A27DB-BD31-4B8C-83A1-F6EECF244321}">
                <p14:modId xmlns:p14="http://schemas.microsoft.com/office/powerpoint/2010/main" val="2904224203"/>
              </p:ext>
            </p:extLst>
          </p:nvPr>
        </p:nvGraphicFramePr>
        <p:xfrm>
          <a:off x="7741920" y="4123202"/>
          <a:ext cx="2499163" cy="536733"/>
        </p:xfrm>
        <a:graphic>
          <a:graphicData uri="http://schemas.openxmlformats.org/presentationml/2006/ole">
            <mc:AlternateContent xmlns:mc="http://schemas.openxmlformats.org/markup-compatibility/2006">
              <mc:Choice xmlns:v="urn:schemas-microsoft-com:vml" Requires="v">
                <p:oleObj spid="_x0000_s23034" name="Equation" r:id="rId14" imgW="2128509" imgH="456412" progId="Equation.DSMT4">
                  <p:embed/>
                </p:oleObj>
              </mc:Choice>
              <mc:Fallback>
                <p:oleObj name="Equation" r:id="rId14" imgW="2128509" imgH="456412" progId="Equation.DSMT4">
                  <p:embed/>
                  <p:pic>
                    <p:nvPicPr>
                      <p:cNvPr id="52" name="对象 51"/>
                      <p:cNvPicPr/>
                      <p:nvPr/>
                    </p:nvPicPr>
                    <p:blipFill>
                      <a:blip r:embed="rId15"/>
                      <a:stretch>
                        <a:fillRect/>
                      </a:stretch>
                    </p:blipFill>
                    <p:spPr>
                      <a:xfrm>
                        <a:off x="7741920" y="4123202"/>
                        <a:ext cx="2499163" cy="536733"/>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499151247"/>
              </p:ext>
            </p:extLst>
          </p:nvPr>
        </p:nvGraphicFramePr>
        <p:xfrm>
          <a:off x="7739380" y="4621530"/>
          <a:ext cx="2433727" cy="522680"/>
        </p:xfrm>
        <a:graphic>
          <a:graphicData uri="http://schemas.openxmlformats.org/presentationml/2006/ole">
            <mc:AlternateContent xmlns:mc="http://schemas.openxmlformats.org/markup-compatibility/2006">
              <mc:Choice xmlns:v="urn:schemas-microsoft-com:vml" Requires="v">
                <p:oleObj spid="_x0000_s23035" name="Equation" r:id="rId16" imgW="2128509" imgH="456412" progId="Equation.DSMT4">
                  <p:embed/>
                </p:oleObj>
              </mc:Choice>
              <mc:Fallback>
                <p:oleObj name="Equation" r:id="rId16" imgW="2128509" imgH="456412" progId="Equation.DSMT4">
                  <p:embed/>
                  <p:pic>
                    <p:nvPicPr>
                      <p:cNvPr id="55" name="对象 54"/>
                      <p:cNvPicPr/>
                      <p:nvPr/>
                    </p:nvPicPr>
                    <p:blipFill>
                      <a:blip r:embed="rId17"/>
                      <a:stretch>
                        <a:fillRect/>
                      </a:stretch>
                    </p:blipFill>
                    <p:spPr>
                      <a:xfrm>
                        <a:off x="7739380" y="4621530"/>
                        <a:ext cx="2433727" cy="522680"/>
                      </a:xfrm>
                      <a:prstGeom prst="rect">
                        <a:avLst/>
                      </a:prstGeom>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1209595854"/>
              </p:ext>
            </p:extLst>
          </p:nvPr>
        </p:nvGraphicFramePr>
        <p:xfrm>
          <a:off x="7634923" y="5472163"/>
          <a:ext cx="2831644" cy="423951"/>
        </p:xfrm>
        <a:graphic>
          <a:graphicData uri="http://schemas.openxmlformats.org/presentationml/2006/ole">
            <mc:AlternateContent xmlns:mc="http://schemas.openxmlformats.org/markup-compatibility/2006">
              <mc:Choice xmlns:v="urn:schemas-microsoft-com:vml" Requires="v">
                <p:oleObj spid="_x0000_s23036" name="Equation" r:id="rId18" imgW="3107113" imgH="465755" progId="Equation.DSMT4">
                  <p:embed/>
                </p:oleObj>
              </mc:Choice>
              <mc:Fallback>
                <p:oleObj name="Equation" r:id="rId18" imgW="3107113" imgH="465755" progId="Equation.DSMT4">
                  <p:embed/>
                  <p:pic>
                    <p:nvPicPr>
                      <p:cNvPr id="66" name="对象 65"/>
                      <p:cNvPicPr/>
                      <p:nvPr/>
                    </p:nvPicPr>
                    <p:blipFill>
                      <a:blip r:embed="rId19"/>
                      <a:stretch>
                        <a:fillRect/>
                      </a:stretch>
                    </p:blipFill>
                    <p:spPr>
                      <a:xfrm>
                        <a:off x="7634923" y="5472163"/>
                        <a:ext cx="2831644" cy="423951"/>
                      </a:xfrm>
                      <a:prstGeom prst="rect">
                        <a:avLst/>
                      </a:prstGeom>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3602813952"/>
              </p:ext>
            </p:extLst>
          </p:nvPr>
        </p:nvGraphicFramePr>
        <p:xfrm>
          <a:off x="7634922" y="5977301"/>
          <a:ext cx="2831645" cy="415443"/>
        </p:xfrm>
        <a:graphic>
          <a:graphicData uri="http://schemas.openxmlformats.org/presentationml/2006/ole">
            <mc:AlternateContent xmlns:mc="http://schemas.openxmlformats.org/markup-compatibility/2006">
              <mc:Choice xmlns:v="urn:schemas-microsoft-com:vml" Requires="v">
                <p:oleObj spid="_x0000_s23037" name="Equation" r:id="rId20" imgW="3116450" imgH="456412" progId="Equation.DSMT4">
                  <p:embed/>
                </p:oleObj>
              </mc:Choice>
              <mc:Fallback>
                <p:oleObj name="Equation" r:id="rId20" imgW="3116450" imgH="456412" progId="Equation.DSMT4">
                  <p:embed/>
                  <p:pic>
                    <p:nvPicPr>
                      <p:cNvPr id="67" name="对象 66"/>
                      <p:cNvPicPr/>
                      <p:nvPr/>
                    </p:nvPicPr>
                    <p:blipFill>
                      <a:blip r:embed="rId21"/>
                      <a:stretch>
                        <a:fillRect/>
                      </a:stretch>
                    </p:blipFill>
                    <p:spPr>
                      <a:xfrm>
                        <a:off x="7634922" y="5977301"/>
                        <a:ext cx="2831645" cy="415443"/>
                      </a:xfrm>
                      <a:prstGeom prst="rect">
                        <a:avLst/>
                      </a:prstGeom>
                    </p:spPr>
                  </p:pic>
                </p:oleObj>
              </mc:Fallback>
            </mc:AlternateContent>
          </a:graphicData>
        </a:graphic>
      </p:graphicFrame>
      <p:sp>
        <p:nvSpPr>
          <p:cNvPr id="44" name="右箭头 43"/>
          <p:cNvSpPr/>
          <p:nvPr/>
        </p:nvSpPr>
        <p:spPr>
          <a:xfrm rot="5400000">
            <a:off x="7307693" y="5140848"/>
            <a:ext cx="234468" cy="27432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右箭头 44"/>
          <p:cNvSpPr/>
          <p:nvPr/>
        </p:nvSpPr>
        <p:spPr>
          <a:xfrm rot="5400000">
            <a:off x="9115924" y="5183187"/>
            <a:ext cx="234468" cy="27432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9383834" y="5171223"/>
            <a:ext cx="1107996" cy="276999"/>
          </a:xfrm>
          <a:prstGeom prst="rect">
            <a:avLst/>
          </a:prstGeom>
          <a:noFill/>
        </p:spPr>
        <p:txBody>
          <a:bodyPr wrap="none" rtlCol="0">
            <a:spAutoFit/>
          </a:bodyPr>
          <a:lstStyle/>
          <a:p>
            <a:r>
              <a:rPr lang="zh-CN" altLang="en-US" sz="1200" dirty="0" smtClean="0"/>
              <a:t>引入辅助变量</a:t>
            </a:r>
            <a:endParaRPr lang="zh-CN" altLang="en-US" sz="1200" dirty="0"/>
          </a:p>
        </p:txBody>
      </p:sp>
      <p:cxnSp>
        <p:nvCxnSpPr>
          <p:cNvPr id="47" name="直接连接符 46"/>
          <p:cNvCxnSpPr/>
          <p:nvPr/>
        </p:nvCxnSpPr>
        <p:spPr>
          <a:xfrm>
            <a:off x="10497623" y="4056289"/>
            <a:ext cx="20320" cy="2523581"/>
          </a:xfrm>
          <a:prstGeom prst="lin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50" name="对象 49"/>
          <p:cNvGraphicFramePr>
            <a:graphicFrameLocks noChangeAspect="1"/>
          </p:cNvGraphicFramePr>
          <p:nvPr>
            <p:extLst>
              <p:ext uri="{D42A27DB-BD31-4B8C-83A1-F6EECF244321}">
                <p14:modId xmlns:p14="http://schemas.microsoft.com/office/powerpoint/2010/main" val="1117332645"/>
              </p:ext>
            </p:extLst>
          </p:nvPr>
        </p:nvGraphicFramePr>
        <p:xfrm>
          <a:off x="10558678" y="4123202"/>
          <a:ext cx="286873" cy="286873"/>
        </p:xfrm>
        <a:graphic>
          <a:graphicData uri="http://schemas.openxmlformats.org/presentationml/2006/ole">
            <mc:AlternateContent xmlns:mc="http://schemas.openxmlformats.org/markup-compatibility/2006">
              <mc:Choice xmlns:v="urn:schemas-microsoft-com:vml" Requires="v">
                <p:oleObj spid="_x0000_s23038" name="Equation" r:id="rId22" imgW="228042" imgH="228206" progId="Equation.DSMT4">
                  <p:embed/>
                </p:oleObj>
              </mc:Choice>
              <mc:Fallback>
                <p:oleObj name="Equation" r:id="rId22" imgW="228042" imgH="228206" progId="Equation.DSMT4">
                  <p:embed/>
                  <p:pic>
                    <p:nvPicPr>
                      <p:cNvPr id="79" name="对象 78"/>
                      <p:cNvPicPr/>
                      <p:nvPr/>
                    </p:nvPicPr>
                    <p:blipFill>
                      <a:blip r:embed="rId23"/>
                      <a:stretch>
                        <a:fillRect/>
                      </a:stretch>
                    </p:blipFill>
                    <p:spPr>
                      <a:xfrm>
                        <a:off x="10558678" y="4123202"/>
                        <a:ext cx="286873" cy="286873"/>
                      </a:xfrm>
                      <a:prstGeom prst="rect">
                        <a:avLst/>
                      </a:prstGeom>
                    </p:spPr>
                  </p:pic>
                </p:oleObj>
              </mc:Fallback>
            </mc:AlternateContent>
          </a:graphicData>
        </a:graphic>
      </p:graphicFrame>
      <p:sp>
        <p:nvSpPr>
          <p:cNvPr id="51" name="文本框 50"/>
          <p:cNvSpPr txBox="1"/>
          <p:nvPr/>
        </p:nvSpPr>
        <p:spPr>
          <a:xfrm>
            <a:off x="10705421" y="4095493"/>
            <a:ext cx="1571622"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对应变换公式</a:t>
            </a:r>
            <a:endParaRPr lang="zh-CN" altLang="en-US" sz="1400" dirty="0">
              <a:latin typeface="微软雅黑" panose="020B0503020204020204" pitchFamily="34" charset="-122"/>
              <a:ea typeface="微软雅黑" panose="020B0503020204020204" pitchFamily="34" charset="-122"/>
            </a:endParaRPr>
          </a:p>
        </p:txBody>
      </p:sp>
      <p:graphicFrame>
        <p:nvGraphicFramePr>
          <p:cNvPr id="52" name="对象 51"/>
          <p:cNvGraphicFramePr>
            <a:graphicFrameLocks noChangeAspect="1"/>
          </p:cNvGraphicFramePr>
          <p:nvPr>
            <p:extLst>
              <p:ext uri="{D42A27DB-BD31-4B8C-83A1-F6EECF244321}">
                <p14:modId xmlns:p14="http://schemas.microsoft.com/office/powerpoint/2010/main" val="3640722083"/>
              </p:ext>
            </p:extLst>
          </p:nvPr>
        </p:nvGraphicFramePr>
        <p:xfrm>
          <a:off x="10468192" y="4454881"/>
          <a:ext cx="1578725" cy="296784"/>
        </p:xfrm>
        <a:graphic>
          <a:graphicData uri="http://schemas.openxmlformats.org/presentationml/2006/ole">
            <mc:AlternateContent xmlns:mc="http://schemas.openxmlformats.org/markup-compatibility/2006">
              <mc:Choice xmlns:v="urn:schemas-microsoft-com:vml" Requires="v">
                <p:oleObj spid="_x0000_s23039" name="Equation" r:id="rId24" imgW="1216342" imgH="228206" progId="Equation.DSMT4">
                  <p:embed/>
                </p:oleObj>
              </mc:Choice>
              <mc:Fallback>
                <p:oleObj name="Equation" r:id="rId24" imgW="1216342" imgH="228206" progId="Equation.DSMT4">
                  <p:embed/>
                  <p:pic>
                    <p:nvPicPr>
                      <p:cNvPr id="81" name="对象 80"/>
                      <p:cNvPicPr/>
                      <p:nvPr/>
                    </p:nvPicPr>
                    <p:blipFill>
                      <a:blip r:embed="rId25"/>
                      <a:stretch>
                        <a:fillRect/>
                      </a:stretch>
                    </p:blipFill>
                    <p:spPr>
                      <a:xfrm>
                        <a:off x="10468192" y="4454881"/>
                        <a:ext cx="1578725" cy="296784"/>
                      </a:xfrm>
                      <a:prstGeom prst="rect">
                        <a:avLst/>
                      </a:prstGeom>
                    </p:spPr>
                  </p:pic>
                </p:oleObj>
              </mc:Fallback>
            </mc:AlternateContent>
          </a:graphicData>
        </a:graphic>
      </p:graphicFrame>
      <p:sp>
        <p:nvSpPr>
          <p:cNvPr id="4" name="矩形 3"/>
          <p:cNvSpPr/>
          <p:nvPr/>
        </p:nvSpPr>
        <p:spPr>
          <a:xfrm>
            <a:off x="10517961" y="4756201"/>
            <a:ext cx="1464983" cy="738664"/>
          </a:xfrm>
          <a:prstGeom prst="rect">
            <a:avLst/>
          </a:prstGeom>
        </p:spPr>
        <p:txBody>
          <a:bodyPr wrap="square">
            <a:spAutoFit/>
          </a:bodyPr>
          <a:lstStyle/>
          <a:p>
            <a:pPr algn="just"/>
            <a:r>
              <a:rPr lang="zh-CN" altLang="en-US" sz="1400" dirty="0">
                <a:latin typeface="微软雅黑" panose="020B0503020204020204" pitchFamily="34" charset="-122"/>
                <a:ea typeface="微软雅黑" panose="020B0503020204020204" pitchFamily="34" charset="-122"/>
              </a:rPr>
              <a:t>为了方便求解将其松弛为不等式约束</a:t>
            </a:r>
          </a:p>
        </p:txBody>
      </p:sp>
      <p:graphicFrame>
        <p:nvGraphicFramePr>
          <p:cNvPr id="53" name="对象 52"/>
          <p:cNvGraphicFramePr>
            <a:graphicFrameLocks noChangeAspect="1"/>
          </p:cNvGraphicFramePr>
          <p:nvPr>
            <p:extLst>
              <p:ext uri="{D42A27DB-BD31-4B8C-83A1-F6EECF244321}">
                <p14:modId xmlns:p14="http://schemas.microsoft.com/office/powerpoint/2010/main" val="3111776221"/>
              </p:ext>
            </p:extLst>
          </p:nvPr>
        </p:nvGraphicFramePr>
        <p:xfrm>
          <a:off x="10702114" y="5497770"/>
          <a:ext cx="1170593" cy="270570"/>
        </p:xfrm>
        <a:graphic>
          <a:graphicData uri="http://schemas.openxmlformats.org/presentationml/2006/ole">
            <mc:AlternateContent xmlns:mc="http://schemas.openxmlformats.org/markup-compatibility/2006">
              <mc:Choice xmlns:v="urn:schemas-microsoft-com:vml" Requires="v">
                <p:oleObj spid="_x0000_s23040" name="Equation" r:id="rId26" imgW="988300" imgH="228206" progId="Equation.DSMT4">
                  <p:embed/>
                </p:oleObj>
              </mc:Choice>
              <mc:Fallback>
                <p:oleObj name="Equation" r:id="rId26" imgW="988300" imgH="228206" progId="Equation.DSMT4">
                  <p:embed/>
                  <p:pic>
                    <p:nvPicPr>
                      <p:cNvPr id="68" name="对象 67"/>
                      <p:cNvPicPr/>
                      <p:nvPr/>
                    </p:nvPicPr>
                    <p:blipFill>
                      <a:blip r:embed="rId27"/>
                      <a:stretch>
                        <a:fillRect/>
                      </a:stretch>
                    </p:blipFill>
                    <p:spPr>
                      <a:xfrm>
                        <a:off x="10702114" y="5497770"/>
                        <a:ext cx="1170593" cy="270570"/>
                      </a:xfrm>
                      <a:prstGeom prst="rect">
                        <a:avLst/>
                      </a:prstGeom>
                    </p:spPr>
                  </p:pic>
                </p:oleObj>
              </mc:Fallback>
            </mc:AlternateContent>
          </a:graphicData>
        </a:graphic>
      </p:graphicFrame>
      <p:graphicFrame>
        <p:nvGraphicFramePr>
          <p:cNvPr id="54" name="对象 53"/>
          <p:cNvGraphicFramePr>
            <a:graphicFrameLocks noChangeAspect="1"/>
          </p:cNvGraphicFramePr>
          <p:nvPr>
            <p:extLst>
              <p:ext uri="{D42A27DB-BD31-4B8C-83A1-F6EECF244321}">
                <p14:modId xmlns:p14="http://schemas.microsoft.com/office/powerpoint/2010/main" val="2073081942"/>
              </p:ext>
            </p:extLst>
          </p:nvPr>
        </p:nvGraphicFramePr>
        <p:xfrm>
          <a:off x="10558678" y="5831782"/>
          <a:ext cx="1430739" cy="261669"/>
        </p:xfrm>
        <a:graphic>
          <a:graphicData uri="http://schemas.openxmlformats.org/presentationml/2006/ole">
            <mc:AlternateContent xmlns:mc="http://schemas.openxmlformats.org/markup-compatibility/2006">
              <mc:Choice xmlns:v="urn:schemas-microsoft-com:vml" Requires="v">
                <p:oleObj spid="_x0000_s23041" name="Equation" r:id="rId28" imgW="1307880" imgH="241200" progId="Equation.DSMT4">
                  <p:embed/>
                </p:oleObj>
              </mc:Choice>
              <mc:Fallback>
                <p:oleObj name="Equation" r:id="rId28" imgW="1307880" imgH="241200" progId="Equation.DSMT4">
                  <p:embed/>
                  <p:pic>
                    <p:nvPicPr>
                      <p:cNvPr id="69" name="对象 68"/>
                      <p:cNvPicPr/>
                      <p:nvPr/>
                    </p:nvPicPr>
                    <p:blipFill>
                      <a:blip r:embed="rId29"/>
                      <a:stretch>
                        <a:fillRect/>
                      </a:stretch>
                    </p:blipFill>
                    <p:spPr>
                      <a:xfrm>
                        <a:off x="10558678" y="5831782"/>
                        <a:ext cx="1430739" cy="261669"/>
                      </a:xfrm>
                      <a:prstGeom prst="rect">
                        <a:avLst/>
                      </a:prstGeom>
                    </p:spPr>
                  </p:pic>
                </p:oleObj>
              </mc:Fallback>
            </mc:AlternateContent>
          </a:graphicData>
        </a:graphic>
      </p:graphicFrame>
      <p:graphicFrame>
        <p:nvGraphicFramePr>
          <p:cNvPr id="60" name="对象 59"/>
          <p:cNvGraphicFramePr>
            <a:graphicFrameLocks noChangeAspect="1"/>
          </p:cNvGraphicFramePr>
          <p:nvPr>
            <p:extLst>
              <p:ext uri="{D42A27DB-BD31-4B8C-83A1-F6EECF244321}">
                <p14:modId xmlns:p14="http://schemas.microsoft.com/office/powerpoint/2010/main" val="2842425134"/>
              </p:ext>
            </p:extLst>
          </p:nvPr>
        </p:nvGraphicFramePr>
        <p:xfrm>
          <a:off x="10564607" y="6176010"/>
          <a:ext cx="1418337" cy="261635"/>
        </p:xfrm>
        <a:graphic>
          <a:graphicData uri="http://schemas.openxmlformats.org/presentationml/2006/ole">
            <mc:AlternateContent xmlns:mc="http://schemas.openxmlformats.org/markup-compatibility/2006">
              <mc:Choice xmlns:v="urn:schemas-microsoft-com:vml" Requires="v">
                <p:oleObj spid="_x0000_s23042" name="Equation" r:id="rId30" imgW="1307880" imgH="241200" progId="Equation.DSMT4">
                  <p:embed/>
                </p:oleObj>
              </mc:Choice>
              <mc:Fallback>
                <p:oleObj name="Equation" r:id="rId30" imgW="1307880" imgH="241200" progId="Equation.DSMT4">
                  <p:embed/>
                  <p:pic>
                    <p:nvPicPr>
                      <p:cNvPr id="70" name="对象 69"/>
                      <p:cNvPicPr/>
                      <p:nvPr/>
                    </p:nvPicPr>
                    <p:blipFill>
                      <a:blip r:embed="rId31"/>
                      <a:stretch>
                        <a:fillRect/>
                      </a:stretch>
                    </p:blipFill>
                    <p:spPr>
                      <a:xfrm>
                        <a:off x="10564607" y="6176010"/>
                        <a:ext cx="1418337" cy="26163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advTm="8546"/>
    </mc:Choice>
    <mc:Fallback xmlns="">
      <p:transition advTm="8546"/>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2"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32780" name="标题 1"/>
          <p:cNvSpPr txBox="1"/>
          <p:nvPr/>
        </p:nvSpPr>
        <p:spPr>
          <a:xfrm>
            <a:off x="2620963" y="242888"/>
            <a:ext cx="8928100"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1.4</a:t>
            </a:r>
            <a:r>
              <a:rPr lang="zh-CN" altLang="en-US" sz="3200" b="1" dirty="0" smtClean="0">
                <a:latin typeface="微软雅黑" panose="020B0503020204020204" pitchFamily="34" charset="-122"/>
                <a:ea typeface="微软雅黑" panose="020B0503020204020204" pitchFamily="34" charset="-122"/>
              </a:rPr>
              <a:t>：算例仿真</a:t>
            </a:r>
            <a:endParaRPr lang="zh-CN" altLang="en-US" sz="3200" b="1" dirty="0">
              <a:latin typeface="微软雅黑" panose="020B0503020204020204" pitchFamily="34" charset="-122"/>
              <a:ea typeface="微软雅黑" panose="020B0503020204020204" pitchFamily="34" charset="-122"/>
            </a:endParaRPr>
          </a:p>
        </p:txBody>
      </p:sp>
      <p:sp>
        <p:nvSpPr>
          <p:cNvPr id="32781" name="文本框 53"/>
          <p:cNvSpPr txBox="1"/>
          <p:nvPr/>
        </p:nvSpPr>
        <p:spPr>
          <a:xfrm>
            <a:off x="120650" y="29305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142" name="等腰三角形 141"/>
          <p:cNvSpPr/>
          <p:nvPr/>
        </p:nvSpPr>
        <p:spPr>
          <a:xfrm rot="16200000" flipV="1">
            <a:off x="1497013" y="3071813"/>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58" name="文本框 57"/>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9" name="文本框 58"/>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graphicFrame>
        <p:nvGraphicFramePr>
          <p:cNvPr id="23" name="表格 22"/>
          <p:cNvGraphicFramePr>
            <a:graphicFrameLocks noGrp="1"/>
          </p:cNvGraphicFramePr>
          <p:nvPr>
            <p:extLst>
              <p:ext uri="{D42A27DB-BD31-4B8C-83A1-F6EECF244321}">
                <p14:modId xmlns:p14="http://schemas.microsoft.com/office/powerpoint/2010/main" val="3831305"/>
              </p:ext>
            </p:extLst>
          </p:nvPr>
        </p:nvGraphicFramePr>
        <p:xfrm>
          <a:off x="1892302" y="1577417"/>
          <a:ext cx="4737098" cy="4366186"/>
        </p:xfrm>
        <a:graphic>
          <a:graphicData uri="http://schemas.openxmlformats.org/drawingml/2006/table">
            <a:tbl>
              <a:tblPr firstRow="1" firstCol="1" bandRow="1">
                <a:tableStyleId>{5940675A-B579-460E-94D1-54222C63F5DA}</a:tableStyleId>
              </a:tblPr>
              <a:tblGrid>
                <a:gridCol w="1596402">
                  <a:extLst>
                    <a:ext uri="{9D8B030D-6E8A-4147-A177-3AD203B41FA5}">
                      <a16:colId xmlns:a16="http://schemas.microsoft.com/office/drawing/2014/main" val="1484086719"/>
                    </a:ext>
                  </a:extLst>
                </a:gridCol>
                <a:gridCol w="1596402">
                  <a:extLst>
                    <a:ext uri="{9D8B030D-6E8A-4147-A177-3AD203B41FA5}">
                      <a16:colId xmlns:a16="http://schemas.microsoft.com/office/drawing/2014/main" val="990530335"/>
                    </a:ext>
                  </a:extLst>
                </a:gridCol>
                <a:gridCol w="1544294">
                  <a:extLst>
                    <a:ext uri="{9D8B030D-6E8A-4147-A177-3AD203B41FA5}">
                      <a16:colId xmlns:a16="http://schemas.microsoft.com/office/drawing/2014/main" val="1091321693"/>
                    </a:ext>
                  </a:extLst>
                </a:gridCol>
              </a:tblGrid>
              <a:tr h="396926">
                <a:tc>
                  <a:txBody>
                    <a:bodyPr/>
                    <a:lstStyle/>
                    <a:p>
                      <a:pPr algn="ctr">
                        <a:lnSpc>
                          <a:spcPct val="125000"/>
                        </a:lnSpc>
                        <a:spcAft>
                          <a:spcPts val="0"/>
                        </a:spcAft>
                      </a:pPr>
                      <a:r>
                        <a:rPr lang="zh-CN" sz="1600" kern="0" dirty="0">
                          <a:effectLst/>
                          <a:latin typeface="微软雅黑" panose="020B0503020204020204" pitchFamily="34" charset="-122"/>
                          <a:ea typeface="微软雅黑" panose="020B0503020204020204" pitchFamily="34" charset="-122"/>
                        </a:rPr>
                        <a:t>风险系数</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5000"/>
                        </a:lnSpc>
                        <a:spcAft>
                          <a:spcPts val="0"/>
                        </a:spcAft>
                      </a:pPr>
                      <a:r>
                        <a:rPr lang="zh-CN" sz="1600" kern="0" dirty="0">
                          <a:effectLst/>
                          <a:latin typeface="微软雅黑" panose="020B0503020204020204" pitchFamily="34" charset="-122"/>
                          <a:ea typeface="微软雅黑" panose="020B0503020204020204" pitchFamily="34" charset="-122"/>
                        </a:rPr>
                        <a:t>总成本</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5000"/>
                        </a:lnSpc>
                        <a:spcAft>
                          <a:spcPts val="0"/>
                        </a:spcAft>
                      </a:pPr>
                      <a:r>
                        <a:rPr lang="zh-CN" sz="1600" kern="0" dirty="0">
                          <a:effectLst/>
                          <a:latin typeface="微软雅黑" panose="020B0503020204020204" pitchFamily="34" charset="-122"/>
                          <a:ea typeface="微软雅黑" panose="020B0503020204020204" pitchFamily="34" charset="-122"/>
                        </a:rPr>
                        <a:t>风险值</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8122416"/>
                  </a:ext>
                </a:extLst>
              </a:tr>
              <a:tr h="396926">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0.9</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35948</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1892</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55834961"/>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0.8</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34275</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3808</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48682833"/>
                  </a:ext>
                </a:extLst>
              </a:tr>
              <a:tr h="396926">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0.7</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32152</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5673</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516152016"/>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0.6</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30295</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7573</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6570166"/>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0.5</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28183</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9394</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68766611"/>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0.4</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26503</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11359</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22606111"/>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0.3</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24523</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13205</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99246783"/>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0.2</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22620</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15080</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2210574"/>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0.1</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20971</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17158</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086351352"/>
                  </a:ext>
                </a:extLst>
              </a:tr>
              <a:tr h="396926">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18977</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37956</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397782772"/>
                  </a:ext>
                </a:extLst>
              </a:tr>
            </a:tbl>
          </a:graphicData>
        </a:graphic>
      </p:graphicFrame>
      <p:sp>
        <p:nvSpPr>
          <p:cNvPr id="24" name="矩形 23"/>
          <p:cNvSpPr/>
          <p:nvPr/>
        </p:nvSpPr>
        <p:spPr>
          <a:xfrm>
            <a:off x="2137750" y="1217789"/>
            <a:ext cx="4356098" cy="369332"/>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不同风险偏好系数下电聚合商的运行成本</a:t>
            </a:r>
            <a:endParaRPr lang="zh-CN" altLang="en-US" dirty="0">
              <a:latin typeface="微软雅黑" panose="020B0503020204020204" pitchFamily="34" charset="-122"/>
              <a:ea typeface="微软雅黑" panose="020B0503020204020204" pitchFamily="34" charset="-122"/>
            </a:endParaRPr>
          </a:p>
        </p:txBody>
      </p:sp>
      <p:graphicFrame>
        <p:nvGraphicFramePr>
          <p:cNvPr id="25" name="表格 24"/>
          <p:cNvGraphicFramePr>
            <a:graphicFrameLocks noGrp="1"/>
          </p:cNvGraphicFramePr>
          <p:nvPr>
            <p:extLst>
              <p:ext uri="{D42A27DB-BD31-4B8C-83A1-F6EECF244321}">
                <p14:modId xmlns:p14="http://schemas.microsoft.com/office/powerpoint/2010/main" val="684051556"/>
              </p:ext>
            </p:extLst>
          </p:nvPr>
        </p:nvGraphicFramePr>
        <p:xfrm>
          <a:off x="7091664" y="1587121"/>
          <a:ext cx="4911731" cy="4356484"/>
        </p:xfrm>
        <a:graphic>
          <a:graphicData uri="http://schemas.openxmlformats.org/drawingml/2006/table">
            <a:tbl>
              <a:tblPr firstRow="1" firstCol="1" bandRow="1">
                <a:tableStyleId>{5940675A-B579-460E-94D1-54222C63F5DA}</a:tableStyleId>
              </a:tblPr>
              <a:tblGrid>
                <a:gridCol w="1655253">
                  <a:extLst>
                    <a:ext uri="{9D8B030D-6E8A-4147-A177-3AD203B41FA5}">
                      <a16:colId xmlns:a16="http://schemas.microsoft.com/office/drawing/2014/main" val="1930521920"/>
                    </a:ext>
                  </a:extLst>
                </a:gridCol>
                <a:gridCol w="1655253">
                  <a:extLst>
                    <a:ext uri="{9D8B030D-6E8A-4147-A177-3AD203B41FA5}">
                      <a16:colId xmlns:a16="http://schemas.microsoft.com/office/drawing/2014/main" val="2509400196"/>
                    </a:ext>
                  </a:extLst>
                </a:gridCol>
                <a:gridCol w="1601225">
                  <a:extLst>
                    <a:ext uri="{9D8B030D-6E8A-4147-A177-3AD203B41FA5}">
                      <a16:colId xmlns:a16="http://schemas.microsoft.com/office/drawing/2014/main" val="1453926977"/>
                    </a:ext>
                  </a:extLst>
                </a:gridCol>
              </a:tblGrid>
              <a:tr h="396044">
                <a:tc>
                  <a:txBody>
                    <a:bodyPr/>
                    <a:lstStyle/>
                    <a:p>
                      <a:pPr algn="ctr">
                        <a:lnSpc>
                          <a:spcPct val="125000"/>
                        </a:lnSpc>
                        <a:spcAft>
                          <a:spcPts val="0"/>
                        </a:spcAft>
                      </a:pPr>
                      <a:r>
                        <a:rPr lang="zh-CN" sz="1600" kern="0" dirty="0">
                          <a:effectLst/>
                          <a:latin typeface="微软雅黑" panose="020B0503020204020204" pitchFamily="34" charset="-122"/>
                          <a:ea typeface="微软雅黑" panose="020B0503020204020204" pitchFamily="34" charset="-122"/>
                        </a:rPr>
                        <a:t>风险系数</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lnSpc>
                          <a:spcPct val="125000"/>
                        </a:lnSpc>
                        <a:spcAft>
                          <a:spcPts val="0"/>
                        </a:spcAft>
                      </a:pPr>
                      <a:r>
                        <a:rPr lang="zh-CN" sz="1600" kern="0" dirty="0">
                          <a:effectLst/>
                          <a:latin typeface="微软雅黑" panose="020B0503020204020204" pitchFamily="34" charset="-122"/>
                          <a:ea typeface="微软雅黑" panose="020B0503020204020204" pitchFamily="34" charset="-122"/>
                        </a:rPr>
                        <a:t>总成本</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lnSpc>
                          <a:spcPct val="125000"/>
                        </a:lnSpc>
                        <a:spcAft>
                          <a:spcPts val="0"/>
                        </a:spcAft>
                      </a:pPr>
                      <a:r>
                        <a:rPr lang="zh-CN" sz="1600" kern="0">
                          <a:effectLst/>
                          <a:latin typeface="微软雅黑" panose="020B0503020204020204" pitchFamily="34" charset="-122"/>
                          <a:ea typeface="微软雅黑" panose="020B0503020204020204" pitchFamily="34" charset="-122"/>
                        </a:rPr>
                        <a:t>风险值</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155489824"/>
                  </a:ext>
                </a:extLst>
              </a:tr>
              <a:tr h="396044">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0.9</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5331</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280</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87989701"/>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0.8</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5033</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559</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48748279"/>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0.7</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4751</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838</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893202266"/>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0.6</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4469</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1117</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214107286"/>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0.5</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4195</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1399</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755646929"/>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0.4</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3912</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1677</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86637653"/>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0.3</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3636</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1958</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990629627"/>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0.2</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3356</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2238</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10932407"/>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0.1</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3074</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2515</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277799554"/>
                  </a:ext>
                </a:extLst>
              </a:tr>
              <a:tr h="396044">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0</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ct val="125000"/>
                        </a:lnSpc>
                        <a:spcAft>
                          <a:spcPts val="0"/>
                        </a:spcAft>
                      </a:pPr>
                      <a:r>
                        <a:rPr lang="en-US" sz="1600" kern="0">
                          <a:effectLst/>
                          <a:latin typeface="微软雅黑" panose="020B0503020204020204" pitchFamily="34" charset="-122"/>
                          <a:ea typeface="微软雅黑" panose="020B0503020204020204" pitchFamily="34" charset="-122"/>
                        </a:rPr>
                        <a:t>2794</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ct val="125000"/>
                        </a:lnSpc>
                        <a:spcAft>
                          <a:spcPts val="0"/>
                        </a:spcAft>
                      </a:pPr>
                      <a:r>
                        <a:rPr lang="en-US" sz="1600" kern="0" dirty="0">
                          <a:effectLst/>
                          <a:latin typeface="微软雅黑" panose="020B0503020204020204" pitchFamily="34" charset="-122"/>
                          <a:ea typeface="微软雅黑" panose="020B0503020204020204" pitchFamily="34" charset="-122"/>
                        </a:rPr>
                        <a:t>5588</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565170081"/>
                  </a:ext>
                </a:extLst>
              </a:tr>
            </a:tbl>
          </a:graphicData>
        </a:graphic>
      </p:graphicFrame>
      <p:sp>
        <p:nvSpPr>
          <p:cNvPr id="26" name="矩形 25"/>
          <p:cNvSpPr/>
          <p:nvPr/>
        </p:nvSpPr>
        <p:spPr>
          <a:xfrm>
            <a:off x="7310579" y="1217789"/>
            <a:ext cx="4473900" cy="369332"/>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不同风险偏好系数</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下</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热</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聚合</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商的运行成本</a:t>
            </a:r>
            <a:endParaRPr lang="zh-CN" altLang="en-US" dirty="0">
              <a:latin typeface="微软雅黑" panose="020B0503020204020204" pitchFamily="34" charset="-122"/>
              <a:ea typeface="微软雅黑" panose="020B0503020204020204" pitchFamily="34" charset="-122"/>
            </a:endParaRPr>
          </a:p>
        </p:txBody>
      </p:sp>
      <p:sp>
        <p:nvSpPr>
          <p:cNvPr id="9" name="矩形 8"/>
          <p:cNvSpPr/>
          <p:nvPr/>
        </p:nvSpPr>
        <p:spPr>
          <a:xfrm>
            <a:off x="1892302" y="6028738"/>
            <a:ext cx="1107996" cy="369332"/>
          </a:xfrm>
          <a:prstGeom prst="rect">
            <a:avLst/>
          </a:prstGeom>
        </p:spPr>
        <p:txBody>
          <a:bodyPr wrap="non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风险系数</a:t>
            </a:r>
            <a:endParaRPr lang="zh-CN" altLang="en-US" dirty="0">
              <a:latin typeface="微软雅黑" panose="020B0503020204020204" pitchFamily="34" charset="-122"/>
              <a:ea typeface="微软雅黑" panose="020B0503020204020204" pitchFamily="34" charset="-122"/>
            </a:endParaRPr>
          </a:p>
        </p:txBody>
      </p:sp>
      <p:cxnSp>
        <p:nvCxnSpPr>
          <p:cNvPr id="11" name="直接箭头连接符 10"/>
          <p:cNvCxnSpPr/>
          <p:nvPr/>
        </p:nvCxnSpPr>
        <p:spPr>
          <a:xfrm flipV="1">
            <a:off x="3082888" y="6028738"/>
            <a:ext cx="0" cy="3693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右箭头 11"/>
          <p:cNvSpPr/>
          <p:nvPr/>
        </p:nvSpPr>
        <p:spPr>
          <a:xfrm>
            <a:off x="3365916" y="6057604"/>
            <a:ext cx="494394" cy="314160"/>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009346" y="6035129"/>
            <a:ext cx="2262158"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聚合商投入风险成本</a:t>
            </a:r>
          </a:p>
        </p:txBody>
      </p:sp>
      <p:cxnSp>
        <p:nvCxnSpPr>
          <p:cNvPr id="32" name="直接箭头连接符 31"/>
          <p:cNvCxnSpPr/>
          <p:nvPr/>
        </p:nvCxnSpPr>
        <p:spPr>
          <a:xfrm flipV="1">
            <a:off x="6271504" y="6002432"/>
            <a:ext cx="0" cy="3693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右箭头 32"/>
          <p:cNvSpPr/>
          <p:nvPr/>
        </p:nvSpPr>
        <p:spPr>
          <a:xfrm>
            <a:off x="6662841" y="6057604"/>
            <a:ext cx="494394" cy="314160"/>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7157235" y="6035129"/>
            <a:ext cx="1569660"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聚合商总成本</a:t>
            </a:r>
          </a:p>
        </p:txBody>
      </p:sp>
      <p:cxnSp>
        <p:nvCxnSpPr>
          <p:cNvPr id="35" name="直接箭头连接符 34"/>
          <p:cNvCxnSpPr/>
          <p:nvPr/>
        </p:nvCxnSpPr>
        <p:spPr>
          <a:xfrm flipV="1">
            <a:off x="8660685" y="5997506"/>
            <a:ext cx="0" cy="3693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6" name="右箭头 35"/>
          <p:cNvSpPr/>
          <p:nvPr/>
        </p:nvSpPr>
        <p:spPr>
          <a:xfrm>
            <a:off x="9764427" y="6057604"/>
            <a:ext cx="494394" cy="314160"/>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0221799" y="5997506"/>
            <a:ext cx="1569660"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策略趋于保守</a:t>
            </a:r>
          </a:p>
        </p:txBody>
      </p:sp>
      <p:sp>
        <p:nvSpPr>
          <p:cNvPr id="40" name="矩形 39"/>
          <p:cNvSpPr/>
          <p:nvPr/>
        </p:nvSpPr>
        <p:spPr>
          <a:xfrm>
            <a:off x="8740507" y="6028738"/>
            <a:ext cx="877163"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风险值</a:t>
            </a:r>
          </a:p>
        </p:txBody>
      </p:sp>
      <p:cxnSp>
        <p:nvCxnSpPr>
          <p:cNvPr id="41" name="直接箭头连接符 40"/>
          <p:cNvCxnSpPr/>
          <p:nvPr/>
        </p:nvCxnSpPr>
        <p:spPr>
          <a:xfrm>
            <a:off x="9626470" y="6015134"/>
            <a:ext cx="1423" cy="37011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892302" y="6420545"/>
            <a:ext cx="1107996" cy="369332"/>
          </a:xfrm>
          <a:prstGeom prst="rect">
            <a:avLst/>
          </a:prstGeom>
        </p:spPr>
        <p:txBody>
          <a:bodyPr wrap="non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风险系数</a:t>
            </a:r>
            <a:endParaRPr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7" name="直接箭头连接符 46"/>
          <p:cNvCxnSpPr/>
          <p:nvPr/>
        </p:nvCxnSpPr>
        <p:spPr>
          <a:xfrm>
            <a:off x="3082888" y="6449411"/>
            <a:ext cx="0" cy="41450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右箭头 47"/>
          <p:cNvSpPr/>
          <p:nvPr/>
        </p:nvSpPr>
        <p:spPr>
          <a:xfrm>
            <a:off x="3365916" y="6449411"/>
            <a:ext cx="494394" cy="314160"/>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4009346" y="6426936"/>
            <a:ext cx="2262158"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聚合商投入风险成本</a:t>
            </a:r>
          </a:p>
        </p:txBody>
      </p:sp>
      <p:sp>
        <p:nvSpPr>
          <p:cNvPr id="51" name="右箭头 50"/>
          <p:cNvSpPr/>
          <p:nvPr/>
        </p:nvSpPr>
        <p:spPr>
          <a:xfrm>
            <a:off x="6662841" y="6449411"/>
            <a:ext cx="494394" cy="314160"/>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157235" y="6426936"/>
            <a:ext cx="1569660"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聚合商总成本</a:t>
            </a:r>
          </a:p>
        </p:txBody>
      </p:sp>
      <p:cxnSp>
        <p:nvCxnSpPr>
          <p:cNvPr id="53" name="直接箭头连接符 52"/>
          <p:cNvCxnSpPr/>
          <p:nvPr/>
        </p:nvCxnSpPr>
        <p:spPr>
          <a:xfrm flipV="1">
            <a:off x="9636480" y="6435179"/>
            <a:ext cx="0" cy="3693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4" name="右箭头 53"/>
          <p:cNvSpPr/>
          <p:nvPr/>
        </p:nvSpPr>
        <p:spPr>
          <a:xfrm>
            <a:off x="9764427" y="6449411"/>
            <a:ext cx="494394" cy="314160"/>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10221799" y="6389313"/>
            <a:ext cx="1569660"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策略趋于激进</a:t>
            </a:r>
          </a:p>
        </p:txBody>
      </p:sp>
      <p:sp>
        <p:nvSpPr>
          <p:cNvPr id="60" name="矩形 59"/>
          <p:cNvSpPr/>
          <p:nvPr/>
        </p:nvSpPr>
        <p:spPr>
          <a:xfrm>
            <a:off x="8740507" y="6420545"/>
            <a:ext cx="877163" cy="369332"/>
          </a:xfrm>
          <a:prstGeom prst="rect">
            <a:avLst/>
          </a:prstGeom>
        </p:spPr>
        <p:txBody>
          <a:bodyPr wrap="non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风险值</a:t>
            </a:r>
          </a:p>
        </p:txBody>
      </p:sp>
      <p:cxnSp>
        <p:nvCxnSpPr>
          <p:cNvPr id="64" name="直接箭头连接符 63"/>
          <p:cNvCxnSpPr/>
          <p:nvPr/>
        </p:nvCxnSpPr>
        <p:spPr>
          <a:xfrm>
            <a:off x="6271504" y="6449411"/>
            <a:ext cx="0" cy="41450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8660685" y="6449411"/>
            <a:ext cx="0" cy="41450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advTm="9705"/>
    </mc:Choice>
    <mc:Fallback xmlns="">
      <p:transition advTm="970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34826" name="标题 1"/>
          <p:cNvSpPr txBox="1"/>
          <p:nvPr/>
        </p:nvSpPr>
        <p:spPr>
          <a:xfrm>
            <a:off x="2620963" y="242888"/>
            <a:ext cx="87455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1.4</a:t>
            </a:r>
            <a:r>
              <a:rPr lang="zh-CN" altLang="en-US" sz="3200" b="1" dirty="0">
                <a:latin typeface="微软雅黑" panose="020B0503020204020204" pitchFamily="34" charset="-122"/>
                <a:ea typeface="微软雅黑" panose="020B0503020204020204" pitchFamily="34" charset="-122"/>
              </a:rPr>
              <a:t>：算例仿真</a:t>
            </a:r>
          </a:p>
        </p:txBody>
      </p:sp>
      <p:sp>
        <p:nvSpPr>
          <p:cNvPr id="34827" name="文本框 53"/>
          <p:cNvSpPr txBox="1"/>
          <p:nvPr/>
        </p:nvSpPr>
        <p:spPr>
          <a:xfrm>
            <a:off x="120650" y="29305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142" name="等腰三角形 141"/>
          <p:cNvSpPr/>
          <p:nvPr/>
        </p:nvSpPr>
        <p:spPr>
          <a:xfrm rot="16200000" flipV="1">
            <a:off x="1497013" y="3071813"/>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26" name="文本框 25"/>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7" name="文本框 26"/>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2129454150"/>
              </p:ext>
            </p:extLst>
          </p:nvPr>
        </p:nvGraphicFramePr>
        <p:xfrm>
          <a:off x="2023341" y="1105772"/>
          <a:ext cx="3648400" cy="2739064"/>
        </p:xfrm>
        <a:graphic>
          <a:graphicData uri="http://schemas.openxmlformats.org/presentationml/2006/ole">
            <mc:AlternateContent xmlns:mc="http://schemas.openxmlformats.org/markup-compatibility/2006">
              <mc:Choice xmlns:v="urn:schemas-microsoft-com:vml" Requires="v">
                <p:oleObj spid="_x0000_s6305" name="Visio" r:id="rId5" imgW="9905919" imgH="7421931" progId="Visio.Drawing.15">
                  <p:embed/>
                </p:oleObj>
              </mc:Choice>
              <mc:Fallback>
                <p:oleObj name="Visio" r:id="rId5" imgW="9905919" imgH="7421931" progId="Visio.Drawing.15">
                  <p:embed/>
                  <p:pic>
                    <p:nvPicPr>
                      <p:cNvPr id="9"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3341" y="1105772"/>
                        <a:ext cx="3648400" cy="2739064"/>
                      </a:xfrm>
                      <a:prstGeom prst="rect">
                        <a:avLst/>
                      </a:prstGeom>
                      <a:noFill/>
                    </p:spPr>
                  </p:pic>
                </p:oleObj>
              </mc:Fallback>
            </mc:AlternateContent>
          </a:graphicData>
        </a:graphic>
      </p:graphicFrame>
      <p:pic>
        <p:nvPicPr>
          <p:cNvPr id="29" name="图片 28"/>
          <p:cNvPicPr>
            <a:picLocks noChangeAspect="1"/>
          </p:cNvPicPr>
          <p:nvPr/>
        </p:nvPicPr>
        <p:blipFill>
          <a:blip r:embed="rId7"/>
          <a:stretch>
            <a:fillRect/>
          </a:stretch>
        </p:blipFill>
        <p:spPr>
          <a:xfrm>
            <a:off x="1999302" y="3818941"/>
            <a:ext cx="3672439" cy="2751505"/>
          </a:xfrm>
          <a:prstGeom prst="rect">
            <a:avLst/>
          </a:prstGeom>
        </p:spPr>
      </p:pic>
      <p:sp>
        <p:nvSpPr>
          <p:cNvPr id="30" name="文本框 29"/>
          <p:cNvSpPr txBox="1"/>
          <p:nvPr/>
        </p:nvSpPr>
        <p:spPr>
          <a:xfrm>
            <a:off x="1754188" y="4332109"/>
            <a:ext cx="280475" cy="1200329"/>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风险偏好</a:t>
            </a:r>
            <a:endParaRPr lang="zh-CN" altLang="en-US"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1697991" y="1831486"/>
            <a:ext cx="363839" cy="1200329"/>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风险厌恶</a:t>
            </a:r>
            <a:endParaRPr lang="zh-CN" altLang="en-US" dirty="0">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8"/>
          <a:stretch>
            <a:fillRect/>
          </a:stretch>
        </p:blipFill>
        <p:spPr>
          <a:xfrm>
            <a:off x="5578335" y="1083399"/>
            <a:ext cx="3660250" cy="2742439"/>
          </a:xfrm>
          <a:prstGeom prst="rect">
            <a:avLst/>
          </a:prstGeom>
        </p:spPr>
      </p:pic>
      <p:pic>
        <p:nvPicPr>
          <p:cNvPr id="37" name="图片 36"/>
          <p:cNvPicPr>
            <a:picLocks noChangeAspect="1"/>
          </p:cNvPicPr>
          <p:nvPr/>
        </p:nvPicPr>
        <p:blipFill>
          <a:blip r:embed="rId9"/>
          <a:stretch>
            <a:fillRect/>
          </a:stretch>
        </p:blipFill>
        <p:spPr>
          <a:xfrm>
            <a:off x="5578335" y="3814213"/>
            <a:ext cx="3660250" cy="2743791"/>
          </a:xfrm>
          <a:prstGeom prst="rect">
            <a:avLst/>
          </a:prstGeom>
        </p:spPr>
      </p:pic>
      <p:pic>
        <p:nvPicPr>
          <p:cNvPr id="39" name="图片 38"/>
          <p:cNvPicPr>
            <a:picLocks noChangeAspect="1"/>
          </p:cNvPicPr>
          <p:nvPr/>
        </p:nvPicPr>
        <p:blipFill>
          <a:blip r:embed="rId10"/>
          <a:stretch>
            <a:fillRect/>
          </a:stretch>
        </p:blipFill>
        <p:spPr>
          <a:xfrm>
            <a:off x="8773609" y="1067036"/>
            <a:ext cx="3665329" cy="2751905"/>
          </a:xfrm>
          <a:prstGeom prst="rect">
            <a:avLst/>
          </a:prstGeom>
        </p:spPr>
      </p:pic>
      <p:pic>
        <p:nvPicPr>
          <p:cNvPr id="40" name="图片 39"/>
          <p:cNvPicPr>
            <a:picLocks noChangeAspect="1"/>
          </p:cNvPicPr>
          <p:nvPr/>
        </p:nvPicPr>
        <p:blipFill>
          <a:blip r:embed="rId11"/>
          <a:stretch>
            <a:fillRect/>
          </a:stretch>
        </p:blipFill>
        <p:spPr>
          <a:xfrm>
            <a:off x="8773609" y="3831382"/>
            <a:ext cx="3665329" cy="274899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5428"/>
    </mc:Choice>
    <mc:Fallback xmlns="">
      <p:transition advTm="5428"/>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标题 1"/>
          <p:cNvSpPr txBox="1"/>
          <p:nvPr/>
        </p:nvSpPr>
        <p:spPr>
          <a:xfrm>
            <a:off x="1284288" y="3382963"/>
            <a:ext cx="9623425" cy="814387"/>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buFontTx/>
              <a:buNone/>
            </a:pPr>
            <a:r>
              <a:rPr lang="zh-CN" altLang="en-US" sz="4400" b="1" dirty="0">
                <a:solidFill>
                  <a:srgbClr val="1C4885"/>
                </a:solidFill>
                <a:latin typeface="微软雅黑" panose="020B0503020204020204" pitchFamily="34" charset="-122"/>
                <a:ea typeface="微软雅黑" panose="020B0503020204020204" pitchFamily="34" charset="-122"/>
              </a:rPr>
              <a:t>针对聚合商成本函数的虚假数据注入攻击建模方法</a:t>
            </a:r>
          </a:p>
        </p:txBody>
      </p:sp>
      <p:pic>
        <p:nvPicPr>
          <p:cNvPr id="47107" name="图片 19"/>
          <p:cNvPicPr>
            <a:picLocks noChangeAspect="1"/>
          </p:cNvPicPr>
          <p:nvPr/>
        </p:nvPicPr>
        <p:blipFill>
          <a:blip r:embed="rId3"/>
          <a:stretch>
            <a:fillRect/>
          </a:stretch>
        </p:blipFill>
        <p:spPr>
          <a:xfrm>
            <a:off x="419100" y="393700"/>
            <a:ext cx="1976438" cy="735013"/>
          </a:xfrm>
          <a:prstGeom prst="rect">
            <a:avLst/>
          </a:prstGeom>
          <a:noFill/>
          <a:ln w="9525">
            <a:noFill/>
          </a:ln>
        </p:spPr>
      </p:pic>
      <p:sp>
        <p:nvSpPr>
          <p:cNvPr id="47108" name="Freeform 5"/>
          <p:cNvSpPr>
            <a:spLocks noEditPoints="1"/>
          </p:cNvSpPr>
          <p:nvPr/>
        </p:nvSpPr>
        <p:spPr>
          <a:xfrm>
            <a:off x="5538788" y="2087563"/>
            <a:ext cx="1114425" cy="99695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1441"/>
    </mc:Choice>
    <mc:Fallback xmlns="">
      <p:transition advTm="144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49162" name="标题 1"/>
          <p:cNvSpPr txBox="1"/>
          <p:nvPr/>
        </p:nvSpPr>
        <p:spPr>
          <a:xfrm>
            <a:off x="2620963" y="242888"/>
            <a:ext cx="92408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smtClean="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2.1</a:t>
            </a:r>
            <a:r>
              <a:rPr lang="zh-CN" altLang="en-US" sz="3200" b="1" dirty="0">
                <a:latin typeface="微软雅黑" panose="020B0503020204020204" pitchFamily="34" charset="-122"/>
                <a:ea typeface="微软雅黑" panose="020B0503020204020204" pitchFamily="34" charset="-122"/>
              </a:rPr>
              <a:t>：针对聚合商的恶意攻击者建模</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49164" name="文本框 54"/>
          <p:cNvSpPr txBox="1"/>
          <p:nvPr/>
        </p:nvSpPr>
        <p:spPr>
          <a:xfrm>
            <a:off x="120650" y="40100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44" name="等腰三角形 43"/>
          <p:cNvSpPr/>
          <p:nvPr/>
        </p:nvSpPr>
        <p:spPr>
          <a:xfrm rot="16200000" flipV="1">
            <a:off x="1506538" y="4140200"/>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45" name="文本框 44"/>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pic>
        <p:nvPicPr>
          <p:cNvPr id="28" name="图片 27"/>
          <p:cNvPicPr>
            <a:picLocks noChangeAspect="1"/>
          </p:cNvPicPr>
          <p:nvPr/>
        </p:nvPicPr>
        <p:blipFill>
          <a:blip r:embed="rId4"/>
          <a:stretch>
            <a:fillRect/>
          </a:stretch>
        </p:blipFill>
        <p:spPr>
          <a:xfrm>
            <a:off x="4394422" y="1060459"/>
            <a:ext cx="7794403" cy="5421610"/>
          </a:xfrm>
          <a:prstGeom prst="rect">
            <a:avLst/>
          </a:prstGeom>
        </p:spPr>
      </p:pic>
      <p:sp>
        <p:nvSpPr>
          <p:cNvPr id="10" name="矩形 9"/>
          <p:cNvSpPr/>
          <p:nvPr/>
        </p:nvSpPr>
        <p:spPr>
          <a:xfrm>
            <a:off x="7071482" y="6488668"/>
            <a:ext cx="2315057" cy="369332"/>
          </a:xfrm>
          <a:prstGeom prst="rect">
            <a:avLst/>
          </a:prstGeom>
        </p:spPr>
        <p:txBody>
          <a:bodyPr wrap="none">
            <a:spAutoFit/>
          </a:bodyPr>
          <a:lstStyle/>
          <a:p>
            <a:r>
              <a:rPr lang="zh-CN" altLang="zh-CN" dirty="0">
                <a:ea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恶意攻击入侵流程图</a:t>
            </a:r>
            <a:endParaRPr lang="zh-CN" altLang="en-US" dirty="0">
              <a:latin typeface="微软雅黑" panose="020B0503020204020204" pitchFamily="34" charset="-122"/>
              <a:ea typeface="微软雅黑" panose="020B0503020204020204" pitchFamily="34" charset="-122"/>
            </a:endParaRPr>
          </a:p>
        </p:txBody>
      </p:sp>
      <p:sp>
        <p:nvSpPr>
          <p:cNvPr id="36" name="圆角矩形 35"/>
          <p:cNvSpPr/>
          <p:nvPr/>
        </p:nvSpPr>
        <p:spPr>
          <a:xfrm>
            <a:off x="2369648" y="989013"/>
            <a:ext cx="1383914"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攻击原理</a:t>
            </a:r>
            <a:endParaRPr lang="zh-CN" altLang="en-US" dirty="0">
              <a:latin typeface="微软雅黑" panose="020B0503020204020204" pitchFamily="34" charset="-122"/>
              <a:ea typeface="微软雅黑" panose="020B0503020204020204" pitchFamily="34" charset="-122"/>
            </a:endParaRPr>
          </a:p>
        </p:txBody>
      </p:sp>
      <p:sp>
        <p:nvSpPr>
          <p:cNvPr id="37" name="矩形 36"/>
          <p:cNvSpPr/>
          <p:nvPr/>
        </p:nvSpPr>
        <p:spPr>
          <a:xfrm>
            <a:off x="1800226" y="925513"/>
            <a:ext cx="2565621" cy="2803829"/>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 name="矩形 24"/>
          <p:cNvSpPr/>
          <p:nvPr/>
        </p:nvSpPr>
        <p:spPr>
          <a:xfrm>
            <a:off x="1836738" y="1424318"/>
            <a:ext cx="2577568" cy="2308324"/>
          </a:xfrm>
          <a:prstGeom prst="rect">
            <a:avLst/>
          </a:prstGeom>
        </p:spPr>
        <p:txBody>
          <a:bodyPr wrap="square">
            <a:spAutoFit/>
          </a:bodyPr>
          <a:lstStyle/>
          <a:p>
            <a:r>
              <a:rPr lang="zh-CN"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攻击者在</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交互</a:t>
            </a:r>
            <a:r>
              <a:rPr lang="zh-CN"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的信息流中</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选择性</a:t>
            </a:r>
            <a:r>
              <a:rPr lang="zh-CN"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注入攻击向量</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聚合商</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将在</a:t>
            </a:r>
            <a:r>
              <a:rPr lang="zh-CN" altLang="zh-CN" dirty="0" smtClean="0">
                <a:latin typeface="微软雅黑" panose="020B0503020204020204" pitchFamily="34" charset="-122"/>
                <a:ea typeface="微软雅黑" panose="020B0503020204020204" pitchFamily="34" charset="-122"/>
                <a:cs typeface="微软雅黑" panose="020B0503020204020204" pitchFamily="34" charset="-122"/>
              </a:rPr>
              <a:t>错误</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成本函数信息</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下完成</a:t>
            </a:r>
            <a:r>
              <a:rPr lang="zh-CN"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与用户的交互</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，使得该</a:t>
            </a:r>
            <a:r>
              <a:rPr lang="zh-CN"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节点负荷</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异常变化，此攻击向量可以造成系统及</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聚合商</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的损失。</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矩形 40"/>
          <p:cNvSpPr/>
          <p:nvPr/>
        </p:nvSpPr>
        <p:spPr>
          <a:xfrm>
            <a:off x="1800226" y="3875240"/>
            <a:ext cx="2565621" cy="2803829"/>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2" name="圆角矩形 41"/>
          <p:cNvSpPr/>
          <p:nvPr/>
        </p:nvSpPr>
        <p:spPr>
          <a:xfrm>
            <a:off x="2369648" y="4006843"/>
            <a:ext cx="1383914"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攻击路径</a:t>
            </a:r>
          </a:p>
        </p:txBody>
      </p:sp>
      <p:sp>
        <p:nvSpPr>
          <p:cNvPr id="26" name="矩形 25"/>
          <p:cNvSpPr/>
          <p:nvPr/>
        </p:nvSpPr>
        <p:spPr>
          <a:xfrm>
            <a:off x="1808638" y="4370994"/>
            <a:ext cx="2505934" cy="2308324"/>
          </a:xfrm>
          <a:prstGeom prst="rect">
            <a:avLst/>
          </a:prstGeom>
        </p:spPr>
        <p:txBody>
          <a:bodyPr wrap="square">
            <a:spAutoFit/>
          </a:bodyPr>
          <a:lstStyle/>
          <a:p>
            <a:r>
              <a:rPr lang="zh-CN" altLang="en-US" kern="100" dirty="0">
                <a:latin typeface="微软雅黑" panose="020B0503020204020204" pitchFamily="34" charset="-122"/>
                <a:ea typeface="微软雅黑" panose="020B0503020204020204" pitchFamily="34" charset="-122"/>
                <a:cs typeface="微软雅黑" panose="020B0503020204020204" pitchFamily="34" charset="-122"/>
                <a:sym typeface="+mn-ea"/>
              </a:rPr>
              <a:t>攻击者一方面</a:t>
            </a:r>
            <a:r>
              <a:rPr lang="zh-CN" altLang="en-US" kern="1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可以在</a:t>
            </a:r>
            <a:r>
              <a:rPr lang="zh-CN" altLang="en-US" kern="1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通信链路</a:t>
            </a:r>
            <a:r>
              <a:rPr lang="zh-CN" altLang="en-US" kern="1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拦截</a:t>
            </a:r>
            <a:r>
              <a:rPr lang="zh-CN" altLang="en-US" kern="100" dirty="0">
                <a:latin typeface="微软雅黑" panose="020B0503020204020204" pitchFamily="34" charset="-122"/>
                <a:ea typeface="微软雅黑" panose="020B0503020204020204" pitchFamily="34" charset="-122"/>
                <a:cs typeface="微软雅黑" panose="020B0503020204020204" pitchFamily="34" charset="-122"/>
                <a:sym typeface="+mn-ea"/>
              </a:rPr>
              <a:t>成本函数信息并篡改参数。另一方面其可以通过聚合商的设备</a:t>
            </a:r>
            <a:r>
              <a:rPr lang="zh-CN" altLang="en-US"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系统漏洞</a:t>
            </a:r>
            <a:r>
              <a:rPr lang="zh-CN" altLang="en-US" kern="100" dirty="0">
                <a:latin typeface="微软雅黑" panose="020B0503020204020204" pitchFamily="34" charset="-122"/>
                <a:ea typeface="微软雅黑" panose="020B0503020204020204" pitchFamily="34" charset="-122"/>
                <a:cs typeface="微软雅黑" panose="020B0503020204020204" pitchFamily="34" charset="-122"/>
                <a:sym typeface="+mn-ea"/>
              </a:rPr>
              <a:t>入侵聚合商的系统，释放恶意软件查找</a:t>
            </a:r>
            <a:r>
              <a:rPr lang="zh-CN" altLang="en-US"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成本函数</a:t>
            </a:r>
            <a:r>
              <a:rPr lang="zh-CN" altLang="en-US" kern="100" dirty="0">
                <a:latin typeface="微软雅黑" panose="020B0503020204020204" pitchFamily="34" charset="-122"/>
                <a:ea typeface="微软雅黑" panose="020B0503020204020204" pitchFamily="34" charset="-122"/>
                <a:cs typeface="微软雅黑" panose="020B0503020204020204" pitchFamily="34" charset="-122"/>
                <a:sym typeface="+mn-ea"/>
              </a:rPr>
              <a:t>，注入虚假参数进行篡改。</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advTm="37399"/>
    </mc:Choice>
    <mc:Fallback xmlns="">
      <p:transition advTm="37399"/>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5"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51213" name="标题 1"/>
          <p:cNvSpPr txBox="1"/>
          <p:nvPr/>
        </p:nvSpPr>
        <p:spPr>
          <a:xfrm>
            <a:off x="2620963" y="242888"/>
            <a:ext cx="92408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smtClean="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2.1</a:t>
            </a:r>
            <a:r>
              <a:rPr lang="zh-CN" altLang="en-US" sz="3200" b="1" dirty="0">
                <a:latin typeface="微软雅黑" panose="020B0503020204020204" pitchFamily="34" charset="-122"/>
                <a:ea typeface="微软雅黑" panose="020B0503020204020204" pitchFamily="34" charset="-122"/>
              </a:rPr>
              <a:t>：针对聚合商的恶意攻击者建模</a:t>
            </a:r>
          </a:p>
          <a:p>
            <a:pPr marL="0" lvl="0" indent="0" eaLnBrk="1" hangingPunct="1">
              <a:spcBef>
                <a:spcPct val="0"/>
              </a:spcBef>
              <a:buFontTx/>
              <a:buNone/>
            </a:pP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1215" name="文本框 54"/>
          <p:cNvSpPr txBox="1"/>
          <p:nvPr/>
        </p:nvSpPr>
        <p:spPr>
          <a:xfrm>
            <a:off x="120650" y="40100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cxnSp>
        <p:nvCxnSpPr>
          <p:cNvPr id="41" name="直接连接符 40"/>
          <p:cNvCxnSpPr/>
          <p:nvPr/>
        </p:nvCxnSpPr>
        <p:spPr>
          <a:xfrm>
            <a:off x="5588000" y="617537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等腰三角形 43"/>
          <p:cNvSpPr/>
          <p:nvPr/>
        </p:nvSpPr>
        <p:spPr>
          <a:xfrm rot="16200000" flipV="1">
            <a:off x="1498600" y="42005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45" name="文本框 44"/>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1988848" y="5247037"/>
            <a:ext cx="9872952" cy="1505857"/>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a:p>
        </p:txBody>
      </p:sp>
      <p:sp>
        <p:nvSpPr>
          <p:cNvPr id="24" name="矩形 23"/>
          <p:cNvSpPr/>
          <p:nvPr/>
        </p:nvSpPr>
        <p:spPr>
          <a:xfrm>
            <a:off x="1980363" y="5230916"/>
            <a:ext cx="786546" cy="15219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smtClean="0">
                <a:latin typeface="微软雅黑" panose="020B0503020204020204" pitchFamily="34" charset="-122"/>
                <a:ea typeface="微软雅黑" panose="020B0503020204020204" pitchFamily="34" charset="-122"/>
              </a:rPr>
              <a:t>攻击成本建模</a:t>
            </a:r>
            <a:endParaRPr lang="zh-CN" altLang="en-US" dirty="0">
              <a:latin typeface="微软雅黑" panose="020B0503020204020204" pitchFamily="34" charset="-122"/>
              <a:ea typeface="微软雅黑" panose="020B0503020204020204" pitchFamily="34" charset="-122"/>
            </a:endParaRPr>
          </a:p>
        </p:txBody>
      </p:sp>
      <p:sp>
        <p:nvSpPr>
          <p:cNvPr id="26" name="矩形 25"/>
          <p:cNvSpPr/>
          <p:nvPr/>
        </p:nvSpPr>
        <p:spPr>
          <a:xfrm>
            <a:off x="2862489" y="5395582"/>
            <a:ext cx="4101474" cy="680507"/>
          </a:xfrm>
          <a:prstGeom prst="rect">
            <a:avLst/>
          </a:prstGeom>
        </p:spPr>
        <p:txBody>
          <a:bodyPr wrap="square">
            <a:spAutoFit/>
          </a:bodyPr>
          <a:lstStyle/>
          <a:p>
            <a:pPr>
              <a:lnSpc>
                <a:spcPct val="110000"/>
              </a:lnSpc>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本文利用通用漏洞评分</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系统</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smtClean="0">
                <a:latin typeface="微软雅黑" panose="020B0503020204020204" pitchFamily="34" charset="-122"/>
                <a:ea typeface="微软雅黑" panose="020B0503020204020204" pitchFamily="34" charset="-122"/>
                <a:cs typeface="Times New Roman" panose="02020603050405020304" pitchFamily="18" charset="0"/>
              </a:rPr>
              <a:t>CVSS</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）评分量化漏洞利用难度：</a:t>
            </a:r>
            <a:endParaRPr lang="zh-CN" altLang="en-US" dirty="0">
              <a:latin typeface="微软雅黑" panose="020B0503020204020204" pitchFamily="34" charset="-122"/>
              <a:ea typeface="微软雅黑" panose="020B0503020204020204" pitchFamily="34" charset="-122"/>
            </a:endParaRPr>
          </a:p>
        </p:txBody>
      </p:sp>
      <p:graphicFrame>
        <p:nvGraphicFramePr>
          <p:cNvPr id="27" name="对象 26"/>
          <p:cNvGraphicFramePr>
            <a:graphicFrameLocks noChangeAspect="1"/>
          </p:cNvGraphicFramePr>
          <p:nvPr>
            <p:extLst>
              <p:ext uri="{D42A27DB-BD31-4B8C-83A1-F6EECF244321}">
                <p14:modId xmlns:p14="http://schemas.microsoft.com/office/powerpoint/2010/main" val="1948855663"/>
              </p:ext>
            </p:extLst>
          </p:nvPr>
        </p:nvGraphicFramePr>
        <p:xfrm>
          <a:off x="3213795" y="6221062"/>
          <a:ext cx="2471992" cy="255206"/>
        </p:xfrm>
        <a:graphic>
          <a:graphicData uri="http://schemas.openxmlformats.org/presentationml/2006/ole">
            <mc:AlternateContent xmlns:mc="http://schemas.openxmlformats.org/markup-compatibility/2006">
              <mc:Choice xmlns:v="urn:schemas-microsoft-com:vml" Requires="v">
                <p:oleObj spid="_x0000_s23812" name="Equation" r:id="rId5" imgW="1567921" imgH="161721" progId="Equation.DSMT4">
                  <p:embed/>
                </p:oleObj>
              </mc:Choice>
              <mc:Fallback>
                <p:oleObj name="Equation" r:id="rId5" imgW="1567921" imgH="161721" progId="Equation.DSMT4">
                  <p:embed/>
                  <p:pic>
                    <p:nvPicPr>
                      <p:cNvPr id="18" name="对象 17"/>
                      <p:cNvPicPr/>
                      <p:nvPr/>
                    </p:nvPicPr>
                    <p:blipFill>
                      <a:blip r:embed="rId6"/>
                      <a:stretch>
                        <a:fillRect/>
                      </a:stretch>
                    </p:blipFill>
                    <p:spPr>
                      <a:xfrm>
                        <a:off x="3213795" y="6221062"/>
                        <a:ext cx="2471992" cy="255206"/>
                      </a:xfrm>
                      <a:prstGeom prst="rect">
                        <a:avLst/>
                      </a:prstGeom>
                    </p:spPr>
                  </p:pic>
                </p:oleObj>
              </mc:Fallback>
            </mc:AlternateContent>
          </a:graphicData>
        </a:graphic>
      </p:graphicFrame>
      <p:sp>
        <p:nvSpPr>
          <p:cNvPr id="28" name="矩形 27"/>
          <p:cNvSpPr/>
          <p:nvPr/>
        </p:nvSpPr>
        <p:spPr>
          <a:xfrm>
            <a:off x="6846709" y="5399288"/>
            <a:ext cx="4913169" cy="680507"/>
          </a:xfrm>
          <a:prstGeom prst="rect">
            <a:avLst/>
          </a:prstGeom>
        </p:spPr>
        <p:txBody>
          <a:bodyPr wrap="square">
            <a:spAutoFit/>
          </a:bodyPr>
          <a:lstStyle/>
          <a:p>
            <a:pPr>
              <a:lnSpc>
                <a:spcPct val="110000"/>
              </a:lnSpc>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攻击者在</a:t>
            </a:r>
            <a:r>
              <a:rPr lang="en-US" altLang="zh-CN" i="1" dirty="0" smtClean="0">
                <a:latin typeface="微软雅黑" panose="020B0503020204020204" pitchFamily="34" charset="-122"/>
                <a:ea typeface="微软雅黑" panose="020B0503020204020204" pitchFamily="34" charset="-122"/>
              </a:rPr>
              <a:t>t </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时段</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利用漏洞入侵和操纵</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i="1" dirty="0" err="1" smtClean="0">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个</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聚合商的成本可以表述为：</a:t>
            </a:r>
            <a:endParaRPr lang="zh-CN" altLang="en-US" dirty="0">
              <a:latin typeface="微软雅黑" panose="020B0503020204020204" pitchFamily="34" charset="-122"/>
              <a:ea typeface="微软雅黑" panose="020B0503020204020204" pitchFamily="34" charset="-122"/>
            </a:endParaRPr>
          </a:p>
        </p:txBody>
      </p:sp>
      <p:graphicFrame>
        <p:nvGraphicFramePr>
          <p:cNvPr id="29" name="对象 28"/>
          <p:cNvGraphicFramePr>
            <a:graphicFrameLocks noChangeAspect="1"/>
          </p:cNvGraphicFramePr>
          <p:nvPr>
            <p:extLst>
              <p:ext uri="{D42A27DB-BD31-4B8C-83A1-F6EECF244321}">
                <p14:modId xmlns:p14="http://schemas.microsoft.com/office/powerpoint/2010/main" val="1232880444"/>
              </p:ext>
            </p:extLst>
          </p:nvPr>
        </p:nvGraphicFramePr>
        <p:xfrm>
          <a:off x="7671599" y="5968511"/>
          <a:ext cx="1274948" cy="801557"/>
        </p:xfrm>
        <a:graphic>
          <a:graphicData uri="http://schemas.openxmlformats.org/presentationml/2006/ole">
            <mc:AlternateContent xmlns:mc="http://schemas.openxmlformats.org/markup-compatibility/2006">
              <mc:Choice xmlns:v="urn:schemas-microsoft-com:vml" Requires="v">
                <p:oleObj spid="_x0000_s23813" name="Equation" r:id="rId7" imgW="1073771" imgH="675274" progId="Equation.DSMT4">
                  <p:embed/>
                </p:oleObj>
              </mc:Choice>
              <mc:Fallback>
                <p:oleObj name="Equation" r:id="rId7" imgW="1073771" imgH="675274" progId="Equation.DSMT4">
                  <p:embed/>
                  <p:pic>
                    <p:nvPicPr>
                      <p:cNvPr id="21" name="对象 20"/>
                      <p:cNvPicPr/>
                      <p:nvPr/>
                    </p:nvPicPr>
                    <p:blipFill>
                      <a:blip r:embed="rId8"/>
                      <a:stretch>
                        <a:fillRect/>
                      </a:stretch>
                    </p:blipFill>
                    <p:spPr>
                      <a:xfrm>
                        <a:off x="7671599" y="5968511"/>
                        <a:ext cx="1274948" cy="801557"/>
                      </a:xfrm>
                      <a:prstGeom prst="rect">
                        <a:avLst/>
                      </a:prstGeom>
                    </p:spPr>
                  </p:pic>
                </p:oleObj>
              </mc:Fallback>
            </mc:AlternateContent>
          </a:graphicData>
        </a:graphic>
      </p:graphicFrame>
      <p:sp>
        <p:nvSpPr>
          <p:cNvPr id="30" name="矩形 29"/>
          <p:cNvSpPr/>
          <p:nvPr/>
        </p:nvSpPr>
        <p:spPr>
          <a:xfrm>
            <a:off x="2089655" y="976664"/>
            <a:ext cx="9772145" cy="415572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a:p>
        </p:txBody>
      </p:sp>
      <p:graphicFrame>
        <p:nvGraphicFramePr>
          <p:cNvPr id="31" name="对象 30"/>
          <p:cNvGraphicFramePr>
            <a:graphicFrameLocks noChangeAspect="1"/>
          </p:cNvGraphicFramePr>
          <p:nvPr>
            <p:extLst>
              <p:ext uri="{D42A27DB-BD31-4B8C-83A1-F6EECF244321}">
                <p14:modId xmlns:p14="http://schemas.microsoft.com/office/powerpoint/2010/main" val="1119635667"/>
              </p:ext>
            </p:extLst>
          </p:nvPr>
        </p:nvGraphicFramePr>
        <p:xfrm>
          <a:off x="9405358" y="5959609"/>
          <a:ext cx="1396180" cy="793284"/>
        </p:xfrm>
        <a:graphic>
          <a:graphicData uri="http://schemas.openxmlformats.org/presentationml/2006/ole">
            <mc:AlternateContent xmlns:mc="http://schemas.openxmlformats.org/markup-compatibility/2006">
              <mc:Choice xmlns:v="urn:schemas-microsoft-com:vml" Requires="v">
                <p:oleObj spid="_x0000_s23814" name="Equation" r:id="rId9" imgW="1187612" imgH="675274" progId="Equation.DSMT4">
                  <p:embed/>
                </p:oleObj>
              </mc:Choice>
              <mc:Fallback>
                <p:oleObj name="Equation" r:id="rId9" imgW="1187612" imgH="675274" progId="Equation.DSMT4">
                  <p:embed/>
                  <p:pic>
                    <p:nvPicPr>
                      <p:cNvPr id="30" name="对象 29"/>
                      <p:cNvPicPr/>
                      <p:nvPr/>
                    </p:nvPicPr>
                    <p:blipFill>
                      <a:blip r:embed="rId10"/>
                      <a:stretch>
                        <a:fillRect/>
                      </a:stretch>
                    </p:blipFill>
                    <p:spPr>
                      <a:xfrm>
                        <a:off x="9405358" y="5959609"/>
                        <a:ext cx="1396180" cy="793284"/>
                      </a:xfrm>
                      <a:prstGeom prst="rect">
                        <a:avLst/>
                      </a:prstGeom>
                    </p:spPr>
                  </p:pic>
                </p:oleObj>
              </mc:Fallback>
            </mc:AlternateContent>
          </a:graphicData>
        </a:graphic>
      </p:graphicFrame>
      <p:sp>
        <p:nvSpPr>
          <p:cNvPr id="32" name="矩形 31"/>
          <p:cNvSpPr/>
          <p:nvPr/>
        </p:nvSpPr>
        <p:spPr>
          <a:xfrm>
            <a:off x="1980362" y="976663"/>
            <a:ext cx="786546" cy="41557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smtClean="0">
                <a:latin typeface="微软雅黑" panose="020B0503020204020204" pitchFamily="34" charset="-122"/>
                <a:ea typeface="微软雅黑" panose="020B0503020204020204" pitchFamily="34" charset="-122"/>
              </a:rPr>
              <a:t>攻</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击</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收</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益</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建</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模</a:t>
            </a:r>
            <a:endParaRPr lang="zh-CN" altLang="en-US" dirty="0">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7889498" y="973870"/>
            <a:ext cx="21231" cy="4209669"/>
          </a:xfrm>
          <a:prstGeom prst="lin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cxnSp>
      <p:sp>
        <p:nvSpPr>
          <p:cNvPr id="37" name="矩形 36"/>
          <p:cNvSpPr/>
          <p:nvPr/>
        </p:nvSpPr>
        <p:spPr>
          <a:xfrm>
            <a:off x="2485326" y="1448795"/>
            <a:ext cx="1977259" cy="374461"/>
          </a:xfrm>
          <a:prstGeom prst="rect">
            <a:avLst/>
          </a:prstGeom>
        </p:spPr>
        <p:txBody>
          <a:bodyPr wrap="square">
            <a:spAutoFit/>
          </a:bodyPr>
          <a:lstStyle/>
          <a:p>
            <a:pPr indent="304800" algn="just">
              <a:lnSpc>
                <a:spcPts val="2200"/>
              </a:lnSpc>
              <a:spcAft>
                <a:spcPts val="0"/>
              </a:spcAft>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电网部分</a:t>
            </a:r>
          </a:p>
        </p:txBody>
      </p:sp>
      <p:sp>
        <p:nvSpPr>
          <p:cNvPr id="38" name="矩形 37"/>
          <p:cNvSpPr/>
          <p:nvPr/>
        </p:nvSpPr>
        <p:spPr>
          <a:xfrm>
            <a:off x="2485325" y="3203410"/>
            <a:ext cx="1977259" cy="377453"/>
          </a:xfrm>
          <a:prstGeom prst="rect">
            <a:avLst/>
          </a:prstGeom>
        </p:spPr>
        <p:txBody>
          <a:bodyPr wrap="square">
            <a:spAutoFit/>
          </a:bodyPr>
          <a:lstStyle/>
          <a:p>
            <a:pPr indent="304800" algn="just" fontAlgn="ctr">
              <a:lnSpc>
                <a:spcPts val="2200"/>
              </a:lnSpc>
              <a:spcAft>
                <a:spcPts val="0"/>
              </a:spcAft>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热网部分</a:t>
            </a:r>
          </a:p>
        </p:txBody>
      </p:sp>
      <p:graphicFrame>
        <p:nvGraphicFramePr>
          <p:cNvPr id="39" name="对象 38"/>
          <p:cNvGraphicFramePr>
            <a:graphicFrameLocks noChangeAspect="1"/>
          </p:cNvGraphicFramePr>
          <p:nvPr>
            <p:extLst>
              <p:ext uri="{D42A27DB-BD31-4B8C-83A1-F6EECF244321}">
                <p14:modId xmlns:p14="http://schemas.microsoft.com/office/powerpoint/2010/main" val="4267075643"/>
              </p:ext>
            </p:extLst>
          </p:nvPr>
        </p:nvGraphicFramePr>
        <p:xfrm>
          <a:off x="3639234" y="2544164"/>
          <a:ext cx="1092236" cy="684429"/>
        </p:xfrm>
        <a:graphic>
          <a:graphicData uri="http://schemas.openxmlformats.org/presentationml/2006/ole">
            <mc:AlternateContent xmlns:mc="http://schemas.openxmlformats.org/markup-compatibility/2006">
              <mc:Choice xmlns:v="urn:schemas-microsoft-com:vml" Requires="v">
                <p:oleObj spid="_x0000_s23815" name="Equation" r:id="rId11" imgW="607992" imgH="380223" progId="Equation.DSMT4">
                  <p:embed/>
                </p:oleObj>
              </mc:Choice>
              <mc:Fallback>
                <p:oleObj name="Equation" r:id="rId11" imgW="607992" imgH="380223" progId="Equation.DSMT4">
                  <p:embed/>
                  <p:pic>
                    <p:nvPicPr>
                      <p:cNvPr id="41" name="对象 40"/>
                      <p:cNvPicPr/>
                      <p:nvPr/>
                    </p:nvPicPr>
                    <p:blipFill>
                      <a:blip r:embed="rId12"/>
                      <a:stretch>
                        <a:fillRect/>
                      </a:stretch>
                    </p:blipFill>
                    <p:spPr>
                      <a:xfrm>
                        <a:off x="3639234" y="2544164"/>
                        <a:ext cx="1092236" cy="684429"/>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1626818479"/>
              </p:ext>
            </p:extLst>
          </p:nvPr>
        </p:nvGraphicFramePr>
        <p:xfrm>
          <a:off x="5143916" y="2351296"/>
          <a:ext cx="1232120" cy="923476"/>
        </p:xfrm>
        <a:graphic>
          <a:graphicData uri="http://schemas.openxmlformats.org/presentationml/2006/ole">
            <mc:AlternateContent xmlns:mc="http://schemas.openxmlformats.org/markup-compatibility/2006">
              <mc:Choice xmlns:v="urn:schemas-microsoft-com:vml" Requires="v">
                <p:oleObj spid="_x0000_s23816" name="Equation" r:id="rId13" imgW="798326" imgH="599085" progId="Equation.DSMT4">
                  <p:embed/>
                </p:oleObj>
              </mc:Choice>
              <mc:Fallback>
                <p:oleObj name="Equation" r:id="rId13" imgW="798326" imgH="599085" progId="Equation.DSMT4">
                  <p:embed/>
                  <p:pic>
                    <p:nvPicPr>
                      <p:cNvPr id="42" name="对象 41"/>
                      <p:cNvPicPr/>
                      <p:nvPr/>
                    </p:nvPicPr>
                    <p:blipFill>
                      <a:blip r:embed="rId14"/>
                      <a:stretch>
                        <a:fillRect/>
                      </a:stretch>
                    </p:blipFill>
                    <p:spPr>
                      <a:xfrm>
                        <a:off x="5143916" y="2351296"/>
                        <a:ext cx="1232120" cy="923476"/>
                      </a:xfrm>
                      <a:prstGeom prst="rect">
                        <a:avLst/>
                      </a:prstGeom>
                    </p:spPr>
                  </p:pic>
                </p:oleObj>
              </mc:Fallback>
            </mc:AlternateContent>
          </a:graphicData>
        </a:graphic>
      </p:graphicFrame>
      <p:sp>
        <p:nvSpPr>
          <p:cNvPr id="42" name="矩形 41"/>
          <p:cNvSpPr/>
          <p:nvPr/>
        </p:nvSpPr>
        <p:spPr>
          <a:xfrm>
            <a:off x="2775709" y="1795394"/>
            <a:ext cx="4986079" cy="680507"/>
          </a:xfrm>
          <a:prstGeom prst="rect">
            <a:avLst/>
          </a:prstGeom>
        </p:spPr>
        <p:txBody>
          <a:bodyPr wrap="square">
            <a:spAutoFit/>
          </a:bodyPr>
          <a:lstStyle/>
          <a:p>
            <a:pPr>
              <a:lnSpc>
                <a:spcPct val="110000"/>
              </a:lnSpc>
            </a:pP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选取</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直流潮流模型</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下</a:t>
            </a:r>
            <a:r>
              <a:rPr lang="en-US" altLang="zh-CN" i="1" dirty="0" smtClean="0">
                <a:latin typeface="微软雅黑" panose="020B0503020204020204" pitchFamily="34" charset="-122"/>
                <a:ea typeface="微软雅黑" panose="020B0503020204020204" pitchFamily="34" charset="-122"/>
              </a:rPr>
              <a:t>t </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时段</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的有功潮流波动</a:t>
            </a: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率</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为攻击者该时段的收益函数：</a:t>
            </a:r>
            <a:endParaRPr lang="zh-CN" altLang="en-US" dirty="0">
              <a:latin typeface="微软雅黑" panose="020B0503020204020204" pitchFamily="34" charset="-122"/>
              <a:ea typeface="微软雅黑" panose="020B0503020204020204" pitchFamily="34" charset="-122"/>
            </a:endParaRPr>
          </a:p>
        </p:txBody>
      </p:sp>
      <p:sp>
        <p:nvSpPr>
          <p:cNvPr id="47" name="矩形 46"/>
          <p:cNvSpPr/>
          <p:nvPr/>
        </p:nvSpPr>
        <p:spPr>
          <a:xfrm>
            <a:off x="2800291" y="3550208"/>
            <a:ext cx="4986079" cy="680507"/>
          </a:xfrm>
          <a:prstGeom prst="rect">
            <a:avLst/>
          </a:prstGeom>
        </p:spPr>
        <p:txBody>
          <a:bodyPr wrap="square">
            <a:spAutoFit/>
          </a:bodyPr>
          <a:lstStyle/>
          <a:p>
            <a:pPr>
              <a:lnSpc>
                <a:spcPct val="110000"/>
              </a:lnSpc>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选取</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管道压力波动和热损失为攻击者该时段的收益函数：</a:t>
            </a:r>
          </a:p>
        </p:txBody>
      </p:sp>
      <p:graphicFrame>
        <p:nvGraphicFramePr>
          <p:cNvPr id="48" name="对象 47"/>
          <p:cNvGraphicFramePr>
            <a:graphicFrameLocks noChangeAspect="1"/>
          </p:cNvGraphicFramePr>
          <p:nvPr>
            <p:extLst>
              <p:ext uri="{D42A27DB-BD31-4B8C-83A1-F6EECF244321}">
                <p14:modId xmlns:p14="http://schemas.microsoft.com/office/powerpoint/2010/main" val="3317521621"/>
              </p:ext>
            </p:extLst>
          </p:nvPr>
        </p:nvGraphicFramePr>
        <p:xfrm>
          <a:off x="3039060" y="4600117"/>
          <a:ext cx="2169257" cy="386176"/>
        </p:xfrm>
        <a:graphic>
          <a:graphicData uri="http://schemas.openxmlformats.org/presentationml/2006/ole">
            <mc:AlternateContent xmlns:mc="http://schemas.openxmlformats.org/markup-compatibility/2006">
              <mc:Choice xmlns:v="urn:schemas-microsoft-com:vml" Requires="v">
                <p:oleObj spid="_x0000_s23817" name="Equation" r:id="rId15" imgW="1444384" imgH="256597" progId="Equation.DSMT4">
                  <p:embed/>
                </p:oleObj>
              </mc:Choice>
              <mc:Fallback>
                <p:oleObj name="Equation" r:id="rId15" imgW="1444384" imgH="256597" progId="Equation.DSMT4">
                  <p:embed/>
                  <p:pic>
                    <p:nvPicPr>
                      <p:cNvPr id="48" name="对象 47"/>
                      <p:cNvPicPr/>
                      <p:nvPr/>
                    </p:nvPicPr>
                    <p:blipFill>
                      <a:blip r:embed="rId16"/>
                      <a:stretch>
                        <a:fillRect/>
                      </a:stretch>
                    </p:blipFill>
                    <p:spPr>
                      <a:xfrm>
                        <a:off x="3039060" y="4600117"/>
                        <a:ext cx="2169257" cy="386176"/>
                      </a:xfrm>
                      <a:prstGeom prst="rect">
                        <a:avLst/>
                      </a:prstGeom>
                    </p:spPr>
                  </p:pic>
                </p:oleObj>
              </mc:Fallback>
            </mc:AlternateContent>
          </a:graphicData>
        </a:graphic>
      </p:graphicFrame>
      <p:graphicFrame>
        <p:nvGraphicFramePr>
          <p:cNvPr id="49" name="对象 48"/>
          <p:cNvGraphicFramePr>
            <a:graphicFrameLocks noChangeAspect="1"/>
          </p:cNvGraphicFramePr>
          <p:nvPr>
            <p:extLst>
              <p:ext uri="{D42A27DB-BD31-4B8C-83A1-F6EECF244321}">
                <p14:modId xmlns:p14="http://schemas.microsoft.com/office/powerpoint/2010/main" val="67527924"/>
              </p:ext>
            </p:extLst>
          </p:nvPr>
        </p:nvGraphicFramePr>
        <p:xfrm>
          <a:off x="3243515" y="4256236"/>
          <a:ext cx="1458888" cy="292265"/>
        </p:xfrm>
        <a:graphic>
          <a:graphicData uri="http://schemas.openxmlformats.org/presentationml/2006/ole">
            <mc:AlternateContent xmlns:mc="http://schemas.openxmlformats.org/markup-compatibility/2006">
              <mc:Choice xmlns:v="urn:schemas-microsoft-com:vml" Requires="v">
                <p:oleObj spid="_x0000_s23818" name="Equation" r:id="rId17" imgW="950234" imgH="190112" progId="Equation.DSMT4">
                  <p:embed/>
                </p:oleObj>
              </mc:Choice>
              <mc:Fallback>
                <p:oleObj name="Equation" r:id="rId17" imgW="950234" imgH="190112" progId="Equation.DSMT4">
                  <p:embed/>
                  <p:pic>
                    <p:nvPicPr>
                      <p:cNvPr id="49" name="对象 48"/>
                      <p:cNvPicPr/>
                      <p:nvPr/>
                    </p:nvPicPr>
                    <p:blipFill>
                      <a:blip r:embed="rId18"/>
                      <a:stretch>
                        <a:fillRect/>
                      </a:stretch>
                    </p:blipFill>
                    <p:spPr>
                      <a:xfrm>
                        <a:off x="3243515" y="4256236"/>
                        <a:ext cx="1458888" cy="292265"/>
                      </a:xfrm>
                      <a:prstGeom prst="rect">
                        <a:avLst/>
                      </a:prstGeom>
                    </p:spPr>
                  </p:pic>
                </p:oleObj>
              </mc:Fallback>
            </mc:AlternateContent>
          </a:graphicData>
        </a:graphic>
      </p:graphicFrame>
      <p:pic>
        <p:nvPicPr>
          <p:cNvPr id="50" name="图片 49"/>
          <p:cNvPicPr>
            <a:picLocks noChangeAspect="1"/>
          </p:cNvPicPr>
          <p:nvPr/>
        </p:nvPicPr>
        <p:blipFill>
          <a:blip r:embed="rId19"/>
          <a:stretch>
            <a:fillRect/>
          </a:stretch>
        </p:blipFill>
        <p:spPr>
          <a:xfrm>
            <a:off x="5715507" y="3846668"/>
            <a:ext cx="1705912" cy="1371048"/>
          </a:xfrm>
          <a:prstGeom prst="rect">
            <a:avLst/>
          </a:prstGeom>
        </p:spPr>
      </p:pic>
      <p:sp>
        <p:nvSpPr>
          <p:cNvPr id="51" name="矩形 50"/>
          <p:cNvSpPr/>
          <p:nvPr/>
        </p:nvSpPr>
        <p:spPr>
          <a:xfrm>
            <a:off x="7607908" y="1494736"/>
            <a:ext cx="2762925" cy="358881"/>
          </a:xfrm>
          <a:prstGeom prst="rect">
            <a:avLst/>
          </a:prstGeom>
        </p:spPr>
        <p:txBody>
          <a:bodyPr wrap="square">
            <a:spAutoFit/>
          </a:bodyPr>
          <a:lstStyle/>
          <a:p>
            <a:pPr indent="304800" algn="just">
              <a:lnSpc>
                <a:spcPts val="2200"/>
              </a:lnSpc>
              <a:spcAft>
                <a:spcPts val="0"/>
              </a:spcAft>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运营商违约赔偿</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2" name="矩形 51"/>
          <p:cNvSpPr/>
          <p:nvPr/>
        </p:nvSpPr>
        <p:spPr>
          <a:xfrm>
            <a:off x="7607093" y="3544185"/>
            <a:ext cx="2762925" cy="358881"/>
          </a:xfrm>
          <a:prstGeom prst="rect">
            <a:avLst/>
          </a:prstGeom>
        </p:spPr>
        <p:txBody>
          <a:bodyPr wrap="square">
            <a:spAutoFit/>
          </a:bodyPr>
          <a:lstStyle/>
          <a:p>
            <a:pPr indent="304800" algn="just">
              <a:lnSpc>
                <a:spcPts val="2200"/>
              </a:lnSpc>
              <a:spcAft>
                <a:spcPts val="0"/>
              </a:spcAft>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用户满意度补偿</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3" name="对象 52"/>
          <p:cNvGraphicFramePr>
            <a:graphicFrameLocks noChangeAspect="1"/>
          </p:cNvGraphicFramePr>
          <p:nvPr>
            <p:extLst>
              <p:ext uri="{D42A27DB-BD31-4B8C-83A1-F6EECF244321}">
                <p14:modId xmlns:p14="http://schemas.microsoft.com/office/powerpoint/2010/main" val="2586663533"/>
              </p:ext>
            </p:extLst>
          </p:nvPr>
        </p:nvGraphicFramePr>
        <p:xfrm>
          <a:off x="8273402" y="1761636"/>
          <a:ext cx="2902269" cy="561318"/>
        </p:xfrm>
        <a:graphic>
          <a:graphicData uri="http://schemas.openxmlformats.org/presentationml/2006/ole">
            <mc:AlternateContent xmlns:mc="http://schemas.openxmlformats.org/markup-compatibility/2006">
              <mc:Choice xmlns:v="urn:schemas-microsoft-com:vml" Requires="v">
                <p:oleObj spid="_x0000_s23819" name="Equation" r:id="rId20" imgW="2166576" imgH="418317" progId="Equation.DSMT4">
                  <p:embed/>
                </p:oleObj>
              </mc:Choice>
              <mc:Fallback>
                <p:oleObj name="Equation" r:id="rId20" imgW="2166576" imgH="418317" progId="Equation.DSMT4">
                  <p:embed/>
                  <p:pic>
                    <p:nvPicPr>
                      <p:cNvPr id="54" name="对象 53"/>
                      <p:cNvPicPr/>
                      <p:nvPr/>
                    </p:nvPicPr>
                    <p:blipFill>
                      <a:blip r:embed="rId21"/>
                      <a:stretch>
                        <a:fillRect/>
                      </a:stretch>
                    </p:blipFill>
                    <p:spPr>
                      <a:xfrm>
                        <a:off x="8273402" y="1761636"/>
                        <a:ext cx="2902269" cy="561318"/>
                      </a:xfrm>
                      <a:prstGeom prst="rect">
                        <a:avLst/>
                      </a:prstGeom>
                    </p:spPr>
                  </p:pic>
                </p:oleObj>
              </mc:Fallback>
            </mc:AlternateContent>
          </a:graphicData>
        </a:graphic>
      </p:graphicFrame>
      <p:graphicFrame>
        <p:nvGraphicFramePr>
          <p:cNvPr id="55" name="对象 54"/>
          <p:cNvGraphicFramePr>
            <a:graphicFrameLocks noChangeAspect="1"/>
          </p:cNvGraphicFramePr>
          <p:nvPr>
            <p:extLst>
              <p:ext uri="{D42A27DB-BD31-4B8C-83A1-F6EECF244321}">
                <p14:modId xmlns:p14="http://schemas.microsoft.com/office/powerpoint/2010/main" val="1380394750"/>
              </p:ext>
            </p:extLst>
          </p:nvPr>
        </p:nvGraphicFramePr>
        <p:xfrm>
          <a:off x="8271526" y="2590306"/>
          <a:ext cx="2776908" cy="537072"/>
        </p:xfrm>
        <a:graphic>
          <a:graphicData uri="http://schemas.openxmlformats.org/presentationml/2006/ole">
            <mc:AlternateContent xmlns:mc="http://schemas.openxmlformats.org/markup-compatibility/2006">
              <mc:Choice xmlns:v="urn:schemas-microsoft-com:vml" Requires="v">
                <p:oleObj spid="_x0000_s23820" name="Equation" r:id="rId22" imgW="2166576" imgH="418317" progId="Equation.DSMT4">
                  <p:embed/>
                </p:oleObj>
              </mc:Choice>
              <mc:Fallback>
                <p:oleObj name="Equation" r:id="rId22" imgW="2166576" imgH="418317" progId="Equation.DSMT4">
                  <p:embed/>
                  <p:pic>
                    <p:nvPicPr>
                      <p:cNvPr id="55" name="对象 54"/>
                      <p:cNvPicPr/>
                      <p:nvPr/>
                    </p:nvPicPr>
                    <p:blipFill>
                      <a:blip r:embed="rId23"/>
                      <a:stretch>
                        <a:fillRect/>
                      </a:stretch>
                    </p:blipFill>
                    <p:spPr>
                      <a:xfrm>
                        <a:off x="8271526" y="2590306"/>
                        <a:ext cx="2776908" cy="537072"/>
                      </a:xfrm>
                      <a:prstGeom prst="rect">
                        <a:avLst/>
                      </a:prstGeom>
                    </p:spPr>
                  </p:pic>
                </p:oleObj>
              </mc:Fallback>
            </mc:AlternateContent>
          </a:graphicData>
        </a:graphic>
      </p:graphicFrame>
      <p:graphicFrame>
        <p:nvGraphicFramePr>
          <p:cNvPr id="56" name="对象 55"/>
          <p:cNvGraphicFramePr>
            <a:graphicFrameLocks noChangeAspect="1"/>
          </p:cNvGraphicFramePr>
          <p:nvPr>
            <p:extLst>
              <p:ext uri="{D42A27DB-BD31-4B8C-83A1-F6EECF244321}">
                <p14:modId xmlns:p14="http://schemas.microsoft.com/office/powerpoint/2010/main" val="3872772441"/>
              </p:ext>
            </p:extLst>
          </p:nvPr>
        </p:nvGraphicFramePr>
        <p:xfrm>
          <a:off x="8271526" y="2170775"/>
          <a:ext cx="1694784" cy="628972"/>
        </p:xfrm>
        <a:graphic>
          <a:graphicData uri="http://schemas.openxmlformats.org/presentationml/2006/ole">
            <mc:AlternateContent xmlns:mc="http://schemas.openxmlformats.org/markup-compatibility/2006">
              <mc:Choice xmlns:v="urn:schemas-microsoft-com:vml" Requires="v">
                <p:oleObj spid="_x0000_s23821" name="Equation" r:id="rId24" imgW="1330183" imgH="494506" progId="Equation.DSMT4">
                  <p:embed/>
                </p:oleObj>
              </mc:Choice>
              <mc:Fallback>
                <p:oleObj name="Equation" r:id="rId24" imgW="1330183" imgH="494506" progId="Equation.DSMT4">
                  <p:embed/>
                  <p:pic>
                    <p:nvPicPr>
                      <p:cNvPr id="56" name="对象 55"/>
                      <p:cNvPicPr/>
                      <p:nvPr/>
                    </p:nvPicPr>
                    <p:blipFill>
                      <a:blip r:embed="rId25"/>
                      <a:stretch>
                        <a:fillRect/>
                      </a:stretch>
                    </p:blipFill>
                    <p:spPr>
                      <a:xfrm>
                        <a:off x="8271526" y="2170775"/>
                        <a:ext cx="1694784" cy="628972"/>
                      </a:xfrm>
                      <a:prstGeom prst="rect">
                        <a:avLst/>
                      </a:prstGeom>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3263756762"/>
              </p:ext>
            </p:extLst>
          </p:nvPr>
        </p:nvGraphicFramePr>
        <p:xfrm>
          <a:off x="8235642" y="2960323"/>
          <a:ext cx="1694583" cy="628897"/>
        </p:xfrm>
        <a:graphic>
          <a:graphicData uri="http://schemas.openxmlformats.org/presentationml/2006/ole">
            <mc:AlternateContent xmlns:mc="http://schemas.openxmlformats.org/markup-compatibility/2006">
              <mc:Choice xmlns:v="urn:schemas-microsoft-com:vml" Requires="v">
                <p:oleObj spid="_x0000_s23822" name="Equation" r:id="rId26" imgW="1330183" imgH="494506" progId="Equation.DSMT4">
                  <p:embed/>
                </p:oleObj>
              </mc:Choice>
              <mc:Fallback>
                <p:oleObj name="Equation" r:id="rId26" imgW="1330183" imgH="494506" progId="Equation.DSMT4">
                  <p:embed/>
                  <p:pic>
                    <p:nvPicPr>
                      <p:cNvPr id="57" name="对象 56"/>
                      <p:cNvPicPr/>
                      <p:nvPr/>
                    </p:nvPicPr>
                    <p:blipFill>
                      <a:blip r:embed="rId27"/>
                      <a:stretch>
                        <a:fillRect/>
                      </a:stretch>
                    </p:blipFill>
                    <p:spPr>
                      <a:xfrm>
                        <a:off x="8235642" y="2960323"/>
                        <a:ext cx="1694583" cy="628897"/>
                      </a:xfrm>
                      <a:prstGeom prst="rect">
                        <a:avLst/>
                      </a:prstGeom>
                    </p:spPr>
                  </p:pic>
                </p:oleObj>
              </mc:Fallback>
            </mc:AlternateContent>
          </a:graphicData>
        </a:graphic>
      </p:graphicFrame>
      <p:graphicFrame>
        <p:nvGraphicFramePr>
          <p:cNvPr id="59" name="对象 58"/>
          <p:cNvGraphicFramePr>
            <a:graphicFrameLocks noChangeAspect="1"/>
          </p:cNvGraphicFramePr>
          <p:nvPr>
            <p:extLst>
              <p:ext uri="{D42A27DB-BD31-4B8C-83A1-F6EECF244321}">
                <p14:modId xmlns:p14="http://schemas.microsoft.com/office/powerpoint/2010/main" val="1422437107"/>
              </p:ext>
            </p:extLst>
          </p:nvPr>
        </p:nvGraphicFramePr>
        <p:xfrm>
          <a:off x="8293560" y="3860489"/>
          <a:ext cx="2421071" cy="699122"/>
        </p:xfrm>
        <a:graphic>
          <a:graphicData uri="http://schemas.openxmlformats.org/presentationml/2006/ole">
            <mc:AlternateContent xmlns:mc="http://schemas.openxmlformats.org/markup-compatibility/2006">
              <mc:Choice xmlns:v="urn:schemas-microsoft-com:vml" Requires="v">
                <p:oleObj spid="_x0000_s23823" name="Equation" r:id="rId28" imgW="1710492" imgH="494506" progId="Equation.DSMT4">
                  <p:embed/>
                </p:oleObj>
              </mc:Choice>
              <mc:Fallback>
                <p:oleObj name="Equation" r:id="rId28" imgW="1710492" imgH="494506" progId="Equation.DSMT4">
                  <p:embed/>
                  <p:pic>
                    <p:nvPicPr>
                      <p:cNvPr id="58" name="对象 57"/>
                      <p:cNvPicPr/>
                      <p:nvPr/>
                    </p:nvPicPr>
                    <p:blipFill>
                      <a:blip r:embed="rId29"/>
                      <a:stretch>
                        <a:fillRect/>
                      </a:stretch>
                    </p:blipFill>
                    <p:spPr>
                      <a:xfrm>
                        <a:off x="8293560" y="3860489"/>
                        <a:ext cx="2421071" cy="699122"/>
                      </a:xfrm>
                      <a:prstGeom prst="rect">
                        <a:avLst/>
                      </a:prstGeom>
                    </p:spPr>
                  </p:pic>
                </p:oleObj>
              </mc:Fallback>
            </mc:AlternateContent>
          </a:graphicData>
        </a:graphic>
      </p:graphicFrame>
      <p:graphicFrame>
        <p:nvGraphicFramePr>
          <p:cNvPr id="60" name="对象 59"/>
          <p:cNvGraphicFramePr>
            <a:graphicFrameLocks noChangeAspect="1"/>
          </p:cNvGraphicFramePr>
          <p:nvPr>
            <p:extLst>
              <p:ext uri="{D42A27DB-BD31-4B8C-83A1-F6EECF244321}">
                <p14:modId xmlns:p14="http://schemas.microsoft.com/office/powerpoint/2010/main" val="3902196599"/>
              </p:ext>
            </p:extLst>
          </p:nvPr>
        </p:nvGraphicFramePr>
        <p:xfrm>
          <a:off x="8309073" y="4455150"/>
          <a:ext cx="2076771" cy="604748"/>
        </p:xfrm>
        <a:graphic>
          <a:graphicData uri="http://schemas.openxmlformats.org/presentationml/2006/ole">
            <mc:AlternateContent xmlns:mc="http://schemas.openxmlformats.org/markup-compatibility/2006">
              <mc:Choice xmlns:v="urn:schemas-microsoft-com:vml" Requires="v">
                <p:oleObj spid="_x0000_s23824" name="Equation" r:id="rId30" imgW="1406317" imgH="408974" progId="Equation.DSMT4">
                  <p:embed/>
                </p:oleObj>
              </mc:Choice>
              <mc:Fallback>
                <p:oleObj name="Equation" r:id="rId30" imgW="1406317" imgH="408974" progId="Equation.DSMT4">
                  <p:embed/>
                  <p:pic>
                    <p:nvPicPr>
                      <p:cNvPr id="59" name="对象 58"/>
                      <p:cNvPicPr/>
                      <p:nvPr/>
                    </p:nvPicPr>
                    <p:blipFill>
                      <a:blip r:embed="rId31"/>
                      <a:stretch>
                        <a:fillRect/>
                      </a:stretch>
                    </p:blipFill>
                    <p:spPr>
                      <a:xfrm>
                        <a:off x="8309073" y="4455150"/>
                        <a:ext cx="2076771" cy="604748"/>
                      </a:xfrm>
                      <a:prstGeom prst="rect">
                        <a:avLst/>
                      </a:prstGeom>
                    </p:spPr>
                  </p:pic>
                </p:oleObj>
              </mc:Fallback>
            </mc:AlternateContent>
          </a:graphicData>
        </a:graphic>
      </p:graphicFrame>
      <p:sp>
        <p:nvSpPr>
          <p:cNvPr id="61" name="圆角矩形 60"/>
          <p:cNvSpPr/>
          <p:nvPr/>
        </p:nvSpPr>
        <p:spPr>
          <a:xfrm>
            <a:off x="4352536" y="1047202"/>
            <a:ext cx="1629723"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系统损失收益</a:t>
            </a:r>
            <a:endParaRPr lang="zh-CN" altLang="en-US" dirty="0">
              <a:latin typeface="微软雅黑" panose="020B0503020204020204" pitchFamily="34" charset="-122"/>
              <a:ea typeface="微软雅黑" panose="020B0503020204020204" pitchFamily="34" charset="-122"/>
            </a:endParaRPr>
          </a:p>
        </p:txBody>
      </p:sp>
      <p:sp>
        <p:nvSpPr>
          <p:cNvPr id="62" name="圆角矩形 61"/>
          <p:cNvSpPr/>
          <p:nvPr/>
        </p:nvSpPr>
        <p:spPr>
          <a:xfrm>
            <a:off x="9089467" y="1042697"/>
            <a:ext cx="1883717"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聚合商损失收益</a:t>
            </a:r>
          </a:p>
        </p:txBody>
      </p:sp>
    </p:spTree>
  </p:cSld>
  <p:clrMapOvr>
    <a:masterClrMapping/>
  </p:clrMapOvr>
  <mc:AlternateContent xmlns:mc="http://schemas.openxmlformats.org/markup-compatibility/2006" xmlns:p14="http://schemas.microsoft.com/office/powerpoint/2010/main">
    <mc:Choice Requires="p14">
      <p:transition p14:dur="0" advTm="4503"/>
    </mc:Choice>
    <mc:Fallback xmlns="">
      <p:transition advTm="4503"/>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1"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53259" name="标题 1"/>
          <p:cNvSpPr txBox="1"/>
          <p:nvPr/>
        </p:nvSpPr>
        <p:spPr>
          <a:xfrm>
            <a:off x="2620963" y="242888"/>
            <a:ext cx="92408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buNone/>
            </a:pPr>
            <a:r>
              <a:rPr lang="zh-CN" altLang="en-US" sz="3200" b="1" dirty="0">
                <a:latin typeface="微软雅黑" panose="020B0503020204020204" pitchFamily="34" charset="-122"/>
                <a:ea typeface="微软雅黑" panose="020B0503020204020204" pitchFamily="34" charset="-122"/>
                <a:sym typeface="+mn-ea"/>
              </a:rPr>
              <a:t>内容</a:t>
            </a:r>
            <a:r>
              <a:rPr lang="en-US" altLang="zh-CN" sz="3200" b="1" dirty="0">
                <a:latin typeface="微软雅黑" panose="020B0503020204020204" pitchFamily="34" charset="-122"/>
                <a:ea typeface="微软雅黑" panose="020B0503020204020204" pitchFamily="34" charset="-122"/>
                <a:sym typeface="+mn-ea"/>
              </a:rPr>
              <a:t>2.2</a:t>
            </a:r>
            <a:r>
              <a:rPr lang="zh-CN" altLang="en-US" sz="3200" b="1" dirty="0" smtClean="0">
                <a:latin typeface="微软雅黑" panose="020B0503020204020204" pitchFamily="34" charset="-122"/>
                <a:ea typeface="微软雅黑" panose="020B0503020204020204" pitchFamily="34" charset="-122"/>
                <a:sym typeface="+mn-ea"/>
              </a:rPr>
              <a:t>：</a:t>
            </a:r>
            <a:r>
              <a:rPr lang="zh-CN" altLang="en-US" sz="3200" b="1" dirty="0">
                <a:latin typeface="微软雅黑" panose="020B0503020204020204" pitchFamily="34" charset="-122"/>
                <a:ea typeface="微软雅黑" panose="020B0503020204020204" pitchFamily="34" charset="-122"/>
              </a:rPr>
              <a:t>针对聚合商运营过程的恶意攻击方法</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3261" name="文本框 54"/>
          <p:cNvSpPr txBox="1"/>
          <p:nvPr/>
        </p:nvSpPr>
        <p:spPr>
          <a:xfrm>
            <a:off x="120650" y="40100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44" name="等腰三角形 43"/>
          <p:cNvSpPr/>
          <p:nvPr/>
        </p:nvSpPr>
        <p:spPr>
          <a:xfrm rot="16200000" flipV="1">
            <a:off x="1497013" y="42005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45" name="文本框 44"/>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7" name="Rectangle 33"/>
          <p:cNvSpPr>
            <a:spLocks noChangeArrowheads="1"/>
          </p:cNvSpPr>
          <p:nvPr/>
        </p:nvSpPr>
        <p:spPr bwMode="auto">
          <a:xfrm>
            <a:off x="0" y="0"/>
            <a:ext cx="12192000" cy="0"/>
          </a:xfrm>
          <a:prstGeom prst="rect">
            <a:avLst/>
          </a:prstGeom>
          <a:noFill/>
          <a:ln>
            <a:noFill/>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pic>
        <p:nvPicPr>
          <p:cNvPr id="7" name="图片 6"/>
          <p:cNvPicPr>
            <a:picLocks noChangeAspect="1"/>
          </p:cNvPicPr>
          <p:nvPr/>
        </p:nvPicPr>
        <p:blipFill>
          <a:blip r:embed="rId4"/>
          <a:stretch>
            <a:fillRect/>
          </a:stretch>
        </p:blipFill>
        <p:spPr>
          <a:xfrm>
            <a:off x="1974690" y="1128390"/>
            <a:ext cx="4829810" cy="5618350"/>
          </a:xfrm>
          <a:prstGeom prst="rect">
            <a:avLst/>
          </a:prstGeom>
        </p:spPr>
      </p:pic>
      <p:sp>
        <p:nvSpPr>
          <p:cNvPr id="28" name="矩形 27"/>
          <p:cNvSpPr/>
          <p:nvPr/>
        </p:nvSpPr>
        <p:spPr>
          <a:xfrm>
            <a:off x="7426350" y="1237474"/>
            <a:ext cx="4511648" cy="209310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a:p>
        </p:txBody>
      </p:sp>
      <p:sp>
        <p:nvSpPr>
          <p:cNvPr id="29" name="矩形 28"/>
          <p:cNvSpPr/>
          <p:nvPr/>
        </p:nvSpPr>
        <p:spPr>
          <a:xfrm>
            <a:off x="7426349" y="3863958"/>
            <a:ext cx="4511649" cy="2829719"/>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a:p>
        </p:txBody>
      </p:sp>
      <p:sp>
        <p:nvSpPr>
          <p:cNvPr id="9" name="右箭头 8"/>
          <p:cNvSpPr/>
          <p:nvPr/>
        </p:nvSpPr>
        <p:spPr>
          <a:xfrm>
            <a:off x="6933235" y="2257425"/>
            <a:ext cx="308146" cy="346075"/>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右箭头 30"/>
          <p:cNvSpPr/>
          <p:nvPr/>
        </p:nvSpPr>
        <p:spPr>
          <a:xfrm>
            <a:off x="6933235" y="5359400"/>
            <a:ext cx="308146" cy="346075"/>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a:off x="8829213" y="1354454"/>
            <a:ext cx="1629723"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攻击规划层</a:t>
            </a:r>
            <a:endParaRPr lang="zh-CN" altLang="en-US" dirty="0">
              <a:latin typeface="微软雅黑" panose="020B0503020204020204" pitchFamily="34" charset="-122"/>
              <a:ea typeface="微软雅黑" panose="020B0503020204020204" pitchFamily="34" charset="-122"/>
            </a:endParaRPr>
          </a:p>
        </p:txBody>
      </p:sp>
      <p:sp>
        <p:nvSpPr>
          <p:cNvPr id="33" name="圆角矩形 32"/>
          <p:cNvSpPr/>
          <p:nvPr/>
        </p:nvSpPr>
        <p:spPr>
          <a:xfrm>
            <a:off x="8550266" y="3932368"/>
            <a:ext cx="2187615"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聚合商</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用户交互层</a:t>
            </a: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7535120" y="1812052"/>
            <a:ext cx="4326680" cy="1477328"/>
          </a:xfrm>
          <a:prstGeom prst="rect">
            <a:avLst/>
          </a:prstGeom>
        </p:spPr>
        <p:txBody>
          <a:bodyPr wrap="square">
            <a:spAutoFit/>
          </a:bodyPr>
          <a:lstStyle/>
          <a:p>
            <a:pPr algn="just"/>
            <a:r>
              <a:rPr lang="zh-CN" altLang="en-US" kern="100" dirty="0">
                <a:latin typeface="微软雅黑" panose="020B0503020204020204" pitchFamily="34" charset="-122"/>
                <a:ea typeface="微软雅黑" panose="020B0503020204020204" pitchFamily="34" charset="-122"/>
                <a:cs typeface="+mn-ea"/>
                <a:sym typeface="+mn-ea"/>
              </a:rPr>
              <a:t>攻击规划层为</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上层模型</a:t>
            </a:r>
            <a:r>
              <a:rPr lang="zh-CN" altLang="en-US" kern="100" dirty="0">
                <a:latin typeface="微软雅黑" panose="020B0503020204020204" pitchFamily="34" charset="-122"/>
                <a:ea typeface="微软雅黑" panose="020B0503020204020204" pitchFamily="34" charset="-122"/>
                <a:cs typeface="+mn-ea"/>
                <a:sym typeface="+mn-ea"/>
              </a:rPr>
              <a:t>，</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是</a:t>
            </a:r>
            <a:r>
              <a:rPr lang="zh-CN" altLang="en-US" kern="100" dirty="0">
                <a:latin typeface="微软雅黑" panose="020B0503020204020204" pitchFamily="34" charset="-122"/>
                <a:ea typeface="微软雅黑" panose="020B0503020204020204" pitchFamily="34" charset="-122"/>
                <a:cs typeface="+mn-ea"/>
                <a:sym typeface="+mn-ea"/>
              </a:rPr>
              <a:t>对</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攻击者</a:t>
            </a:r>
            <a:r>
              <a:rPr lang="zh-CN" altLang="en-US" kern="100" dirty="0">
                <a:latin typeface="微软雅黑" panose="020B0503020204020204" pitchFamily="34" charset="-122"/>
                <a:ea typeface="微软雅黑" panose="020B0503020204020204" pitchFamily="34" charset="-122"/>
                <a:cs typeface="+mn-ea"/>
                <a:sym typeface="+mn-ea"/>
              </a:rPr>
              <a:t>的理性行为进行模拟，攻击者试图使用有限的攻击资源对系统造成最严重的后果。在寻优过程中，上层模型将</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攻击位置和注入攻击数据传递给下层模型</a:t>
            </a:r>
            <a:r>
              <a:rPr lang="zh-CN" altLang="en-US" kern="100" dirty="0">
                <a:latin typeface="微软雅黑" panose="020B0503020204020204" pitchFamily="34" charset="-122"/>
                <a:ea typeface="微软雅黑" panose="020B0503020204020204" pitchFamily="34" charset="-122"/>
                <a:cs typeface="+mn-ea"/>
                <a:sym typeface="+mn-ea"/>
              </a:rPr>
              <a:t>。</a:t>
            </a:r>
          </a:p>
        </p:txBody>
      </p:sp>
      <p:sp>
        <p:nvSpPr>
          <p:cNvPr id="14" name="矩形 13"/>
          <p:cNvSpPr/>
          <p:nvPr/>
        </p:nvSpPr>
        <p:spPr>
          <a:xfrm>
            <a:off x="7518833" y="4355393"/>
            <a:ext cx="4326680" cy="2308324"/>
          </a:xfrm>
          <a:prstGeom prst="rect">
            <a:avLst/>
          </a:prstGeom>
        </p:spPr>
        <p:txBody>
          <a:bodyPr wrap="square">
            <a:spAutoFit/>
          </a:bodyPr>
          <a:lstStyle/>
          <a:p>
            <a:pPr algn="just"/>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下层模型</a:t>
            </a:r>
            <a:r>
              <a:rPr lang="zh-CN" altLang="en-US" kern="100" dirty="0" smtClean="0">
                <a:latin typeface="微软雅黑" panose="020B0503020204020204" pitchFamily="34" charset="-122"/>
                <a:ea typeface="微软雅黑" panose="020B0503020204020204" pitchFamily="34" charset="-122"/>
                <a:cs typeface="+mn-ea"/>
                <a:sym typeface="+mn-ea"/>
              </a:rPr>
              <a:t>为聚合</a:t>
            </a:r>
            <a:r>
              <a:rPr lang="zh-CN" altLang="en-US" kern="100" dirty="0">
                <a:latin typeface="微软雅黑" panose="020B0503020204020204" pitchFamily="34" charset="-122"/>
                <a:ea typeface="微软雅黑" panose="020B0503020204020204" pitchFamily="34" charset="-122"/>
                <a:cs typeface="+mn-ea"/>
                <a:sym typeface="+mn-ea"/>
              </a:rPr>
              <a:t>商的实时定价</a:t>
            </a:r>
            <a:r>
              <a:rPr lang="zh-CN" altLang="en-US" kern="100" dirty="0" smtClean="0">
                <a:latin typeface="微软雅黑" panose="020B0503020204020204" pitchFamily="34" charset="-122"/>
                <a:ea typeface="微软雅黑" panose="020B0503020204020204" pitchFamily="34" charset="-122"/>
                <a:cs typeface="+mn-ea"/>
                <a:sym typeface="+mn-ea"/>
              </a:rPr>
              <a:t>与多类型</a:t>
            </a:r>
            <a:r>
              <a:rPr lang="zh-CN" altLang="en-US" kern="100" dirty="0">
                <a:latin typeface="微软雅黑" panose="020B0503020204020204" pitchFamily="34" charset="-122"/>
                <a:ea typeface="微软雅黑" panose="020B0503020204020204" pitchFamily="34" charset="-122"/>
                <a:cs typeface="+mn-ea"/>
                <a:sym typeface="+mn-ea"/>
              </a:rPr>
              <a:t>用户的实时响应模型，它</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本质</a:t>
            </a:r>
            <a:r>
              <a:rPr lang="zh-CN" altLang="en-US" kern="100" dirty="0">
                <a:latin typeface="微软雅黑" panose="020B0503020204020204" pitchFamily="34" charset="-122"/>
                <a:ea typeface="微软雅黑" panose="020B0503020204020204" pitchFamily="34" charset="-122"/>
                <a:cs typeface="+mn-ea"/>
                <a:sym typeface="+mn-ea"/>
              </a:rPr>
              <a:t>上</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是聚合商与用户</a:t>
            </a:r>
            <a:r>
              <a:rPr lang="zh-CN" altLang="en-US" kern="100" dirty="0">
                <a:latin typeface="微软雅黑" panose="020B0503020204020204" pitchFamily="34" charset="-122"/>
                <a:ea typeface="微软雅黑" panose="020B0503020204020204" pitchFamily="34" charset="-122"/>
                <a:cs typeface="+mn-ea"/>
                <a:sym typeface="+mn-ea"/>
              </a:rPr>
              <a:t>的一个</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主从博弈模型</a:t>
            </a:r>
            <a:r>
              <a:rPr lang="zh-CN" altLang="en-US" kern="100" dirty="0">
                <a:latin typeface="微软雅黑" panose="020B0503020204020204" pitchFamily="34" charset="-122"/>
                <a:ea typeface="微软雅黑" panose="020B0503020204020204" pitchFamily="34" charset="-122"/>
                <a:cs typeface="+mn-ea"/>
                <a:sym typeface="+mn-ea"/>
              </a:rPr>
              <a:t>，在环境、用户等条件确定的情况下，</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受</a:t>
            </a:r>
            <a:r>
              <a:rPr lang="zh-CN" altLang="en-US" kern="100" dirty="0">
                <a:latin typeface="微软雅黑" panose="020B0503020204020204" pitchFamily="34" charset="-122"/>
                <a:ea typeface="微软雅黑" panose="020B0503020204020204" pitchFamily="34" charset="-122"/>
                <a:cs typeface="+mn-ea"/>
                <a:sym typeface="+mn-ea"/>
              </a:rPr>
              <a:t>上层传递注入的</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虚假成本参数的影响</a:t>
            </a:r>
            <a:r>
              <a:rPr lang="zh-CN" altLang="en-US" kern="100" dirty="0">
                <a:latin typeface="微软雅黑" panose="020B0503020204020204" pitchFamily="34" charset="-122"/>
                <a:ea typeface="微软雅黑" panose="020B0503020204020204" pitchFamily="34" charset="-122"/>
                <a:cs typeface="+mn-ea"/>
                <a:sym typeface="+mn-ea"/>
              </a:rPr>
              <a:t>，聚合商</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误导用户响应</a:t>
            </a:r>
            <a:r>
              <a:rPr lang="zh-CN" altLang="en-US" kern="100" dirty="0">
                <a:latin typeface="微软雅黑" panose="020B0503020204020204" pitchFamily="34" charset="-122"/>
                <a:ea typeface="微软雅黑" panose="020B0503020204020204" pitchFamily="34" charset="-122"/>
                <a:cs typeface="+mn-ea"/>
                <a:sym typeface="+mn-ea"/>
              </a:rPr>
              <a:t>。将该聚合商所管理的</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用户响应量</a:t>
            </a:r>
            <a:r>
              <a:rPr lang="zh-CN" altLang="en-US" kern="100" dirty="0">
                <a:latin typeface="微软雅黑" panose="020B0503020204020204" pitchFamily="34" charset="-122"/>
                <a:ea typeface="微软雅黑" panose="020B0503020204020204" pitchFamily="34" charset="-122"/>
                <a:cs typeface="+mn-ea"/>
                <a:sym typeface="+mn-ea"/>
              </a:rPr>
              <a:t>与</a:t>
            </a:r>
            <a:r>
              <a:rPr lang="zh-CN" altLang="en-US" kern="100" dirty="0">
                <a:solidFill>
                  <a:srgbClr val="C00000"/>
                </a:solidFill>
                <a:latin typeface="微软雅黑" panose="020B0503020204020204" pitchFamily="34" charset="-122"/>
                <a:ea typeface="微软雅黑" panose="020B0503020204020204" pitchFamily="34" charset="-122"/>
                <a:cs typeface="+mn-ea"/>
                <a:sym typeface="+mn-ea"/>
              </a:rPr>
              <a:t>定价</a:t>
            </a:r>
            <a:r>
              <a:rPr lang="zh-CN" altLang="en-US" kern="100" dirty="0">
                <a:latin typeface="微软雅黑" panose="020B0503020204020204" pitchFamily="34" charset="-122"/>
                <a:ea typeface="微软雅黑" panose="020B0503020204020204" pitchFamily="34" charset="-122"/>
                <a:cs typeface="+mn-ea"/>
                <a:sym typeface="+mn-ea"/>
              </a:rPr>
              <a:t>传递给上层模型，计算目标函数并下发新的攻击数据，依次迭代直到最优。</a:t>
            </a:r>
          </a:p>
        </p:txBody>
      </p:sp>
      <p:sp>
        <p:nvSpPr>
          <p:cNvPr id="36" name="右箭头 35"/>
          <p:cNvSpPr/>
          <p:nvPr/>
        </p:nvSpPr>
        <p:spPr>
          <a:xfrm rot="5400000">
            <a:off x="8848177" y="3424430"/>
            <a:ext cx="308146" cy="346075"/>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右箭头 36"/>
          <p:cNvSpPr/>
          <p:nvPr/>
        </p:nvSpPr>
        <p:spPr>
          <a:xfrm rot="16200000">
            <a:off x="10647009" y="3431442"/>
            <a:ext cx="308146" cy="346075"/>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721215" y="3367990"/>
            <a:ext cx="1107996" cy="461665"/>
          </a:xfrm>
          <a:prstGeom prst="rect">
            <a:avLst/>
          </a:prstGeom>
        </p:spPr>
        <p:txBody>
          <a:bodyPr wrap="none">
            <a:spAutoFit/>
          </a:bodyPr>
          <a:lstStyle/>
          <a:p>
            <a:r>
              <a:rPr lang="zh-CN" altLang="en-US" sz="1200" kern="100" dirty="0">
                <a:latin typeface="微软雅黑" panose="020B0503020204020204" pitchFamily="34" charset="-122"/>
                <a:ea typeface="微软雅黑" panose="020B0503020204020204" pitchFamily="34" charset="-122"/>
                <a:cs typeface="+mn-ea"/>
                <a:sym typeface="+mn-ea"/>
              </a:rPr>
              <a:t>攻击位置</a:t>
            </a:r>
            <a:r>
              <a:rPr lang="zh-CN" altLang="en-US" sz="1200" kern="100" dirty="0" smtClean="0">
                <a:latin typeface="微软雅黑" panose="020B0503020204020204" pitchFamily="34" charset="-122"/>
                <a:ea typeface="微软雅黑" panose="020B0503020204020204" pitchFamily="34" charset="-122"/>
                <a:cs typeface="+mn-ea"/>
                <a:sym typeface="+mn-ea"/>
              </a:rPr>
              <a:t>和</a:t>
            </a:r>
            <a:endParaRPr lang="en-US" altLang="zh-CN" sz="1200" kern="100" dirty="0" smtClean="0">
              <a:latin typeface="微软雅黑" panose="020B0503020204020204" pitchFamily="34" charset="-122"/>
              <a:ea typeface="微软雅黑" panose="020B0503020204020204" pitchFamily="34" charset="-122"/>
              <a:cs typeface="+mn-ea"/>
              <a:sym typeface="+mn-ea"/>
            </a:endParaRPr>
          </a:p>
          <a:p>
            <a:r>
              <a:rPr lang="zh-CN" altLang="en-US" sz="1200" kern="100" dirty="0" smtClean="0">
                <a:latin typeface="微软雅黑" panose="020B0503020204020204" pitchFamily="34" charset="-122"/>
                <a:ea typeface="微软雅黑" panose="020B0503020204020204" pitchFamily="34" charset="-122"/>
                <a:cs typeface="+mn-ea"/>
                <a:sym typeface="+mn-ea"/>
              </a:rPr>
              <a:t>注入</a:t>
            </a:r>
            <a:r>
              <a:rPr lang="zh-CN" altLang="en-US" sz="1200" kern="100" dirty="0">
                <a:latin typeface="微软雅黑" panose="020B0503020204020204" pitchFamily="34" charset="-122"/>
                <a:ea typeface="微软雅黑" panose="020B0503020204020204" pitchFamily="34" charset="-122"/>
                <a:cs typeface="+mn-ea"/>
                <a:sym typeface="+mn-ea"/>
              </a:rPr>
              <a:t>攻击数据</a:t>
            </a:r>
            <a:endParaRPr lang="zh-CN" altLang="en-US" sz="1200" dirty="0"/>
          </a:p>
        </p:txBody>
      </p:sp>
      <p:sp>
        <p:nvSpPr>
          <p:cNvPr id="20" name="矩形 19"/>
          <p:cNvSpPr/>
          <p:nvPr/>
        </p:nvSpPr>
        <p:spPr>
          <a:xfrm>
            <a:off x="10974119" y="3357342"/>
            <a:ext cx="1047412" cy="461665"/>
          </a:xfrm>
          <a:prstGeom prst="rect">
            <a:avLst/>
          </a:prstGeom>
        </p:spPr>
        <p:txBody>
          <a:bodyPr wrap="square">
            <a:spAutoFit/>
          </a:bodyPr>
          <a:lstStyle/>
          <a:p>
            <a:r>
              <a:rPr lang="zh-CN" altLang="en-US" sz="1200" kern="100" dirty="0">
                <a:latin typeface="微软雅黑" panose="020B0503020204020204" pitchFamily="34" charset="-122"/>
                <a:ea typeface="微软雅黑" panose="020B0503020204020204" pitchFamily="34" charset="-122"/>
                <a:cs typeface="+mn-ea"/>
                <a:sym typeface="+mn-ea"/>
              </a:rPr>
              <a:t>用户响应量与定价</a:t>
            </a:r>
            <a:endParaRPr lang="zh-CN" altLang="en-US" sz="1200" kern="100" dirty="0">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14475"/>
    </mc:Choice>
    <mc:Fallback xmlns="">
      <p:transition advTm="14475"/>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25" cstate="print"/>
          <a:srcRect l="8888" t="6664" r="8957" b="5601"/>
          <a:stretch>
            <a:fillRect/>
          </a:stretch>
        </p:blipFill>
        <p:spPr>
          <a:xfrm>
            <a:off x="370755" y="206065"/>
            <a:ext cx="879623" cy="909956"/>
          </a:xfrm>
          <a:prstGeom prst="ellipse">
            <a:avLst/>
          </a:prstGeom>
        </p:spPr>
      </p:pic>
      <p:sp>
        <p:nvSpPr>
          <p:cNvPr id="55306" name="标题 1"/>
          <p:cNvSpPr txBox="1"/>
          <p:nvPr/>
        </p:nvSpPr>
        <p:spPr>
          <a:xfrm>
            <a:off x="2620963" y="242888"/>
            <a:ext cx="92408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2.2</a:t>
            </a:r>
            <a:r>
              <a:rPr lang="zh-CN" altLang="en-US" sz="3200" b="1" dirty="0">
                <a:latin typeface="微软雅黑" panose="020B0503020204020204" pitchFamily="34" charset="-122"/>
                <a:ea typeface="微软雅黑" panose="020B0503020204020204" pitchFamily="34" charset="-122"/>
              </a:rPr>
              <a:t>：针对聚合商运营过程的恶意攻击方法</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308" name="文本框 54"/>
          <p:cNvSpPr txBox="1"/>
          <p:nvPr/>
        </p:nvSpPr>
        <p:spPr>
          <a:xfrm>
            <a:off x="120650" y="40100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44" name="等腰三角形 43"/>
          <p:cNvSpPr/>
          <p:nvPr/>
        </p:nvSpPr>
        <p:spPr>
          <a:xfrm rot="16200000" flipV="1">
            <a:off x="1497013" y="42005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45" name="文本框 44"/>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31" name="矩形 30"/>
          <p:cNvSpPr/>
          <p:nvPr/>
        </p:nvSpPr>
        <p:spPr>
          <a:xfrm>
            <a:off x="1892301" y="1301323"/>
            <a:ext cx="9969499" cy="235151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en-US" altLang="zh-CN" dirty="0"/>
          </a:p>
          <a:p>
            <a:pPr algn="ctr" eaLnBrk="1" hangingPunct="1"/>
            <a:endParaRPr lang="en-US" altLang="zh-CN" dirty="0"/>
          </a:p>
          <a:p>
            <a:pPr algn="ctr" eaLnBrk="1" hangingPunct="1"/>
            <a:endParaRPr lang="en-US" altLang="zh-CN" dirty="0"/>
          </a:p>
        </p:txBody>
      </p:sp>
      <p:sp>
        <p:nvSpPr>
          <p:cNvPr id="32" name="矩形 31"/>
          <p:cNvSpPr/>
          <p:nvPr/>
        </p:nvSpPr>
        <p:spPr>
          <a:xfrm>
            <a:off x="1892301" y="4016870"/>
            <a:ext cx="9969499" cy="258162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a:p>
        </p:txBody>
      </p:sp>
      <p:sp>
        <p:nvSpPr>
          <p:cNvPr id="33" name="矩形 32"/>
          <p:cNvSpPr/>
          <p:nvPr>
            <p:custDataLst>
              <p:tags r:id="rId1"/>
            </p:custDataLst>
          </p:nvPr>
        </p:nvSpPr>
        <p:spPr>
          <a:xfrm>
            <a:off x="2909835" y="1352447"/>
            <a:ext cx="1416685" cy="406971"/>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攻击量约束：</a:t>
            </a:r>
          </a:p>
        </p:txBody>
      </p:sp>
      <p:pic>
        <p:nvPicPr>
          <p:cNvPr id="34" name="图片 33"/>
          <p:cNvPicPr>
            <a:picLocks noChangeAspect="1"/>
          </p:cNvPicPr>
          <p:nvPr>
            <p:custDataLst>
              <p:tags r:id="rId2"/>
            </p:custDataLst>
          </p:nvPr>
        </p:nvPicPr>
        <p:blipFill>
          <a:blip r:embed="rId26"/>
          <a:srcRect l="76282" t="14603"/>
          <a:stretch>
            <a:fillRect/>
          </a:stretch>
        </p:blipFill>
        <p:spPr>
          <a:xfrm>
            <a:off x="2881656" y="1817798"/>
            <a:ext cx="1880721" cy="513452"/>
          </a:xfrm>
          <a:prstGeom prst="rect">
            <a:avLst/>
          </a:prstGeom>
        </p:spPr>
      </p:pic>
      <p:pic>
        <p:nvPicPr>
          <p:cNvPr id="35" name="图片 34"/>
          <p:cNvPicPr>
            <a:picLocks noChangeAspect="1"/>
          </p:cNvPicPr>
          <p:nvPr>
            <p:custDataLst>
              <p:tags r:id="rId3"/>
            </p:custDataLst>
          </p:nvPr>
        </p:nvPicPr>
        <p:blipFill>
          <a:blip r:embed="rId27"/>
          <a:srcRect l="72876"/>
          <a:stretch>
            <a:fillRect/>
          </a:stretch>
        </p:blipFill>
        <p:spPr>
          <a:xfrm>
            <a:off x="2856182" y="2265384"/>
            <a:ext cx="1653570" cy="693275"/>
          </a:xfrm>
          <a:prstGeom prst="rect">
            <a:avLst/>
          </a:prstGeom>
        </p:spPr>
      </p:pic>
      <p:pic>
        <p:nvPicPr>
          <p:cNvPr id="36" name="图片 35"/>
          <p:cNvPicPr>
            <a:picLocks noChangeAspect="1"/>
          </p:cNvPicPr>
          <p:nvPr>
            <p:custDataLst>
              <p:tags r:id="rId4"/>
            </p:custDataLst>
          </p:nvPr>
        </p:nvPicPr>
        <p:blipFill>
          <a:blip r:embed="rId28"/>
          <a:srcRect l="36414" r="39194"/>
          <a:stretch>
            <a:fillRect/>
          </a:stretch>
        </p:blipFill>
        <p:spPr>
          <a:xfrm>
            <a:off x="2755826" y="2891852"/>
            <a:ext cx="1589419" cy="741142"/>
          </a:xfrm>
          <a:prstGeom prst="rect">
            <a:avLst/>
          </a:prstGeom>
        </p:spPr>
      </p:pic>
      <p:sp>
        <p:nvSpPr>
          <p:cNvPr id="37" name="矩形 36"/>
          <p:cNvSpPr/>
          <p:nvPr/>
        </p:nvSpPr>
        <p:spPr>
          <a:xfrm>
            <a:off x="1892301" y="1312666"/>
            <a:ext cx="877945" cy="23515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smtClean="0">
                <a:latin typeface="微软雅黑" panose="020B0503020204020204" pitchFamily="34" charset="-122"/>
                <a:ea typeface="微软雅黑" panose="020B0503020204020204" pitchFamily="34" charset="-122"/>
              </a:rPr>
              <a:t>攻</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击</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规</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划</a:t>
            </a:r>
            <a:endParaRPr lang="en-US" altLang="zh-CN" dirty="0" smtClean="0">
              <a:latin typeface="微软雅黑" panose="020B0503020204020204" pitchFamily="34" charset="-122"/>
              <a:ea typeface="微软雅黑" panose="020B0503020204020204" pitchFamily="34" charset="-122"/>
            </a:endParaRPr>
          </a:p>
          <a:p>
            <a:pPr algn="ctr" eaLnBrk="1" hangingPunct="1"/>
            <a:r>
              <a:rPr lang="zh-CN" altLang="en-US" dirty="0" smtClean="0">
                <a:latin typeface="微软雅黑" panose="020B0503020204020204" pitchFamily="34" charset="-122"/>
                <a:ea typeface="微软雅黑" panose="020B0503020204020204" pitchFamily="34" charset="-122"/>
              </a:rPr>
              <a:t>层</a:t>
            </a:r>
            <a:endParaRPr lang="zh-CN" altLang="en-US" dirty="0">
              <a:latin typeface="微软雅黑" panose="020B0503020204020204" pitchFamily="34" charset="-122"/>
              <a:ea typeface="微软雅黑" panose="020B0503020204020204" pitchFamily="34" charset="-122"/>
            </a:endParaRPr>
          </a:p>
        </p:txBody>
      </p:sp>
      <p:sp>
        <p:nvSpPr>
          <p:cNvPr id="38" name="矩形 37"/>
          <p:cNvSpPr/>
          <p:nvPr/>
        </p:nvSpPr>
        <p:spPr>
          <a:xfrm>
            <a:off x="1892301" y="4029684"/>
            <a:ext cx="877945" cy="25688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smtClean="0">
                <a:latin typeface="微软雅黑" panose="020B0503020204020204" pitchFamily="34" charset="-122"/>
                <a:ea typeface="微软雅黑" panose="020B0503020204020204" pitchFamily="34" charset="-122"/>
              </a:rPr>
              <a:t>聚合商</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用户交互层</a:t>
            </a:r>
            <a:endParaRPr lang="zh-CN" altLang="en-US" dirty="0">
              <a:latin typeface="微软雅黑" panose="020B0503020204020204" pitchFamily="34" charset="-122"/>
              <a:ea typeface="微软雅黑" panose="020B0503020204020204" pitchFamily="34" charset="-122"/>
            </a:endParaRPr>
          </a:p>
        </p:txBody>
      </p:sp>
      <p:sp>
        <p:nvSpPr>
          <p:cNvPr id="41" name="矩形 40"/>
          <p:cNvSpPr/>
          <p:nvPr>
            <p:custDataLst>
              <p:tags r:id="rId5"/>
            </p:custDataLst>
          </p:nvPr>
        </p:nvSpPr>
        <p:spPr>
          <a:xfrm>
            <a:off x="5027995" y="1312566"/>
            <a:ext cx="1858899" cy="406971"/>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800" b="0" i="0" u="none" strike="noStrike" kern="1200" cap="none" spc="0" normalizeH="0" baseline="0" noProof="0" dirty="0" smtClean="0">
                <a:ln>
                  <a:noFill/>
                </a:ln>
                <a:effectLst/>
                <a:uLnTx/>
                <a:uFillTx/>
                <a:latin typeface="微软雅黑" panose="020B0503020204020204" pitchFamily="34" charset="-122"/>
                <a:ea typeface="微软雅黑" panose="020B0503020204020204" pitchFamily="34" charset="-122"/>
                <a:cs typeface="+mn-cs"/>
              </a:rPr>
              <a:t>聚合商经济</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损失：</a:t>
            </a:r>
          </a:p>
        </p:txBody>
      </p:sp>
      <p:pic>
        <p:nvPicPr>
          <p:cNvPr id="42" name="图片 41"/>
          <p:cNvPicPr>
            <a:picLocks noChangeAspect="1"/>
          </p:cNvPicPr>
          <p:nvPr>
            <p:custDataLst>
              <p:tags r:id="rId6"/>
            </p:custDataLst>
          </p:nvPr>
        </p:nvPicPr>
        <p:blipFill>
          <a:blip r:embed="rId29"/>
          <a:srcRect l="56125"/>
          <a:stretch>
            <a:fillRect/>
          </a:stretch>
        </p:blipFill>
        <p:spPr>
          <a:xfrm>
            <a:off x="4979230" y="1674080"/>
            <a:ext cx="3153847" cy="749506"/>
          </a:xfrm>
          <a:prstGeom prst="rect">
            <a:avLst/>
          </a:prstGeom>
        </p:spPr>
      </p:pic>
      <p:pic>
        <p:nvPicPr>
          <p:cNvPr id="43" name="图片 42"/>
          <p:cNvPicPr>
            <a:picLocks noChangeAspect="1"/>
          </p:cNvPicPr>
          <p:nvPr>
            <p:custDataLst>
              <p:tags r:id="rId7"/>
            </p:custDataLst>
          </p:nvPr>
        </p:nvPicPr>
        <p:blipFill>
          <a:blip r:embed="rId30"/>
          <a:srcRect l="51829"/>
          <a:stretch>
            <a:fillRect/>
          </a:stretch>
        </p:blipFill>
        <p:spPr>
          <a:xfrm>
            <a:off x="5032607" y="2374156"/>
            <a:ext cx="3511055" cy="727515"/>
          </a:xfrm>
          <a:prstGeom prst="rect">
            <a:avLst/>
          </a:prstGeom>
        </p:spPr>
      </p:pic>
      <p:pic>
        <p:nvPicPr>
          <p:cNvPr id="47" name="图片 46"/>
          <p:cNvPicPr>
            <a:picLocks noChangeAspect="1"/>
          </p:cNvPicPr>
          <p:nvPr>
            <p:custDataLst>
              <p:tags r:id="rId8"/>
            </p:custDataLst>
          </p:nvPr>
        </p:nvPicPr>
        <p:blipFill>
          <a:blip r:embed="rId31"/>
          <a:srcRect l="69844" b="-635"/>
          <a:stretch>
            <a:fillRect/>
          </a:stretch>
        </p:blipFill>
        <p:spPr>
          <a:xfrm>
            <a:off x="4811839" y="3005929"/>
            <a:ext cx="2291209" cy="579684"/>
          </a:xfrm>
          <a:prstGeom prst="rect">
            <a:avLst/>
          </a:prstGeom>
        </p:spPr>
      </p:pic>
      <p:sp>
        <p:nvSpPr>
          <p:cNvPr id="48" name="矩形 47"/>
          <p:cNvSpPr/>
          <p:nvPr/>
        </p:nvSpPr>
        <p:spPr>
          <a:xfrm>
            <a:off x="8732142" y="1364822"/>
            <a:ext cx="3042900" cy="1641107"/>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a:p>
        </p:txBody>
      </p:sp>
      <p:sp>
        <p:nvSpPr>
          <p:cNvPr id="49" name="矩形 48"/>
          <p:cNvSpPr/>
          <p:nvPr>
            <p:custDataLst>
              <p:tags r:id="rId9"/>
            </p:custDataLst>
          </p:nvPr>
        </p:nvSpPr>
        <p:spPr>
          <a:xfrm>
            <a:off x="8732142" y="1437493"/>
            <a:ext cx="3042900" cy="1600438"/>
          </a:xfrm>
          <a:prstGeom prst="rect">
            <a:avLst/>
          </a:prstGeom>
        </p:spPr>
        <p:txBody>
          <a:bodyPr wrap="square">
            <a:spAutoFit/>
          </a:bodyPr>
          <a:lstStyle/>
          <a:p>
            <a:r>
              <a:rPr lang="zh-CN" altLang="en-US" sz="1600" dirty="0" smtClean="0"/>
              <a:t>     </a:t>
            </a:r>
            <a:r>
              <a:rPr lang="zh-CN" altLang="en-US" sz="1600" kern="1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通过对攻击量的调整</a:t>
            </a:r>
            <a:r>
              <a:rPr lang="zh-CN" altLang="en-US" sz="1600" kern="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攻击者的最终目标是</a:t>
            </a:r>
            <a:r>
              <a:rPr lang="zh-CN" altLang="en-US" sz="1600" kern="100" dirty="0">
                <a:latin typeface="微软雅黑" panose="020B0503020204020204" pitchFamily="34" charset="-122"/>
                <a:ea typeface="微软雅黑" panose="020B0503020204020204" pitchFamily="34" charset="-122"/>
                <a:cs typeface="微软雅黑" panose="020B0503020204020204" pitchFamily="34" charset="-122"/>
                <a:sym typeface="+mn-ea"/>
              </a:rPr>
              <a:t>在攻击有限的通讯数据的情况下，使得攻击所取得的收益达到最大</a:t>
            </a:r>
            <a:r>
              <a:rPr lang="zh-CN" altLang="en-US" sz="1600" kern="1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。收益取</a:t>
            </a:r>
            <a:r>
              <a:rPr lang="zh-CN" altLang="en-US" sz="1600" kern="1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系统</a:t>
            </a:r>
            <a:r>
              <a:rPr lang="zh-CN" altLang="en-US" sz="1600"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的破坏程度和经济</a:t>
            </a:r>
            <a:r>
              <a:rPr lang="zh-CN" altLang="en-US" sz="1600" kern="1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损失与通信</a:t>
            </a:r>
            <a:r>
              <a:rPr lang="zh-CN" altLang="en-US" sz="1600"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设备的利用</a:t>
            </a:r>
            <a:r>
              <a:rPr lang="zh-CN" altLang="en-US" sz="1600" kern="1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成本的比值</a:t>
            </a:r>
            <a:r>
              <a:rPr lang="zh-CN" altLang="en-US" sz="1600" kern="1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kern="1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0" name="图片 49"/>
          <p:cNvPicPr>
            <a:picLocks noChangeAspect="1"/>
          </p:cNvPicPr>
          <p:nvPr>
            <p:custDataLst>
              <p:tags r:id="rId10"/>
            </p:custDataLst>
          </p:nvPr>
        </p:nvPicPr>
        <p:blipFill>
          <a:blip r:embed="rId32"/>
          <a:srcRect l="51757"/>
          <a:stretch>
            <a:fillRect/>
          </a:stretch>
        </p:blipFill>
        <p:spPr>
          <a:xfrm>
            <a:off x="8645384" y="3035206"/>
            <a:ext cx="3129658" cy="604207"/>
          </a:xfrm>
          <a:prstGeom prst="rect">
            <a:avLst/>
          </a:prstGeom>
        </p:spPr>
      </p:pic>
      <p:sp>
        <p:nvSpPr>
          <p:cNvPr id="51" name="矩形 50"/>
          <p:cNvSpPr/>
          <p:nvPr/>
        </p:nvSpPr>
        <p:spPr>
          <a:xfrm>
            <a:off x="8821282" y="4070350"/>
            <a:ext cx="2953759" cy="185571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a:p>
        </p:txBody>
      </p:sp>
      <p:sp>
        <p:nvSpPr>
          <p:cNvPr id="52" name="矩形 51"/>
          <p:cNvSpPr/>
          <p:nvPr>
            <p:custDataLst>
              <p:tags r:id="rId11"/>
            </p:custDataLst>
          </p:nvPr>
        </p:nvSpPr>
        <p:spPr>
          <a:xfrm>
            <a:off x="2876348" y="4088242"/>
            <a:ext cx="2085340" cy="406971"/>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800" b="0" i="0" u="none" strike="noStrike" kern="1200" cap="none" spc="0" normalizeH="0" baseline="0" noProof="0" dirty="0" smtClean="0">
                <a:ln>
                  <a:noFill/>
                </a:ln>
                <a:effectLst/>
                <a:uLnTx/>
                <a:uFillTx/>
                <a:latin typeface="微软雅黑" panose="020B0503020204020204" pitchFamily="34" charset="-122"/>
                <a:ea typeface="微软雅黑" panose="020B0503020204020204" pitchFamily="34" charset="-122"/>
                <a:cs typeface="+mn-cs"/>
              </a:rPr>
              <a:t>聚合商模型</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p>
        </p:txBody>
      </p:sp>
      <p:sp>
        <p:nvSpPr>
          <p:cNvPr id="53" name="矩形 52"/>
          <p:cNvSpPr/>
          <p:nvPr>
            <p:custDataLst>
              <p:tags r:id="rId12"/>
            </p:custDataLst>
          </p:nvPr>
        </p:nvSpPr>
        <p:spPr>
          <a:xfrm>
            <a:off x="5878778" y="4014352"/>
            <a:ext cx="2185670" cy="406971"/>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800" b="0" i="0" u="none" strike="noStrike" kern="1200" cap="none" spc="0" normalizeH="0" baseline="0" noProof="0" dirty="0" smtClean="0">
                <a:ln>
                  <a:noFill/>
                </a:ln>
                <a:effectLst/>
                <a:uLnTx/>
                <a:uFillTx/>
                <a:latin typeface="微软雅黑" panose="020B0503020204020204" pitchFamily="34" charset="-122"/>
                <a:ea typeface="微软雅黑" panose="020B0503020204020204" pitchFamily="34" charset="-122"/>
                <a:cs typeface="+mn-cs"/>
              </a:rPr>
              <a:t>用户模型</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p>
        </p:txBody>
      </p:sp>
      <p:pic>
        <p:nvPicPr>
          <p:cNvPr id="55" name="图片 54"/>
          <p:cNvPicPr>
            <a:picLocks noChangeAspect="1"/>
          </p:cNvPicPr>
          <p:nvPr>
            <p:custDataLst>
              <p:tags r:id="rId13"/>
            </p:custDataLst>
          </p:nvPr>
        </p:nvPicPr>
        <p:blipFill>
          <a:blip r:embed="rId33"/>
          <a:srcRect l="52558" t="5556" r="22202" b="-1543"/>
          <a:stretch>
            <a:fillRect/>
          </a:stretch>
        </p:blipFill>
        <p:spPr>
          <a:xfrm>
            <a:off x="2839788" y="4558939"/>
            <a:ext cx="1908607" cy="282561"/>
          </a:xfrm>
          <a:prstGeom prst="rect">
            <a:avLst/>
          </a:prstGeom>
        </p:spPr>
      </p:pic>
      <p:pic>
        <p:nvPicPr>
          <p:cNvPr id="56" name="图片 55"/>
          <p:cNvPicPr>
            <a:picLocks noChangeAspect="1"/>
          </p:cNvPicPr>
          <p:nvPr>
            <p:custDataLst>
              <p:tags r:id="rId14"/>
            </p:custDataLst>
          </p:nvPr>
        </p:nvPicPr>
        <p:blipFill>
          <a:blip r:embed="rId34"/>
          <a:srcRect l="65226" t="3086"/>
          <a:stretch>
            <a:fillRect/>
          </a:stretch>
        </p:blipFill>
        <p:spPr>
          <a:xfrm>
            <a:off x="3293799" y="4909633"/>
            <a:ext cx="2483375" cy="269162"/>
          </a:xfrm>
          <a:prstGeom prst="rect">
            <a:avLst/>
          </a:prstGeom>
        </p:spPr>
      </p:pic>
      <p:pic>
        <p:nvPicPr>
          <p:cNvPr id="58" name="图片 57"/>
          <p:cNvPicPr>
            <a:picLocks noChangeAspect="1"/>
          </p:cNvPicPr>
          <p:nvPr>
            <p:custDataLst>
              <p:tags r:id="rId15"/>
            </p:custDataLst>
          </p:nvPr>
        </p:nvPicPr>
        <p:blipFill>
          <a:blip r:embed="rId35"/>
          <a:srcRect l="59857" t="15112"/>
          <a:stretch>
            <a:fillRect/>
          </a:stretch>
        </p:blipFill>
        <p:spPr>
          <a:xfrm>
            <a:off x="2922891" y="5218243"/>
            <a:ext cx="3023064" cy="487685"/>
          </a:xfrm>
          <a:prstGeom prst="rect">
            <a:avLst/>
          </a:prstGeom>
        </p:spPr>
      </p:pic>
      <p:pic>
        <p:nvPicPr>
          <p:cNvPr id="59" name="图片 58"/>
          <p:cNvPicPr>
            <a:picLocks noChangeAspect="1"/>
          </p:cNvPicPr>
          <p:nvPr>
            <p:custDataLst>
              <p:tags r:id="rId16"/>
            </p:custDataLst>
          </p:nvPr>
        </p:nvPicPr>
        <p:blipFill>
          <a:blip r:embed="rId36"/>
          <a:srcRect l="80728" t="12579"/>
          <a:stretch>
            <a:fillRect/>
          </a:stretch>
        </p:blipFill>
        <p:spPr>
          <a:xfrm>
            <a:off x="3095295" y="5699005"/>
            <a:ext cx="1414458" cy="490080"/>
          </a:xfrm>
          <a:prstGeom prst="rect">
            <a:avLst/>
          </a:prstGeom>
        </p:spPr>
      </p:pic>
      <p:pic>
        <p:nvPicPr>
          <p:cNvPr id="60" name="图片 59"/>
          <p:cNvPicPr>
            <a:picLocks noChangeAspect="1"/>
          </p:cNvPicPr>
          <p:nvPr>
            <p:custDataLst>
              <p:tags r:id="rId17"/>
            </p:custDataLst>
          </p:nvPr>
        </p:nvPicPr>
        <p:blipFill>
          <a:blip r:embed="rId37"/>
          <a:srcRect l="87956" t="-10185"/>
          <a:stretch>
            <a:fillRect/>
          </a:stretch>
        </p:blipFill>
        <p:spPr>
          <a:xfrm>
            <a:off x="3285279" y="6179840"/>
            <a:ext cx="847443" cy="301994"/>
          </a:xfrm>
          <a:prstGeom prst="rect">
            <a:avLst/>
          </a:prstGeom>
        </p:spPr>
      </p:pic>
      <p:pic>
        <p:nvPicPr>
          <p:cNvPr id="61" name="图片 60"/>
          <p:cNvPicPr>
            <a:picLocks noChangeAspect="1"/>
          </p:cNvPicPr>
          <p:nvPr>
            <p:custDataLst>
              <p:tags r:id="rId18"/>
            </p:custDataLst>
          </p:nvPr>
        </p:nvPicPr>
        <p:blipFill>
          <a:blip r:embed="rId38"/>
          <a:srcRect l="67807" t="1899"/>
          <a:stretch>
            <a:fillRect/>
          </a:stretch>
        </p:blipFill>
        <p:spPr>
          <a:xfrm>
            <a:off x="6009656" y="4410075"/>
            <a:ext cx="2361980" cy="819335"/>
          </a:xfrm>
          <a:prstGeom prst="rect">
            <a:avLst/>
          </a:prstGeom>
        </p:spPr>
      </p:pic>
      <p:pic>
        <p:nvPicPr>
          <p:cNvPr id="62" name="图片 61"/>
          <p:cNvPicPr>
            <a:picLocks noChangeAspect="1"/>
          </p:cNvPicPr>
          <p:nvPr>
            <p:custDataLst>
              <p:tags r:id="rId19"/>
            </p:custDataLst>
          </p:nvPr>
        </p:nvPicPr>
        <p:blipFill>
          <a:blip r:embed="rId39"/>
          <a:srcRect l="80836" t="-1899"/>
          <a:stretch>
            <a:fillRect/>
          </a:stretch>
        </p:blipFill>
        <p:spPr>
          <a:xfrm>
            <a:off x="6118359" y="5122470"/>
            <a:ext cx="1327320" cy="803590"/>
          </a:xfrm>
          <a:prstGeom prst="rect">
            <a:avLst/>
          </a:prstGeom>
        </p:spPr>
      </p:pic>
      <p:pic>
        <p:nvPicPr>
          <p:cNvPr id="63" name="图片 62"/>
          <p:cNvPicPr>
            <a:picLocks noChangeAspect="1"/>
          </p:cNvPicPr>
          <p:nvPr>
            <p:custDataLst>
              <p:tags r:id="rId20"/>
            </p:custDataLst>
          </p:nvPr>
        </p:nvPicPr>
        <p:blipFill>
          <a:blip r:embed="rId40"/>
          <a:srcRect l="77786" t="-1543"/>
          <a:stretch>
            <a:fillRect/>
          </a:stretch>
        </p:blipFill>
        <p:spPr>
          <a:xfrm>
            <a:off x="6062928" y="6089477"/>
            <a:ext cx="1525541" cy="271314"/>
          </a:xfrm>
          <a:prstGeom prst="rect">
            <a:avLst/>
          </a:prstGeom>
        </p:spPr>
      </p:pic>
      <p:sp>
        <p:nvSpPr>
          <p:cNvPr id="64" name="矩形 63"/>
          <p:cNvSpPr/>
          <p:nvPr>
            <p:custDataLst>
              <p:tags r:id="rId21"/>
            </p:custDataLst>
          </p:nvPr>
        </p:nvSpPr>
        <p:spPr>
          <a:xfrm>
            <a:off x="8784763" y="4028648"/>
            <a:ext cx="3108887" cy="1877437"/>
          </a:xfrm>
          <a:prstGeom prst="rect">
            <a:avLst/>
          </a:prstGeom>
        </p:spPr>
        <p:txBody>
          <a:bodyPr wrap="square">
            <a:spAutoFit/>
          </a:bodyPr>
          <a:lstStyle/>
          <a:p>
            <a:r>
              <a:rPr lang="zh-CN" altLang="en-US" sz="2000" dirty="0" smtClean="0"/>
              <a:t>     </a:t>
            </a:r>
            <a:r>
              <a:rPr lang="zh-CN" altLang="en-US" sz="2000" kern="1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下层模型是被攻击</a:t>
            </a:r>
            <a:r>
              <a:rPr lang="zh-CN" altLang="en-US" sz="1600" kern="1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的负荷聚合商与用户</a:t>
            </a:r>
            <a:r>
              <a:rPr lang="zh-CN" altLang="en-US" sz="1600"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的主从博弈过程</a:t>
            </a:r>
            <a:r>
              <a:rPr lang="zh-CN" altLang="en-US" sz="1600" kern="1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，聚合商根据虚假成本参数，</a:t>
            </a:r>
            <a:r>
              <a:rPr lang="zh-CN" altLang="en-US" sz="1600" kern="100" dirty="0">
                <a:latin typeface="微软雅黑" panose="020B0503020204020204" pitchFamily="34" charset="-122"/>
                <a:ea typeface="微软雅黑" panose="020B0503020204020204" pitchFamily="34" charset="-122"/>
                <a:cs typeface="微软雅黑" panose="020B0503020204020204" pitchFamily="34" charset="-122"/>
                <a:sym typeface="+mn-ea"/>
              </a:rPr>
              <a:t>以自身收益最大化为目标，生成用电价格，误导了该区域用户响应负荷</a:t>
            </a:r>
            <a:r>
              <a:rPr lang="zh-CN" altLang="en-US" sz="1600" kern="1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kern="1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它</a:t>
            </a:r>
            <a:r>
              <a:rPr lang="zh-CN" altLang="en-US" sz="1600" kern="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与上层模型构成了整个双层规划攻击模型。</a:t>
            </a:r>
          </a:p>
        </p:txBody>
      </p:sp>
      <p:pic>
        <p:nvPicPr>
          <p:cNvPr id="65" name="图片 64"/>
          <p:cNvPicPr>
            <a:picLocks noChangeAspect="1"/>
          </p:cNvPicPr>
          <p:nvPr>
            <p:custDataLst>
              <p:tags r:id="rId22"/>
            </p:custDataLst>
          </p:nvPr>
        </p:nvPicPr>
        <p:blipFill>
          <a:blip r:embed="rId41"/>
          <a:srcRect l="34222" t="3059"/>
          <a:stretch>
            <a:fillRect/>
          </a:stretch>
        </p:blipFill>
        <p:spPr>
          <a:xfrm>
            <a:off x="8371636" y="6026320"/>
            <a:ext cx="3490164" cy="58562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2011"/>
    </mc:Choice>
    <mc:Fallback xmlns="">
      <p:transition advTm="201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57354" name="标题 1"/>
          <p:cNvSpPr txBox="1"/>
          <p:nvPr/>
        </p:nvSpPr>
        <p:spPr>
          <a:xfrm>
            <a:off x="2620963" y="242888"/>
            <a:ext cx="92408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2.4</a:t>
            </a:r>
            <a:r>
              <a:rPr lang="zh-CN" altLang="en-US" sz="3200" b="1" dirty="0" smtClean="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算例仿真</a:t>
            </a:r>
          </a:p>
          <a:p>
            <a:pPr marL="0" lvl="0" indent="0" eaLnBrk="1" hangingPunct="1">
              <a:spcBef>
                <a:spcPct val="0"/>
              </a:spcBef>
              <a:buFontTx/>
              <a:buNone/>
            </a:pP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7356" name="文本框 54"/>
          <p:cNvSpPr txBox="1"/>
          <p:nvPr/>
        </p:nvSpPr>
        <p:spPr>
          <a:xfrm>
            <a:off x="120650" y="40100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44" name="等腰三角形 43"/>
          <p:cNvSpPr/>
          <p:nvPr/>
        </p:nvSpPr>
        <p:spPr>
          <a:xfrm rot="16200000" flipV="1">
            <a:off x="1497013" y="42005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45" name="文本框 44"/>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5" name="圆角矩形 24"/>
          <p:cNvSpPr/>
          <p:nvPr/>
        </p:nvSpPr>
        <p:spPr>
          <a:xfrm>
            <a:off x="7800433" y="4933453"/>
            <a:ext cx="4250626" cy="161930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5"/>
          <p:cNvSpPr/>
          <p:nvPr/>
        </p:nvSpPr>
        <p:spPr>
          <a:xfrm>
            <a:off x="2008983" y="4904329"/>
            <a:ext cx="4952203" cy="164843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2145843" y="5003564"/>
            <a:ext cx="4779699" cy="1477328"/>
          </a:xfrm>
          <a:prstGeom prst="rect">
            <a:avLst/>
          </a:prstGeom>
        </p:spPr>
        <p:txBody>
          <a:bodyPr wrap="square">
            <a:spAutoFit/>
          </a:bodyPr>
          <a:lstStyle/>
          <a:p>
            <a:pPr lvl="0" algn="just" fontAlgn="base">
              <a:spcBef>
                <a:spcPct val="0"/>
              </a:spcBef>
              <a:spcAft>
                <a:spcPct val="0"/>
              </a:spcAft>
              <a:defRPr/>
            </a:pPr>
            <a:r>
              <a:rPr lang="zh-CN" altLang="en-US" dirty="0" smtClean="0">
                <a:latin typeface="微软雅黑" panose="020B0503020204020204" pitchFamily="34" charset="-122"/>
                <a:ea typeface="微软雅黑" panose="020B0503020204020204" pitchFamily="34" charset="-122"/>
                <a:sym typeface="Century Gothic" panose="020B0502020202020204" pitchFamily="34" charset="0"/>
              </a:rPr>
              <a:t>构建</a:t>
            </a:r>
            <a:r>
              <a:rPr lang="zh-CN" altLang="en-US" dirty="0">
                <a:latin typeface="微软雅黑" panose="020B0503020204020204" pitchFamily="34" charset="-122"/>
                <a:ea typeface="微软雅黑" panose="020B0503020204020204" pitchFamily="34" charset="-122"/>
                <a:sym typeface="Century Gothic" panose="020B0502020202020204" pitchFamily="34" charset="0"/>
              </a:rPr>
              <a:t>含简化的分布式电网和热网的信息物理系统模型，对提出的攻击模型进行了验证。如</a:t>
            </a:r>
            <a:r>
              <a:rPr lang="zh-CN" altLang="en-US" dirty="0" smtClean="0">
                <a:latin typeface="微软雅黑" panose="020B0503020204020204" pitchFamily="34" charset="-122"/>
                <a:ea typeface="微软雅黑" panose="020B0503020204020204" pitchFamily="34" charset="-122"/>
                <a:sym typeface="Century Gothic" panose="020B0502020202020204" pitchFamily="34" charset="0"/>
              </a:rPr>
              <a:t>图所</a:t>
            </a:r>
            <a:r>
              <a:rPr lang="zh-CN" altLang="en-US" dirty="0">
                <a:latin typeface="微软雅黑" panose="020B0503020204020204" pitchFamily="34" charset="-122"/>
                <a:ea typeface="微软雅黑" panose="020B0503020204020204" pitchFamily="34" charset="-122"/>
                <a:sym typeface="Century Gothic" panose="020B0502020202020204" pitchFamily="34" charset="0"/>
              </a:rPr>
              <a:t>示。</a:t>
            </a:r>
            <a:r>
              <a:rPr lang="zh-CN" altLang="en-US" dirty="0" smtClean="0">
                <a:latin typeface="微软雅黑" panose="020B0503020204020204" pitchFamily="34" charset="-122"/>
                <a:ea typeface="微软雅黑" panose="020B0503020204020204" pitchFamily="34" charset="-122"/>
                <a:sym typeface="Century Gothic" panose="020B0502020202020204" pitchFamily="34" charset="0"/>
              </a:rPr>
              <a:t>其中聚合商为</a:t>
            </a:r>
            <a:r>
              <a:rPr lang="en-US" altLang="zh-CN" dirty="0" smtClean="0">
                <a:latin typeface="微软雅黑" panose="020B0503020204020204" pitchFamily="34" charset="-122"/>
                <a:ea typeface="微软雅黑" panose="020B0503020204020204" pitchFamily="34" charset="-122"/>
                <a:sym typeface="Century Gothic" panose="020B0502020202020204" pitchFamily="34" charset="0"/>
              </a:rPr>
              <a:t>EA1-EA8</a:t>
            </a:r>
            <a:r>
              <a:rPr lang="zh-CN" altLang="en-US" dirty="0" smtClean="0">
                <a:latin typeface="微软雅黑" panose="020B0503020204020204" pitchFamily="34" charset="-122"/>
                <a:ea typeface="微软雅黑" panose="020B0503020204020204" pitchFamily="34" charset="-122"/>
                <a:sym typeface="Century Gothic" panose="020B0502020202020204" pitchFamily="34" charset="0"/>
              </a:rPr>
              <a:t>，热聚合商为</a:t>
            </a:r>
            <a:r>
              <a:rPr lang="en-US" altLang="zh-CN" dirty="0" smtClean="0">
                <a:latin typeface="微软雅黑" panose="020B0503020204020204" pitchFamily="34" charset="-122"/>
                <a:ea typeface="微软雅黑" panose="020B0503020204020204" pitchFamily="34" charset="-122"/>
                <a:sym typeface="Century Gothic" panose="020B0502020202020204" pitchFamily="34" charset="0"/>
              </a:rPr>
              <a:t>TA1-TA4</a:t>
            </a:r>
            <a:r>
              <a:rPr lang="zh-CN" altLang="en-US" dirty="0" smtClean="0">
                <a:latin typeface="微软雅黑" panose="020B0503020204020204" pitchFamily="34" charset="-122"/>
                <a:ea typeface="微软雅黑" panose="020B0503020204020204" pitchFamily="34" charset="-122"/>
                <a:sym typeface="Century Gothic" panose="020B0502020202020204" pitchFamily="34" charset="0"/>
              </a:rPr>
              <a:t>，多能信息物理系统中某</a:t>
            </a:r>
            <a:r>
              <a:rPr lang="zh-CN" altLang="en-US" dirty="0">
                <a:latin typeface="微软雅黑" panose="020B0503020204020204" pitchFamily="34" charset="-122"/>
                <a:ea typeface="微软雅黑" panose="020B0503020204020204" pitchFamily="34" charset="-122"/>
                <a:sym typeface="Century Gothic" panose="020B0502020202020204" pitchFamily="34" charset="0"/>
              </a:rPr>
              <a:t>一区域的负荷资源归属同一个聚合商</a:t>
            </a:r>
          </a:p>
        </p:txBody>
      </p:sp>
      <p:pic>
        <p:nvPicPr>
          <p:cNvPr id="28" name="图片 27"/>
          <p:cNvPicPr>
            <a:picLocks noChangeAspect="1"/>
          </p:cNvPicPr>
          <p:nvPr/>
        </p:nvPicPr>
        <p:blipFill>
          <a:blip r:embed="rId4"/>
          <a:stretch>
            <a:fillRect/>
          </a:stretch>
        </p:blipFill>
        <p:spPr>
          <a:xfrm>
            <a:off x="2451742" y="925513"/>
            <a:ext cx="4473800" cy="3969170"/>
          </a:xfrm>
          <a:prstGeom prst="rect">
            <a:avLst/>
          </a:prstGeom>
        </p:spPr>
      </p:pic>
      <p:pic>
        <p:nvPicPr>
          <p:cNvPr id="29" name="图片 28"/>
          <p:cNvPicPr>
            <a:picLocks noChangeAspect="1"/>
          </p:cNvPicPr>
          <p:nvPr/>
        </p:nvPicPr>
        <p:blipFill>
          <a:blip r:embed="rId5"/>
          <a:stretch>
            <a:fillRect/>
          </a:stretch>
        </p:blipFill>
        <p:spPr>
          <a:xfrm>
            <a:off x="7653175" y="1495473"/>
            <a:ext cx="4545141" cy="3408856"/>
          </a:xfrm>
          <a:prstGeom prst="rect">
            <a:avLst/>
          </a:prstGeom>
        </p:spPr>
      </p:pic>
      <p:sp>
        <p:nvSpPr>
          <p:cNvPr id="30" name="矩形 29"/>
          <p:cNvSpPr/>
          <p:nvPr/>
        </p:nvSpPr>
        <p:spPr>
          <a:xfrm>
            <a:off x="7800433" y="5159316"/>
            <a:ext cx="4144502" cy="1220847"/>
          </a:xfrm>
          <a:prstGeom prst="rect">
            <a:avLst/>
          </a:prstGeom>
        </p:spPr>
        <p:txBody>
          <a:bodyPr wrap="square">
            <a:spAutoFit/>
          </a:bodyPr>
          <a:lstStyle/>
          <a:p>
            <a:pPr indent="304800" algn="just" fontAlgn="base">
              <a:lnSpc>
                <a:spcPts val="2200"/>
              </a:lnSpc>
              <a:spcBef>
                <a:spcPct val="0"/>
              </a:spcBef>
              <a:spcAft>
                <a:spcPct val="0"/>
              </a:spcAft>
              <a:defRPr/>
            </a:pPr>
            <a:r>
              <a:rPr lang="zh-CN" altLang="zh-CN" dirty="0">
                <a:latin typeface="微软雅黑" panose="020B0503020204020204" pitchFamily="34" charset="-122"/>
                <a:ea typeface="微软雅黑" panose="020B0503020204020204" pitchFamily="34" charset="-122"/>
              </a:rPr>
              <a:t>通过计算</a:t>
            </a:r>
            <a:r>
              <a:rPr lang="en-US" altLang="zh-CN" dirty="0">
                <a:latin typeface="微软雅黑" panose="020B0503020204020204" pitchFamily="34" charset="-122"/>
                <a:ea typeface="微软雅黑" panose="020B0503020204020204" pitchFamily="34" charset="-122"/>
              </a:rPr>
              <a:t>24</a:t>
            </a:r>
            <a:r>
              <a:rPr lang="zh-CN" altLang="zh-CN" dirty="0">
                <a:latin typeface="微软雅黑" panose="020B0503020204020204" pitchFamily="34" charset="-122"/>
                <a:ea typeface="微软雅黑" panose="020B0503020204020204" pitchFamily="34" charset="-122"/>
              </a:rPr>
              <a:t>小时</a:t>
            </a:r>
            <a:r>
              <a:rPr lang="zh-CN" altLang="zh-CN" dirty="0" smtClean="0">
                <a:latin typeface="微软雅黑" panose="020B0503020204020204" pitchFamily="34" charset="-122"/>
                <a:ea typeface="微软雅黑" panose="020B0503020204020204" pitchFamily="34" charset="-122"/>
              </a:rPr>
              <a:t>内攻击</a:t>
            </a:r>
            <a:r>
              <a:rPr lang="zh-CN" altLang="zh-CN" dirty="0">
                <a:latin typeface="微软雅黑" panose="020B0503020204020204" pitchFamily="34" charset="-122"/>
                <a:ea typeface="微软雅黑" panose="020B0503020204020204" pitchFamily="34" charset="-122"/>
              </a:rPr>
              <a:t>聚合</a:t>
            </a:r>
            <a:r>
              <a:rPr lang="zh-CN" altLang="zh-CN" dirty="0" smtClean="0">
                <a:latin typeface="微软雅黑" panose="020B0503020204020204" pitchFamily="34" charset="-122"/>
                <a:ea typeface="微软雅黑" panose="020B0503020204020204" pitchFamily="34" charset="-122"/>
              </a:rPr>
              <a:t>商</a:t>
            </a:r>
            <a:r>
              <a:rPr lang="zh-CN" altLang="en-US" dirty="0" smtClean="0">
                <a:latin typeface="微软雅黑" panose="020B0503020204020204" pitchFamily="34" charset="-122"/>
                <a:ea typeface="微软雅黑" panose="020B0503020204020204" pitchFamily="34" charset="-122"/>
              </a:rPr>
              <a:t>所获收益</a:t>
            </a:r>
            <a:r>
              <a:rPr lang="zh-CN"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选择合适的</a:t>
            </a:r>
            <a:r>
              <a:rPr lang="zh-CN" altLang="zh-CN" dirty="0" smtClean="0">
                <a:latin typeface="微软雅黑" panose="020B0503020204020204" pitchFamily="34" charset="-122"/>
                <a:ea typeface="微软雅黑" panose="020B0503020204020204" pitchFamily="34" charset="-122"/>
              </a:rPr>
              <a:t>攻击</a:t>
            </a:r>
            <a:r>
              <a:rPr lang="zh-CN" altLang="en-US" dirty="0" smtClean="0">
                <a:latin typeface="微软雅黑" panose="020B0503020204020204" pitchFamily="34" charset="-122"/>
                <a:ea typeface="微软雅黑" panose="020B0503020204020204" pitchFamily="34" charset="-122"/>
              </a:rPr>
              <a:t>时段</a:t>
            </a:r>
            <a:r>
              <a:rPr lang="zh-CN" altLang="zh-CN" dirty="0" smtClean="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攻击</a:t>
            </a:r>
            <a:r>
              <a:rPr lang="zh-CN" altLang="zh-CN" dirty="0" smtClean="0">
                <a:latin typeface="微软雅黑" panose="020B0503020204020204" pitchFamily="34" charset="-122"/>
                <a:ea typeface="微软雅黑" panose="020B0503020204020204" pitchFamily="34" charset="-122"/>
              </a:rPr>
              <a:t>电</a:t>
            </a:r>
            <a:r>
              <a:rPr lang="zh-CN" altLang="zh-CN" dirty="0">
                <a:latin typeface="微软雅黑" panose="020B0503020204020204" pitchFamily="34" charset="-122"/>
                <a:ea typeface="微软雅黑" panose="020B0503020204020204" pitchFamily="34" charset="-122"/>
              </a:rPr>
              <a:t>聚合</a:t>
            </a:r>
            <a:r>
              <a:rPr lang="zh-CN" altLang="zh-CN" dirty="0" smtClean="0">
                <a:latin typeface="微软雅黑" panose="020B0503020204020204" pitchFamily="34" charset="-122"/>
                <a:ea typeface="微软雅黑" panose="020B0503020204020204" pitchFamily="34" charset="-122"/>
              </a:rPr>
              <a:t>商</a:t>
            </a:r>
            <a:r>
              <a:rPr lang="zh-CN" altLang="en-US" dirty="0" smtClean="0">
                <a:latin typeface="微软雅黑" panose="020B0503020204020204" pitchFamily="34" charset="-122"/>
                <a:ea typeface="微软雅黑" panose="020B0503020204020204" pitchFamily="34" charset="-122"/>
              </a:rPr>
              <a:t>的</a:t>
            </a:r>
            <a:r>
              <a:rPr lang="zh-CN" altLang="zh-CN" dirty="0" smtClean="0">
                <a:latin typeface="微软雅黑" panose="020B0503020204020204" pitchFamily="34" charset="-122"/>
                <a:ea typeface="微软雅黑" panose="020B0503020204020204" pitchFamily="34" charset="-122"/>
              </a:rPr>
              <a:t>收益</a:t>
            </a:r>
            <a:r>
              <a:rPr lang="zh-CN" altLang="en-US" dirty="0" smtClean="0">
                <a:latin typeface="微软雅黑" panose="020B0503020204020204" pitchFamily="34" charset="-122"/>
                <a:ea typeface="微软雅黑" panose="020B0503020204020204" pitchFamily="34" charset="-122"/>
              </a:rPr>
              <a:t>和</a:t>
            </a:r>
            <a:r>
              <a:rPr lang="zh-CN" altLang="zh-CN" dirty="0" smtClean="0">
                <a:latin typeface="微软雅黑" panose="020B0503020204020204" pitchFamily="34" charset="-122"/>
                <a:ea typeface="微软雅黑" panose="020B0503020204020204" pitchFamily="34" charset="-122"/>
              </a:rPr>
              <a:t>攻击热聚合商</a:t>
            </a:r>
            <a:r>
              <a:rPr lang="zh-CN" altLang="en-US" dirty="0" smtClean="0">
                <a:latin typeface="微软雅黑" panose="020B0503020204020204" pitchFamily="34" charset="-122"/>
                <a:ea typeface="微软雅黑" panose="020B0503020204020204" pitchFamily="34" charset="-122"/>
              </a:rPr>
              <a:t>的</a:t>
            </a:r>
            <a:r>
              <a:rPr lang="zh-CN" altLang="zh-CN" dirty="0" smtClean="0">
                <a:latin typeface="微软雅黑" panose="020B0503020204020204" pitchFamily="34" charset="-122"/>
                <a:ea typeface="微软雅黑" panose="020B0503020204020204" pitchFamily="34" charset="-122"/>
              </a:rPr>
              <a:t>收益</a:t>
            </a:r>
            <a:r>
              <a:rPr lang="zh-CN" altLang="en-US" dirty="0" smtClean="0">
                <a:latin typeface="微软雅黑" panose="020B0503020204020204" pitchFamily="34" charset="-122"/>
                <a:ea typeface="微软雅黑" panose="020B0503020204020204" pitchFamily="34" charset="-122"/>
              </a:rPr>
              <a:t>如图所示。</a:t>
            </a:r>
            <a:endParaRPr lang="zh-CN"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6517"/>
    </mc:Choice>
    <mc:Fallback xmlns="">
      <p:transition advTm="36517"/>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57354" name="标题 1"/>
          <p:cNvSpPr txBox="1"/>
          <p:nvPr/>
        </p:nvSpPr>
        <p:spPr>
          <a:xfrm>
            <a:off x="2620963" y="242888"/>
            <a:ext cx="92408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2.4</a:t>
            </a:r>
            <a:r>
              <a:rPr lang="zh-CN" altLang="en-US" sz="3200" b="1" dirty="0" smtClean="0">
                <a:latin typeface="微软雅黑" panose="020B0503020204020204" pitchFamily="34" charset="-122"/>
                <a:ea typeface="微软雅黑" panose="020B0503020204020204" pitchFamily="34" charset="-122"/>
              </a:rPr>
              <a:t>：算例仿真</a:t>
            </a: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7356" name="文本框 54"/>
          <p:cNvSpPr txBox="1"/>
          <p:nvPr/>
        </p:nvSpPr>
        <p:spPr>
          <a:xfrm>
            <a:off x="120650" y="4010025"/>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44" name="等腰三角形 43"/>
          <p:cNvSpPr/>
          <p:nvPr/>
        </p:nvSpPr>
        <p:spPr>
          <a:xfrm rot="16200000" flipV="1">
            <a:off x="1489893" y="4185437"/>
            <a:ext cx="438132" cy="163543"/>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45" name="文本框 44"/>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pic>
        <p:nvPicPr>
          <p:cNvPr id="25" name="图片 24"/>
          <p:cNvPicPr>
            <a:picLocks noChangeAspect="1"/>
          </p:cNvPicPr>
          <p:nvPr/>
        </p:nvPicPr>
        <p:blipFill>
          <a:blip r:embed="rId4"/>
          <a:stretch>
            <a:fillRect/>
          </a:stretch>
        </p:blipFill>
        <p:spPr>
          <a:xfrm>
            <a:off x="1644650" y="1389228"/>
            <a:ext cx="5513050" cy="2180255"/>
          </a:xfrm>
          <a:prstGeom prst="rect">
            <a:avLst/>
          </a:prstGeom>
        </p:spPr>
      </p:pic>
      <p:pic>
        <p:nvPicPr>
          <p:cNvPr id="26" name="图片 25"/>
          <p:cNvPicPr>
            <a:picLocks noChangeAspect="1"/>
          </p:cNvPicPr>
          <p:nvPr/>
        </p:nvPicPr>
        <p:blipFill>
          <a:blip r:embed="rId5"/>
          <a:stretch>
            <a:fillRect/>
          </a:stretch>
        </p:blipFill>
        <p:spPr>
          <a:xfrm>
            <a:off x="1656285" y="3705847"/>
            <a:ext cx="5489780" cy="2168649"/>
          </a:xfrm>
          <a:prstGeom prst="rect">
            <a:avLst/>
          </a:prstGeom>
        </p:spPr>
      </p:pic>
      <p:sp>
        <p:nvSpPr>
          <p:cNvPr id="27" name="矩形 26"/>
          <p:cNvSpPr/>
          <p:nvPr/>
        </p:nvSpPr>
        <p:spPr>
          <a:xfrm>
            <a:off x="2189957" y="6010861"/>
            <a:ext cx="4722034" cy="338554"/>
          </a:xfrm>
          <a:prstGeom prst="rect">
            <a:avLst/>
          </a:prstGeom>
        </p:spPr>
        <p:txBody>
          <a:bodyPr wrap="square">
            <a:spAutoFit/>
          </a:bodyPr>
          <a:lstStyle/>
          <a:p>
            <a:r>
              <a:rPr lang="en-US" altLang="zh-CN" sz="1600" dirty="0">
                <a:latin typeface="微软雅黑" panose="020B0503020204020204" pitchFamily="34" charset="-122"/>
                <a:ea typeface="微软雅黑" panose="020B0503020204020204" pitchFamily="34" charset="-122"/>
              </a:rPr>
              <a:t>7</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时段电聚合商</a:t>
            </a:r>
            <a:r>
              <a:rPr lang="en-US" altLang="zh-CN" sz="1600" dirty="0" smtClean="0">
                <a:latin typeface="微软雅黑" panose="020B0503020204020204" pitchFamily="34" charset="-122"/>
                <a:ea typeface="微软雅黑" panose="020B0503020204020204" pitchFamily="34" charset="-122"/>
              </a:rPr>
              <a:t>3</a:t>
            </a:r>
            <a:r>
              <a:rPr lang="zh-CN" altLang="en-US" sz="1600" dirty="0" smtClean="0">
                <a:latin typeface="微软雅黑" panose="020B0503020204020204" pitchFamily="34" charset="-122"/>
                <a:ea typeface="微软雅黑" panose="020B0503020204020204" pitchFamily="34" charset="-122"/>
              </a:rPr>
              <a:t>和</a:t>
            </a:r>
            <a:r>
              <a:rPr lang="en-US" altLang="zh-CN" sz="1600" dirty="0" smtClean="0">
                <a:latin typeface="微软雅黑" panose="020B0503020204020204" pitchFamily="34" charset="-122"/>
                <a:ea typeface="微软雅黑" panose="020B0503020204020204" pitchFamily="34" charset="-122"/>
              </a:rPr>
              <a:t>7</a:t>
            </a:r>
            <a:r>
              <a:rPr lang="zh-CN" altLang="zh-CN" sz="1600" dirty="0" smtClean="0">
                <a:latin typeface="微软雅黑" panose="020B0503020204020204" pitchFamily="34" charset="-122"/>
                <a:ea typeface="微软雅黑" panose="020B0503020204020204" pitchFamily="34" charset="-122"/>
                <a:cs typeface="Times New Roman" panose="02020603050405020304" pitchFamily="18" charset="0"/>
              </a:rPr>
              <a:t>受</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攻击的电价和负荷响应曲线</a:t>
            </a:r>
            <a:endParaRPr lang="zh-CN" altLang="en-US" sz="1600" dirty="0">
              <a:latin typeface="微软雅黑" panose="020B0503020204020204" pitchFamily="34" charset="-122"/>
              <a:ea typeface="微软雅黑" panose="020B0503020204020204" pitchFamily="34" charset="-122"/>
            </a:endParaRPr>
          </a:p>
        </p:txBody>
      </p:sp>
      <p:pic>
        <p:nvPicPr>
          <p:cNvPr id="28" name="图片 27"/>
          <p:cNvPicPr>
            <a:picLocks noChangeAspect="1"/>
          </p:cNvPicPr>
          <p:nvPr/>
        </p:nvPicPr>
        <p:blipFill>
          <a:blip r:embed="rId6"/>
          <a:stretch>
            <a:fillRect/>
          </a:stretch>
        </p:blipFill>
        <p:spPr>
          <a:xfrm>
            <a:off x="6911990" y="1381008"/>
            <a:ext cx="5552503" cy="2196697"/>
          </a:xfrm>
          <a:prstGeom prst="rect">
            <a:avLst/>
          </a:prstGeom>
        </p:spPr>
      </p:pic>
      <p:pic>
        <p:nvPicPr>
          <p:cNvPr id="29" name="图片 28"/>
          <p:cNvPicPr>
            <a:picLocks noChangeAspect="1"/>
          </p:cNvPicPr>
          <p:nvPr/>
        </p:nvPicPr>
        <p:blipFill>
          <a:blip r:embed="rId7"/>
          <a:stretch>
            <a:fillRect/>
          </a:stretch>
        </p:blipFill>
        <p:spPr>
          <a:xfrm>
            <a:off x="6964858" y="3664540"/>
            <a:ext cx="5499635" cy="2190042"/>
          </a:xfrm>
          <a:prstGeom prst="rect">
            <a:avLst/>
          </a:prstGeom>
        </p:spPr>
      </p:pic>
      <p:sp>
        <p:nvSpPr>
          <p:cNvPr id="30" name="矩形 29"/>
          <p:cNvSpPr/>
          <p:nvPr/>
        </p:nvSpPr>
        <p:spPr>
          <a:xfrm>
            <a:off x="7419197" y="6010861"/>
            <a:ext cx="4323620" cy="338554"/>
          </a:xfrm>
          <a:prstGeom prst="rect">
            <a:avLst/>
          </a:prstGeom>
        </p:spPr>
        <p:txBody>
          <a:bodyPr wrap="none">
            <a:spAutoFit/>
          </a:bodyPr>
          <a:lstStyle/>
          <a:p>
            <a:pPr algn="ctr">
              <a:spcAft>
                <a:spcPts val="0"/>
              </a:spcAft>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7</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时段受攻击的热聚合商负荷热价响应曲线</a:t>
            </a:r>
          </a:p>
        </p:txBody>
      </p:sp>
    </p:spTree>
  </p:cSld>
  <p:clrMapOvr>
    <a:masterClrMapping/>
  </p:clrMapOvr>
  <mc:AlternateContent xmlns:mc="http://schemas.openxmlformats.org/markup-compatibility/2006" xmlns:p14="http://schemas.microsoft.com/office/powerpoint/2010/main">
    <mc:Choice Requires="p14">
      <p:transition p14:dur="0" advTm="36517"/>
    </mc:Choice>
    <mc:Fallback xmlns="">
      <p:transition advTm="36517"/>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标题 1"/>
          <p:cNvSpPr txBox="1"/>
          <p:nvPr/>
        </p:nvSpPr>
        <p:spPr>
          <a:xfrm>
            <a:off x="193040" y="3383280"/>
            <a:ext cx="11806555" cy="81407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buFontTx/>
              <a:buNone/>
            </a:pPr>
            <a:r>
              <a:rPr lang="zh-CN" altLang="en-US" sz="4400" b="1" dirty="0">
                <a:solidFill>
                  <a:srgbClr val="1C4885"/>
                </a:solidFill>
                <a:latin typeface="微软雅黑" panose="020B0503020204020204" pitchFamily="34" charset="-122"/>
                <a:ea typeface="微软雅黑" panose="020B0503020204020204" pitchFamily="34" charset="-122"/>
              </a:rPr>
              <a:t>考虑聚合商风险的</a:t>
            </a:r>
            <a:r>
              <a:rPr lang="en-US" altLang="zh-CN" sz="4400" b="1" dirty="0">
                <a:solidFill>
                  <a:srgbClr val="1C4885"/>
                </a:solidFill>
                <a:latin typeface="微软雅黑" panose="020B0503020204020204" pitchFamily="34" charset="-122"/>
                <a:ea typeface="微软雅黑" panose="020B0503020204020204" pitchFamily="34" charset="-122"/>
              </a:rPr>
              <a:t>MECPS</a:t>
            </a:r>
            <a:r>
              <a:rPr lang="zh-CN" altLang="en-US" sz="4400" b="1" dirty="0">
                <a:solidFill>
                  <a:srgbClr val="1C4885"/>
                </a:solidFill>
                <a:latin typeface="微软雅黑" panose="020B0503020204020204" pitchFamily="34" charset="-122"/>
                <a:ea typeface="微软雅黑" panose="020B0503020204020204" pitchFamily="34" charset="-122"/>
              </a:rPr>
              <a:t>分布式优化调度方法</a:t>
            </a:r>
          </a:p>
        </p:txBody>
      </p:sp>
      <p:pic>
        <p:nvPicPr>
          <p:cNvPr id="63491" name="图片 19"/>
          <p:cNvPicPr>
            <a:picLocks noChangeAspect="1"/>
          </p:cNvPicPr>
          <p:nvPr/>
        </p:nvPicPr>
        <p:blipFill>
          <a:blip r:embed="rId3"/>
          <a:stretch>
            <a:fillRect/>
          </a:stretch>
        </p:blipFill>
        <p:spPr>
          <a:xfrm>
            <a:off x="419100" y="393700"/>
            <a:ext cx="1976438" cy="735013"/>
          </a:xfrm>
          <a:prstGeom prst="rect">
            <a:avLst/>
          </a:prstGeom>
          <a:noFill/>
          <a:ln w="9525">
            <a:noFill/>
          </a:ln>
        </p:spPr>
      </p:pic>
      <p:sp>
        <p:nvSpPr>
          <p:cNvPr id="63492" name="Freeform 5"/>
          <p:cNvSpPr>
            <a:spLocks noEditPoints="1"/>
          </p:cNvSpPr>
          <p:nvPr/>
        </p:nvSpPr>
        <p:spPr>
          <a:xfrm>
            <a:off x="5538788" y="2087563"/>
            <a:ext cx="1114425" cy="99695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2139"/>
    </mc:Choice>
    <mc:Fallback xmlns="">
      <p:transition advTm="2139"/>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65546" name="标题 1"/>
          <p:cNvSpPr txBox="1"/>
          <p:nvPr/>
        </p:nvSpPr>
        <p:spPr>
          <a:xfrm>
            <a:off x="2620963" y="242888"/>
            <a:ext cx="9108582"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3.1</a:t>
            </a:r>
            <a:r>
              <a:rPr lang="zh-CN" altLang="en-US" sz="3200" b="1" dirty="0" smtClean="0">
                <a:latin typeface="微软雅黑" panose="020B0503020204020204" pitchFamily="34" charset="-122"/>
                <a:ea typeface="微软雅黑" panose="020B0503020204020204" pitchFamily="34" charset="-122"/>
              </a:rPr>
              <a:t>：多能信息物理系统各子系统模型及约束</a:t>
            </a:r>
          </a:p>
          <a:p>
            <a:pPr marL="0" lvl="0" indent="0" eaLnBrk="1" hangingPunct="1">
              <a:spcBef>
                <a:spcPct val="0"/>
              </a:spcBef>
              <a:buFontTx/>
              <a:buNone/>
            </a:pP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65549"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pic>
        <p:nvPicPr>
          <p:cNvPr id="49" name="图片 48"/>
          <p:cNvPicPr>
            <a:picLocks noChangeAspect="1"/>
          </p:cNvPicPr>
          <p:nvPr/>
        </p:nvPicPr>
        <p:blipFill>
          <a:blip r:embed="rId5"/>
          <a:stretch>
            <a:fillRect/>
          </a:stretch>
        </p:blipFill>
        <p:spPr>
          <a:xfrm>
            <a:off x="2766550" y="3886298"/>
            <a:ext cx="5456185" cy="2492180"/>
          </a:xfrm>
          <a:prstGeom prst="rect">
            <a:avLst/>
          </a:prstGeom>
        </p:spPr>
      </p:pic>
      <p:sp>
        <p:nvSpPr>
          <p:cNvPr id="52" name="矩形 51">
            <a:extLst>
              <a:ext uri="{FF2B5EF4-FFF2-40B4-BE49-F238E27FC236}">
                <a16:creationId xmlns:a16="http://schemas.microsoft.com/office/drawing/2014/main" id="{B3CED111-B00E-4E72-88AE-F282CEA18985}"/>
              </a:ext>
            </a:extLst>
          </p:cNvPr>
          <p:cNvSpPr/>
          <p:nvPr/>
        </p:nvSpPr>
        <p:spPr bwMode="auto">
          <a:xfrm>
            <a:off x="2572457" y="2057698"/>
            <a:ext cx="6055677" cy="167024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aphicFrame>
        <p:nvGraphicFramePr>
          <p:cNvPr id="56" name="对象 55"/>
          <p:cNvGraphicFramePr>
            <a:graphicFrameLocks noChangeAspect="1"/>
          </p:cNvGraphicFramePr>
          <p:nvPr>
            <p:extLst>
              <p:ext uri="{D42A27DB-BD31-4B8C-83A1-F6EECF244321}">
                <p14:modId xmlns:p14="http://schemas.microsoft.com/office/powerpoint/2010/main" val="1512349323"/>
              </p:ext>
            </p:extLst>
          </p:nvPr>
        </p:nvGraphicFramePr>
        <p:xfrm>
          <a:off x="5668270" y="2258758"/>
          <a:ext cx="2959864" cy="1113122"/>
        </p:xfrm>
        <a:graphic>
          <a:graphicData uri="http://schemas.openxmlformats.org/presentationml/2006/ole">
            <mc:AlternateContent xmlns:mc="http://schemas.openxmlformats.org/markup-compatibility/2006">
              <mc:Choice xmlns:v="urn:schemas-microsoft-com:vml" Requires="v">
                <p:oleObj spid="_x0000_s21465" name="Visio" r:id="rId6" imgW="7048323" imgH="2647970" progId="Visio.Drawing.15">
                  <p:embed/>
                </p:oleObj>
              </mc:Choice>
              <mc:Fallback>
                <p:oleObj name="Visio" r:id="rId6" imgW="7048323" imgH="2647970" progId="Visio.Drawing.15">
                  <p:embed/>
                  <p:pic>
                    <p:nvPicPr>
                      <p:cNvPr id="59" name="对象 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8270" y="2258758"/>
                        <a:ext cx="2959864" cy="1113122"/>
                      </a:xfrm>
                      <a:prstGeom prst="rect">
                        <a:avLst/>
                      </a:prstGeom>
                      <a:noFill/>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60818028"/>
              </p:ext>
            </p:extLst>
          </p:nvPr>
        </p:nvGraphicFramePr>
        <p:xfrm>
          <a:off x="2838681" y="2578140"/>
          <a:ext cx="3005214" cy="812635"/>
        </p:xfrm>
        <a:graphic>
          <a:graphicData uri="http://schemas.openxmlformats.org/presentationml/2006/ole">
            <mc:AlternateContent xmlns:mc="http://schemas.openxmlformats.org/markup-compatibility/2006">
              <mc:Choice xmlns:v="urn:schemas-microsoft-com:vml" Requires="v">
                <p:oleObj spid="_x0000_s21466" name="Visio" r:id="rId8" imgW="7056184" imgH="1577247" progId="Visio.Drawing.15">
                  <p:embed/>
                </p:oleObj>
              </mc:Choice>
              <mc:Fallback>
                <p:oleObj name="Visio" r:id="rId8" imgW="7056184" imgH="1577247" progId="Visio.Drawing.15">
                  <p:embed/>
                  <p:pic>
                    <p:nvPicPr>
                      <p:cNvPr id="60" name="对象 59"/>
                      <p:cNvPicPr>
                        <a:picLocks noChangeAspect="1" noChangeArrowheads="1"/>
                      </p:cNvPicPr>
                      <p:nvPr/>
                    </p:nvPicPr>
                    <p:blipFill>
                      <a:blip r:embed="rId9"/>
                      <a:srcRect/>
                      <a:stretch>
                        <a:fillRect/>
                      </a:stretch>
                    </p:blipFill>
                    <p:spPr bwMode="auto">
                      <a:xfrm>
                        <a:off x="2838681" y="2578140"/>
                        <a:ext cx="3005214" cy="812635"/>
                      </a:xfrm>
                      <a:prstGeom prst="rect">
                        <a:avLst/>
                      </a:prstGeom>
                      <a:noFill/>
                    </p:spPr>
                  </p:pic>
                </p:oleObj>
              </mc:Fallback>
            </mc:AlternateContent>
          </a:graphicData>
        </a:graphic>
      </p:graphicFrame>
      <p:sp>
        <p:nvSpPr>
          <p:cNvPr id="60" name="矩形 59"/>
          <p:cNvSpPr/>
          <p:nvPr/>
        </p:nvSpPr>
        <p:spPr>
          <a:xfrm>
            <a:off x="6432238" y="3340827"/>
            <a:ext cx="1863494" cy="369332"/>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rPr>
              <a:t>集中式示意图</a:t>
            </a:r>
            <a:endParaRPr lang="zh-CN" altLang="en-US" dirty="0">
              <a:latin typeface="微软雅黑" panose="020B0503020204020204" pitchFamily="34" charset="-122"/>
              <a:ea typeface="微软雅黑" panose="020B0503020204020204" pitchFamily="34" charset="-122"/>
            </a:endParaRPr>
          </a:p>
        </p:txBody>
      </p:sp>
      <p:sp>
        <p:nvSpPr>
          <p:cNvPr id="62" name="矩形 61"/>
          <p:cNvSpPr/>
          <p:nvPr/>
        </p:nvSpPr>
        <p:spPr>
          <a:xfrm>
            <a:off x="3390665" y="3334777"/>
            <a:ext cx="1908471" cy="369332"/>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rPr>
              <a:t>分布</a:t>
            </a:r>
            <a:r>
              <a:rPr lang="zh-CN" altLang="en-US" dirty="0">
                <a:latin typeface="微软雅黑" panose="020B0503020204020204" pitchFamily="34" charset="-122"/>
                <a:ea typeface="微软雅黑" panose="020B0503020204020204" pitchFamily="34" charset="-122"/>
              </a:rPr>
              <a:t>式</a:t>
            </a:r>
            <a:r>
              <a:rPr lang="zh-CN" altLang="zh-CN" dirty="0">
                <a:latin typeface="微软雅黑" panose="020B0503020204020204" pitchFamily="34" charset="-122"/>
                <a:ea typeface="微软雅黑" panose="020B0503020204020204" pitchFamily="34" charset="-122"/>
              </a:rPr>
              <a:t>示意图</a:t>
            </a:r>
            <a:endParaRPr lang="zh-CN" altLang="en-US" dirty="0">
              <a:latin typeface="微软雅黑" panose="020B0503020204020204" pitchFamily="34" charset="-122"/>
              <a:ea typeface="微软雅黑" panose="020B0503020204020204" pitchFamily="34" charset="-122"/>
            </a:endParaRPr>
          </a:p>
        </p:txBody>
      </p:sp>
      <p:sp>
        <p:nvSpPr>
          <p:cNvPr id="68" name="矩形 67"/>
          <p:cNvSpPr/>
          <p:nvPr/>
        </p:nvSpPr>
        <p:spPr>
          <a:xfrm>
            <a:off x="1897925" y="1024502"/>
            <a:ext cx="9831620" cy="646331"/>
          </a:xfrm>
          <a:prstGeom prst="rect">
            <a:avLst/>
          </a:prstGeom>
        </p:spPr>
        <p:txBody>
          <a:bodyPr wrap="square">
            <a:spAutoFit/>
          </a:bodyPr>
          <a:lstStyle/>
          <a:p>
            <a:pPr algn="just"/>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多能信息物理系统可按照能源使用类型的不同可划分为电力子系统和热力子系统。各子系统由相应的产能设备与负荷组成，子系统与子系统之间通过耦合设备进行连接。</a:t>
            </a:r>
            <a:endParaRPr lang="zh-CN" altLang="en-US" dirty="0">
              <a:latin typeface="微软雅黑" panose="020B0503020204020204" pitchFamily="34" charset="-122"/>
              <a:ea typeface="微软雅黑" panose="020B0503020204020204" pitchFamily="34" charset="-122"/>
            </a:endParaRPr>
          </a:p>
        </p:txBody>
      </p:sp>
      <p:graphicFrame>
        <p:nvGraphicFramePr>
          <p:cNvPr id="72" name="对象 71"/>
          <p:cNvGraphicFramePr>
            <a:graphicFrameLocks noChangeAspect="1"/>
          </p:cNvGraphicFramePr>
          <p:nvPr>
            <p:extLst>
              <p:ext uri="{D42A27DB-BD31-4B8C-83A1-F6EECF244321}">
                <p14:modId xmlns:p14="http://schemas.microsoft.com/office/powerpoint/2010/main" val="3206794435"/>
              </p:ext>
            </p:extLst>
          </p:nvPr>
        </p:nvGraphicFramePr>
        <p:xfrm>
          <a:off x="9352572" y="5132388"/>
          <a:ext cx="1909763" cy="266700"/>
        </p:xfrm>
        <a:graphic>
          <a:graphicData uri="http://schemas.openxmlformats.org/presentationml/2006/ole">
            <mc:AlternateContent xmlns:mc="http://schemas.openxmlformats.org/markup-compatibility/2006">
              <mc:Choice xmlns:v="urn:schemas-microsoft-com:vml" Requires="v">
                <p:oleObj spid="_x0000_s21467" name="Equation" r:id="rId10" imgW="1909804" imgH="266300" progId="Equation.DSMT4">
                  <p:embed/>
                </p:oleObj>
              </mc:Choice>
              <mc:Fallback>
                <p:oleObj name="Equation" r:id="rId10" imgW="1909804" imgH="266300" progId="Equation.DSMT4">
                  <p:embed/>
                  <p:pic>
                    <p:nvPicPr>
                      <p:cNvPr id="7" name="对象 6"/>
                      <p:cNvPicPr/>
                      <p:nvPr/>
                    </p:nvPicPr>
                    <p:blipFill>
                      <a:blip r:embed="rId11"/>
                      <a:stretch>
                        <a:fillRect/>
                      </a:stretch>
                    </p:blipFill>
                    <p:spPr>
                      <a:xfrm>
                        <a:off x="9352572" y="5132388"/>
                        <a:ext cx="1909763" cy="266700"/>
                      </a:xfrm>
                      <a:prstGeom prst="rect">
                        <a:avLst/>
                      </a:prstGeom>
                    </p:spPr>
                  </p:pic>
                </p:oleObj>
              </mc:Fallback>
            </mc:AlternateContent>
          </a:graphicData>
        </a:graphic>
      </p:graphicFrame>
      <p:graphicFrame>
        <p:nvGraphicFramePr>
          <p:cNvPr id="73" name="对象 72"/>
          <p:cNvGraphicFramePr>
            <a:graphicFrameLocks noChangeAspect="1"/>
          </p:cNvGraphicFramePr>
          <p:nvPr>
            <p:extLst>
              <p:ext uri="{D42A27DB-BD31-4B8C-83A1-F6EECF244321}">
                <p14:modId xmlns:p14="http://schemas.microsoft.com/office/powerpoint/2010/main" val="963085975"/>
              </p:ext>
            </p:extLst>
          </p:nvPr>
        </p:nvGraphicFramePr>
        <p:xfrm>
          <a:off x="9362097" y="5399088"/>
          <a:ext cx="2289175" cy="266700"/>
        </p:xfrm>
        <a:graphic>
          <a:graphicData uri="http://schemas.openxmlformats.org/presentationml/2006/ole">
            <mc:AlternateContent xmlns:mc="http://schemas.openxmlformats.org/markup-compatibility/2006">
              <mc:Choice xmlns:v="urn:schemas-microsoft-com:vml" Requires="v">
                <p:oleObj spid="_x0000_s21468" name="Equation" r:id="rId12" imgW="2289754" imgH="266300" progId="Equation.DSMT4">
                  <p:embed/>
                </p:oleObj>
              </mc:Choice>
              <mc:Fallback>
                <p:oleObj name="Equation" r:id="rId12" imgW="2289754" imgH="266300" progId="Equation.DSMT4">
                  <p:embed/>
                  <p:pic>
                    <p:nvPicPr>
                      <p:cNvPr id="8" name="对象 7"/>
                      <p:cNvPicPr/>
                      <p:nvPr/>
                    </p:nvPicPr>
                    <p:blipFill>
                      <a:blip r:embed="rId13"/>
                      <a:stretch>
                        <a:fillRect/>
                      </a:stretch>
                    </p:blipFill>
                    <p:spPr>
                      <a:xfrm>
                        <a:off x="9362097" y="5399088"/>
                        <a:ext cx="2289175" cy="266700"/>
                      </a:xfrm>
                      <a:prstGeom prst="rect">
                        <a:avLst/>
                      </a:prstGeom>
                    </p:spPr>
                  </p:pic>
                </p:oleObj>
              </mc:Fallback>
            </mc:AlternateContent>
          </a:graphicData>
        </a:graphic>
      </p:graphicFrame>
      <p:graphicFrame>
        <p:nvGraphicFramePr>
          <p:cNvPr id="74" name="对象 73"/>
          <p:cNvGraphicFramePr>
            <a:graphicFrameLocks noChangeAspect="1"/>
          </p:cNvGraphicFramePr>
          <p:nvPr>
            <p:extLst>
              <p:ext uri="{D42A27DB-BD31-4B8C-83A1-F6EECF244321}">
                <p14:modId xmlns:p14="http://schemas.microsoft.com/office/powerpoint/2010/main" val="1553489795"/>
              </p:ext>
            </p:extLst>
          </p:nvPr>
        </p:nvGraphicFramePr>
        <p:xfrm>
          <a:off x="9362097" y="5665788"/>
          <a:ext cx="2243137" cy="266700"/>
        </p:xfrm>
        <a:graphic>
          <a:graphicData uri="http://schemas.openxmlformats.org/presentationml/2006/ole">
            <mc:AlternateContent xmlns:mc="http://schemas.openxmlformats.org/markup-compatibility/2006">
              <mc:Choice xmlns:v="urn:schemas-microsoft-com:vml" Requires="v">
                <p:oleObj spid="_x0000_s21469" name="Equation" r:id="rId14" imgW="2242350" imgH="266300" progId="Equation.DSMT4">
                  <p:embed/>
                </p:oleObj>
              </mc:Choice>
              <mc:Fallback>
                <p:oleObj name="Equation" r:id="rId14" imgW="2242350" imgH="266300" progId="Equation.DSMT4">
                  <p:embed/>
                  <p:pic>
                    <p:nvPicPr>
                      <p:cNvPr id="9" name="对象 8"/>
                      <p:cNvPicPr/>
                      <p:nvPr/>
                    </p:nvPicPr>
                    <p:blipFill>
                      <a:blip r:embed="rId15"/>
                      <a:stretch>
                        <a:fillRect/>
                      </a:stretch>
                    </p:blipFill>
                    <p:spPr>
                      <a:xfrm>
                        <a:off x="9362097" y="5665788"/>
                        <a:ext cx="2243137" cy="266700"/>
                      </a:xfrm>
                      <a:prstGeom prst="rect">
                        <a:avLst/>
                      </a:prstGeom>
                    </p:spPr>
                  </p:pic>
                </p:oleObj>
              </mc:Fallback>
            </mc:AlternateContent>
          </a:graphicData>
        </a:graphic>
      </p:graphicFrame>
      <p:graphicFrame>
        <p:nvGraphicFramePr>
          <p:cNvPr id="75" name="对象 74"/>
          <p:cNvGraphicFramePr>
            <a:graphicFrameLocks noChangeAspect="1"/>
          </p:cNvGraphicFramePr>
          <p:nvPr>
            <p:extLst>
              <p:ext uri="{D42A27DB-BD31-4B8C-83A1-F6EECF244321}">
                <p14:modId xmlns:p14="http://schemas.microsoft.com/office/powerpoint/2010/main" val="700192617"/>
              </p:ext>
            </p:extLst>
          </p:nvPr>
        </p:nvGraphicFramePr>
        <p:xfrm>
          <a:off x="9362097" y="6126450"/>
          <a:ext cx="1177925" cy="266700"/>
        </p:xfrm>
        <a:graphic>
          <a:graphicData uri="http://schemas.openxmlformats.org/presentationml/2006/ole">
            <mc:AlternateContent xmlns:mc="http://schemas.openxmlformats.org/markup-compatibility/2006">
              <mc:Choice xmlns:v="urn:schemas-microsoft-com:vml" Requires="v">
                <p:oleObj spid="_x0000_s21470" name="Equation" r:id="rId16" imgW="1178275" imgH="266300" progId="Equation.DSMT4">
                  <p:embed/>
                </p:oleObj>
              </mc:Choice>
              <mc:Fallback>
                <p:oleObj name="Equation" r:id="rId16" imgW="1178275" imgH="266300" progId="Equation.DSMT4">
                  <p:embed/>
                  <p:pic>
                    <p:nvPicPr>
                      <p:cNvPr id="11" name="对象 10"/>
                      <p:cNvPicPr/>
                      <p:nvPr/>
                    </p:nvPicPr>
                    <p:blipFill>
                      <a:blip r:embed="rId17"/>
                      <a:stretch>
                        <a:fillRect/>
                      </a:stretch>
                    </p:blipFill>
                    <p:spPr>
                      <a:xfrm>
                        <a:off x="9362097" y="6126450"/>
                        <a:ext cx="1177925" cy="266700"/>
                      </a:xfrm>
                      <a:prstGeom prst="rect">
                        <a:avLst/>
                      </a:prstGeom>
                    </p:spPr>
                  </p:pic>
                </p:oleObj>
              </mc:Fallback>
            </mc:AlternateContent>
          </a:graphicData>
        </a:graphic>
      </p:graphicFrame>
      <p:graphicFrame>
        <p:nvGraphicFramePr>
          <p:cNvPr id="76" name="对象 75"/>
          <p:cNvGraphicFramePr>
            <a:graphicFrameLocks noChangeAspect="1"/>
          </p:cNvGraphicFramePr>
          <p:nvPr>
            <p:extLst>
              <p:ext uri="{D42A27DB-BD31-4B8C-83A1-F6EECF244321}">
                <p14:modId xmlns:p14="http://schemas.microsoft.com/office/powerpoint/2010/main" val="1698785820"/>
              </p:ext>
            </p:extLst>
          </p:nvPr>
        </p:nvGraphicFramePr>
        <p:xfrm>
          <a:off x="9362097" y="5900882"/>
          <a:ext cx="1216025" cy="257175"/>
        </p:xfrm>
        <a:graphic>
          <a:graphicData uri="http://schemas.openxmlformats.org/presentationml/2006/ole">
            <mc:AlternateContent xmlns:mc="http://schemas.openxmlformats.org/markup-compatibility/2006">
              <mc:Choice xmlns:v="urn:schemas-microsoft-com:vml" Requires="v">
                <p:oleObj spid="_x0000_s21471" name="Equation" r:id="rId18" imgW="1216342" imgH="256597" progId="Equation.DSMT4">
                  <p:embed/>
                </p:oleObj>
              </mc:Choice>
              <mc:Fallback>
                <p:oleObj name="Equation" r:id="rId18" imgW="1216342" imgH="256597" progId="Equation.DSMT4">
                  <p:embed/>
                  <p:pic>
                    <p:nvPicPr>
                      <p:cNvPr id="12" name="对象 11"/>
                      <p:cNvPicPr/>
                      <p:nvPr/>
                    </p:nvPicPr>
                    <p:blipFill>
                      <a:blip r:embed="rId19"/>
                      <a:stretch>
                        <a:fillRect/>
                      </a:stretch>
                    </p:blipFill>
                    <p:spPr>
                      <a:xfrm>
                        <a:off x="9362097" y="5900882"/>
                        <a:ext cx="1216025" cy="257175"/>
                      </a:xfrm>
                      <a:prstGeom prst="rect">
                        <a:avLst/>
                      </a:prstGeom>
                    </p:spPr>
                  </p:pic>
                </p:oleObj>
              </mc:Fallback>
            </mc:AlternateContent>
          </a:graphicData>
        </a:graphic>
      </p:graphicFrame>
      <p:graphicFrame>
        <p:nvGraphicFramePr>
          <p:cNvPr id="77" name="对象 76"/>
          <p:cNvGraphicFramePr>
            <a:graphicFrameLocks noChangeAspect="1"/>
          </p:cNvGraphicFramePr>
          <p:nvPr>
            <p:extLst>
              <p:ext uri="{D42A27DB-BD31-4B8C-83A1-F6EECF244321}">
                <p14:modId xmlns:p14="http://schemas.microsoft.com/office/powerpoint/2010/main" val="1011023027"/>
              </p:ext>
            </p:extLst>
          </p:nvPr>
        </p:nvGraphicFramePr>
        <p:xfrm>
          <a:off x="9352572" y="6393150"/>
          <a:ext cx="1225550" cy="266700"/>
        </p:xfrm>
        <a:graphic>
          <a:graphicData uri="http://schemas.openxmlformats.org/presentationml/2006/ole">
            <mc:AlternateContent xmlns:mc="http://schemas.openxmlformats.org/markup-compatibility/2006">
              <mc:Choice xmlns:v="urn:schemas-microsoft-com:vml" Requires="v">
                <p:oleObj spid="_x0000_s21472" name="Equation" r:id="rId20" imgW="1225679" imgH="266300" progId="Equation.DSMT4">
                  <p:embed/>
                </p:oleObj>
              </mc:Choice>
              <mc:Fallback>
                <p:oleObj name="Equation" r:id="rId20" imgW="1225679" imgH="266300" progId="Equation.DSMT4">
                  <p:embed/>
                  <p:pic>
                    <p:nvPicPr>
                      <p:cNvPr id="16" name="对象 15"/>
                      <p:cNvPicPr/>
                      <p:nvPr/>
                    </p:nvPicPr>
                    <p:blipFill>
                      <a:blip r:embed="rId21"/>
                      <a:stretch>
                        <a:fillRect/>
                      </a:stretch>
                    </p:blipFill>
                    <p:spPr>
                      <a:xfrm>
                        <a:off x="9352572" y="6393150"/>
                        <a:ext cx="1225550" cy="266700"/>
                      </a:xfrm>
                      <a:prstGeom prst="rect">
                        <a:avLst/>
                      </a:prstGeom>
                    </p:spPr>
                  </p:pic>
                </p:oleObj>
              </mc:Fallback>
            </mc:AlternateContent>
          </a:graphicData>
        </a:graphic>
      </p:graphicFrame>
      <p:sp>
        <p:nvSpPr>
          <p:cNvPr id="78" name="矩形 77"/>
          <p:cNvSpPr/>
          <p:nvPr/>
        </p:nvSpPr>
        <p:spPr>
          <a:xfrm>
            <a:off x="9070974" y="5132388"/>
            <a:ext cx="2648894" cy="152746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9022983" y="2526548"/>
            <a:ext cx="2639626" cy="63358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9025798" y="3813582"/>
            <a:ext cx="2639626" cy="70732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3" name="对象 82"/>
          <p:cNvGraphicFramePr>
            <a:graphicFrameLocks noChangeAspect="1"/>
          </p:cNvGraphicFramePr>
          <p:nvPr>
            <p:extLst>
              <p:ext uri="{D42A27DB-BD31-4B8C-83A1-F6EECF244321}">
                <p14:modId xmlns:p14="http://schemas.microsoft.com/office/powerpoint/2010/main" val="4185113717"/>
              </p:ext>
            </p:extLst>
          </p:nvPr>
        </p:nvGraphicFramePr>
        <p:xfrm>
          <a:off x="9221227" y="2632686"/>
          <a:ext cx="2243137" cy="266700"/>
        </p:xfrm>
        <a:graphic>
          <a:graphicData uri="http://schemas.openxmlformats.org/presentationml/2006/ole">
            <mc:AlternateContent xmlns:mc="http://schemas.openxmlformats.org/markup-compatibility/2006">
              <mc:Choice xmlns:v="urn:schemas-microsoft-com:vml" Requires="v">
                <p:oleObj spid="_x0000_s21473" name="Equation" r:id="rId22" imgW="2242350" imgH="266300" progId="Equation.DSMT4">
                  <p:embed/>
                </p:oleObj>
              </mc:Choice>
              <mc:Fallback>
                <p:oleObj name="Equation" r:id="rId22" imgW="2242350" imgH="266300" progId="Equation.DSMT4">
                  <p:embed/>
                  <p:pic>
                    <p:nvPicPr>
                      <p:cNvPr id="54" name="对象 53"/>
                      <p:cNvPicPr/>
                      <p:nvPr/>
                    </p:nvPicPr>
                    <p:blipFill>
                      <a:blip r:embed="rId23"/>
                      <a:stretch>
                        <a:fillRect/>
                      </a:stretch>
                    </p:blipFill>
                    <p:spPr>
                      <a:xfrm>
                        <a:off x="9221227" y="2632686"/>
                        <a:ext cx="2243137" cy="266700"/>
                      </a:xfrm>
                      <a:prstGeom prst="rect">
                        <a:avLst/>
                      </a:prstGeom>
                    </p:spPr>
                  </p:pic>
                </p:oleObj>
              </mc:Fallback>
            </mc:AlternateContent>
          </a:graphicData>
        </a:graphic>
      </p:graphicFrame>
      <p:graphicFrame>
        <p:nvGraphicFramePr>
          <p:cNvPr id="84" name="对象 83"/>
          <p:cNvGraphicFramePr>
            <a:graphicFrameLocks noChangeAspect="1"/>
          </p:cNvGraphicFramePr>
          <p:nvPr>
            <p:extLst>
              <p:ext uri="{D42A27DB-BD31-4B8C-83A1-F6EECF244321}">
                <p14:modId xmlns:p14="http://schemas.microsoft.com/office/powerpoint/2010/main" val="3535994144"/>
              </p:ext>
            </p:extLst>
          </p:nvPr>
        </p:nvGraphicFramePr>
        <p:xfrm>
          <a:off x="9800065" y="2925218"/>
          <a:ext cx="912813" cy="266700"/>
        </p:xfrm>
        <a:graphic>
          <a:graphicData uri="http://schemas.openxmlformats.org/presentationml/2006/ole">
            <mc:AlternateContent xmlns:mc="http://schemas.openxmlformats.org/markup-compatibility/2006">
              <mc:Choice xmlns:v="urn:schemas-microsoft-com:vml" Requires="v">
                <p:oleObj spid="_x0000_s21474" name="Equation" r:id="rId24" imgW="912167" imgH="266300" progId="Equation.DSMT4">
                  <p:embed/>
                </p:oleObj>
              </mc:Choice>
              <mc:Fallback>
                <p:oleObj name="Equation" r:id="rId24" imgW="912167" imgH="266300" progId="Equation.DSMT4">
                  <p:embed/>
                  <p:pic>
                    <p:nvPicPr>
                      <p:cNvPr id="55" name="对象 54"/>
                      <p:cNvPicPr/>
                      <p:nvPr/>
                    </p:nvPicPr>
                    <p:blipFill>
                      <a:blip r:embed="rId25"/>
                      <a:stretch>
                        <a:fillRect/>
                      </a:stretch>
                    </p:blipFill>
                    <p:spPr>
                      <a:xfrm>
                        <a:off x="9800065" y="2925218"/>
                        <a:ext cx="912813" cy="266700"/>
                      </a:xfrm>
                      <a:prstGeom prst="rect">
                        <a:avLst/>
                      </a:prstGeom>
                    </p:spPr>
                  </p:pic>
                </p:oleObj>
              </mc:Fallback>
            </mc:AlternateContent>
          </a:graphicData>
        </a:graphic>
      </p:graphicFrame>
      <p:graphicFrame>
        <p:nvGraphicFramePr>
          <p:cNvPr id="85" name="对象 84"/>
          <p:cNvGraphicFramePr>
            <a:graphicFrameLocks noChangeAspect="1"/>
          </p:cNvGraphicFramePr>
          <p:nvPr>
            <p:extLst>
              <p:ext uri="{D42A27DB-BD31-4B8C-83A1-F6EECF244321}">
                <p14:modId xmlns:p14="http://schemas.microsoft.com/office/powerpoint/2010/main" val="4008851779"/>
              </p:ext>
            </p:extLst>
          </p:nvPr>
        </p:nvGraphicFramePr>
        <p:xfrm>
          <a:off x="9262142" y="3917160"/>
          <a:ext cx="2205037" cy="266700"/>
        </p:xfrm>
        <a:graphic>
          <a:graphicData uri="http://schemas.openxmlformats.org/presentationml/2006/ole">
            <mc:AlternateContent xmlns:mc="http://schemas.openxmlformats.org/markup-compatibility/2006">
              <mc:Choice xmlns:v="urn:schemas-microsoft-com:vml" Requires="v">
                <p:oleObj spid="_x0000_s21475" name="Equation" r:id="rId26" imgW="2204283" imgH="266300" progId="Equation.DSMT4">
                  <p:embed/>
                </p:oleObj>
              </mc:Choice>
              <mc:Fallback>
                <p:oleObj name="Equation" r:id="rId26" imgW="2204283" imgH="266300" progId="Equation.DSMT4">
                  <p:embed/>
                  <p:pic>
                    <p:nvPicPr>
                      <p:cNvPr id="56" name="对象 55"/>
                      <p:cNvPicPr/>
                      <p:nvPr/>
                    </p:nvPicPr>
                    <p:blipFill>
                      <a:blip r:embed="rId27"/>
                      <a:stretch>
                        <a:fillRect/>
                      </a:stretch>
                    </p:blipFill>
                    <p:spPr>
                      <a:xfrm>
                        <a:off x="9262142" y="3917160"/>
                        <a:ext cx="2205037" cy="266700"/>
                      </a:xfrm>
                      <a:prstGeom prst="rect">
                        <a:avLst/>
                      </a:prstGeom>
                    </p:spPr>
                  </p:pic>
                </p:oleObj>
              </mc:Fallback>
            </mc:AlternateContent>
          </a:graphicData>
        </a:graphic>
      </p:graphicFrame>
      <p:graphicFrame>
        <p:nvGraphicFramePr>
          <p:cNvPr id="86" name="对象 85"/>
          <p:cNvGraphicFramePr>
            <a:graphicFrameLocks noChangeAspect="1"/>
          </p:cNvGraphicFramePr>
          <p:nvPr>
            <p:extLst>
              <p:ext uri="{D42A27DB-BD31-4B8C-83A1-F6EECF244321}">
                <p14:modId xmlns:p14="http://schemas.microsoft.com/office/powerpoint/2010/main" val="3790210380"/>
              </p:ext>
            </p:extLst>
          </p:nvPr>
        </p:nvGraphicFramePr>
        <p:xfrm>
          <a:off x="9893966" y="4207151"/>
          <a:ext cx="903287" cy="266700"/>
        </p:xfrm>
        <a:graphic>
          <a:graphicData uri="http://schemas.openxmlformats.org/presentationml/2006/ole">
            <mc:AlternateContent xmlns:mc="http://schemas.openxmlformats.org/markup-compatibility/2006">
              <mc:Choice xmlns:v="urn:schemas-microsoft-com:vml" Requires="v">
                <p:oleObj spid="_x0000_s21476" name="Equation" r:id="rId28" imgW="902830" imgH="266300" progId="Equation.DSMT4">
                  <p:embed/>
                </p:oleObj>
              </mc:Choice>
              <mc:Fallback>
                <p:oleObj name="Equation" r:id="rId28" imgW="902830" imgH="266300" progId="Equation.DSMT4">
                  <p:embed/>
                  <p:pic>
                    <p:nvPicPr>
                      <p:cNvPr id="57" name="对象 56"/>
                      <p:cNvPicPr/>
                      <p:nvPr/>
                    </p:nvPicPr>
                    <p:blipFill>
                      <a:blip r:embed="rId29"/>
                      <a:stretch>
                        <a:fillRect/>
                      </a:stretch>
                    </p:blipFill>
                    <p:spPr>
                      <a:xfrm>
                        <a:off x="9893966" y="4207151"/>
                        <a:ext cx="903287" cy="266700"/>
                      </a:xfrm>
                      <a:prstGeom prst="rect">
                        <a:avLst/>
                      </a:prstGeom>
                    </p:spPr>
                  </p:pic>
                </p:oleObj>
              </mc:Fallback>
            </mc:AlternateContent>
          </a:graphicData>
        </a:graphic>
      </p:graphicFrame>
      <p:sp>
        <p:nvSpPr>
          <p:cNvPr id="87" name="圆角矩形 86"/>
          <p:cNvSpPr/>
          <p:nvPr/>
        </p:nvSpPr>
        <p:spPr>
          <a:xfrm>
            <a:off x="9527933" y="2017416"/>
            <a:ext cx="1629723"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电力子系统</a:t>
            </a:r>
            <a:endParaRPr lang="zh-CN" altLang="en-US" dirty="0">
              <a:latin typeface="微软雅黑" panose="020B0503020204020204" pitchFamily="34" charset="-122"/>
              <a:ea typeface="微软雅黑" panose="020B0503020204020204" pitchFamily="34" charset="-122"/>
            </a:endParaRPr>
          </a:p>
        </p:txBody>
      </p:sp>
      <p:sp>
        <p:nvSpPr>
          <p:cNvPr id="88" name="圆角矩形 87"/>
          <p:cNvSpPr/>
          <p:nvPr/>
        </p:nvSpPr>
        <p:spPr>
          <a:xfrm>
            <a:off x="9527933" y="3328321"/>
            <a:ext cx="1629723"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热力子系统</a:t>
            </a:r>
            <a:endParaRPr lang="zh-CN" altLang="en-US" dirty="0">
              <a:latin typeface="微软雅黑" panose="020B0503020204020204" pitchFamily="34" charset="-122"/>
              <a:ea typeface="微软雅黑" panose="020B0503020204020204" pitchFamily="34" charset="-122"/>
            </a:endParaRPr>
          </a:p>
        </p:txBody>
      </p:sp>
      <p:sp>
        <p:nvSpPr>
          <p:cNvPr id="89" name="圆角矩形 88"/>
          <p:cNvSpPr/>
          <p:nvPr/>
        </p:nvSpPr>
        <p:spPr>
          <a:xfrm>
            <a:off x="9527933" y="4642636"/>
            <a:ext cx="1629723"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热电联产机组</a:t>
            </a:r>
            <a:endParaRPr lang="zh-CN" altLang="en-US" dirty="0">
              <a:latin typeface="微软雅黑" panose="020B0503020204020204" pitchFamily="34" charset="-122"/>
              <a:ea typeface="微软雅黑" panose="020B0503020204020204" pitchFamily="34" charset="-122"/>
            </a:endParaRPr>
          </a:p>
        </p:txBody>
      </p:sp>
      <p:sp>
        <p:nvSpPr>
          <p:cNvPr id="90" name="矩形 89"/>
          <p:cNvSpPr/>
          <p:nvPr/>
        </p:nvSpPr>
        <p:spPr>
          <a:xfrm>
            <a:off x="1897925" y="1048567"/>
            <a:ext cx="9831620" cy="63358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2831568" y="6291615"/>
            <a:ext cx="5032147" cy="369332"/>
          </a:xfrm>
          <a:prstGeom prst="rect">
            <a:avLst/>
          </a:prstGeom>
        </p:spPr>
        <p:txBody>
          <a:bodyPr wrap="none">
            <a:spAutoFit/>
          </a:bodyPr>
          <a:lstStyle/>
          <a:p>
            <a:pPr algn="ctr">
              <a:spcAft>
                <a:spcPts val="0"/>
              </a:spcAft>
            </a:pPr>
            <a:r>
              <a:rPr lang="zh-CN" altLang="zh-CN" dirty="0">
                <a:latin typeface="微软雅黑" panose="020B0503020204020204" pitchFamily="34" charset="-122"/>
                <a:ea typeface="微软雅黑" panose="020B0503020204020204" pitchFamily="34" charset="-122"/>
              </a:rPr>
              <a:t>考虑聚合商交互的多能信息物理系统各子系统图</a:t>
            </a:r>
          </a:p>
        </p:txBody>
      </p:sp>
      <p:cxnSp>
        <p:nvCxnSpPr>
          <p:cNvPr id="20" name="直接箭头连接符 19"/>
          <p:cNvCxnSpPr/>
          <p:nvPr/>
        </p:nvCxnSpPr>
        <p:spPr>
          <a:xfrm>
            <a:off x="5231130" y="3264861"/>
            <a:ext cx="7243" cy="59191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2" name="圆角矩形 91"/>
          <p:cNvSpPr/>
          <p:nvPr/>
        </p:nvSpPr>
        <p:spPr>
          <a:xfrm>
            <a:off x="4553815" y="2088736"/>
            <a:ext cx="2092960"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现有经济调度方法</a:t>
            </a:r>
            <a:endParaRPr lang="zh-CN" altLang="en-US" dirty="0">
              <a:latin typeface="微软雅黑" panose="020B0503020204020204" pitchFamily="34" charset="-122"/>
              <a:ea typeface="微软雅黑" panose="020B0503020204020204" pitchFamily="34" charset="-122"/>
            </a:endParaRPr>
          </a:p>
        </p:txBody>
      </p:sp>
      <p:sp>
        <p:nvSpPr>
          <p:cNvPr id="93" name="矩形 92">
            <a:extLst>
              <a:ext uri="{FF2B5EF4-FFF2-40B4-BE49-F238E27FC236}">
                <a16:creationId xmlns:a16="http://schemas.microsoft.com/office/drawing/2014/main" id="{B3CED111-B00E-4E72-88AE-F282CEA18985}"/>
              </a:ext>
            </a:extLst>
          </p:cNvPr>
          <p:cNvSpPr/>
          <p:nvPr/>
        </p:nvSpPr>
        <p:spPr bwMode="auto">
          <a:xfrm>
            <a:off x="2572457" y="3856773"/>
            <a:ext cx="6055677" cy="2803077"/>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p14:dur="0" advTm="11290"/>
    </mc:Choice>
    <mc:Fallback xmlns="">
      <p:transition advTm="1129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69642" name="标题 1"/>
          <p:cNvSpPr txBox="1"/>
          <p:nvPr/>
        </p:nvSpPr>
        <p:spPr>
          <a:xfrm>
            <a:off x="2620963" y="242888"/>
            <a:ext cx="9677400"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a:latin typeface="微软雅黑" panose="020B0503020204020204" pitchFamily="34" charset="-122"/>
                <a:ea typeface="微软雅黑" panose="020B0503020204020204" pitchFamily="34" charset="-122"/>
              </a:rPr>
              <a:t>3.2</a:t>
            </a:r>
            <a:r>
              <a:rPr lang="zh-CN" altLang="en-US" sz="3200" b="1" dirty="0" smtClean="0">
                <a:latin typeface="微软雅黑" panose="020B0503020204020204" pitchFamily="34" charset="-122"/>
                <a:ea typeface="微软雅黑" panose="020B0503020204020204" pitchFamily="34" charset="-122"/>
              </a:rPr>
              <a:t>：</a:t>
            </a:r>
            <a:r>
              <a:rPr lang="zh-CN" altLang="en-US" sz="3200" b="1" kern="100" dirty="0">
                <a:latin typeface="微软雅黑" panose="020B0503020204020204" pitchFamily="34" charset="-122"/>
                <a:ea typeface="微软雅黑" panose="020B0503020204020204" pitchFamily="34" charset="-122"/>
                <a:cs typeface="Times New Roman" panose="02020603050405020304" pitchFamily="18" charset="0"/>
              </a:rPr>
              <a:t>考虑聚合商交互的</a:t>
            </a:r>
            <a:r>
              <a:rPr lang="en-US" altLang="zh-CN" sz="3200" b="1" kern="100" dirty="0">
                <a:latin typeface="微软雅黑" panose="020B0503020204020204" pitchFamily="34" charset="-122"/>
                <a:ea typeface="微软雅黑" panose="020B0503020204020204" pitchFamily="34" charset="-122"/>
                <a:cs typeface="Times New Roman" panose="02020603050405020304" pitchFamily="18" charset="0"/>
              </a:rPr>
              <a:t>MECPS</a:t>
            </a:r>
            <a:r>
              <a:rPr lang="zh-CN" altLang="en-US" sz="3200" b="1" kern="100" dirty="0">
                <a:latin typeface="微软雅黑" panose="020B0503020204020204" pitchFamily="34" charset="-122"/>
                <a:ea typeface="微软雅黑" panose="020B0503020204020204" pitchFamily="34" charset="-122"/>
                <a:cs typeface="Times New Roman" panose="02020603050405020304" pitchFamily="18" charset="0"/>
              </a:rPr>
              <a:t>经济调度</a:t>
            </a: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69645"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6" name="矩形 25"/>
          <p:cNvSpPr/>
          <p:nvPr/>
        </p:nvSpPr>
        <p:spPr>
          <a:xfrm>
            <a:off x="1757966" y="1087368"/>
            <a:ext cx="5076220" cy="216383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 name="对象 27"/>
          <p:cNvGraphicFramePr>
            <a:graphicFrameLocks noChangeAspect="1"/>
          </p:cNvGraphicFramePr>
          <p:nvPr>
            <p:extLst>
              <p:ext uri="{D42A27DB-BD31-4B8C-83A1-F6EECF244321}">
                <p14:modId xmlns:p14="http://schemas.microsoft.com/office/powerpoint/2010/main" val="2010261351"/>
              </p:ext>
            </p:extLst>
          </p:nvPr>
        </p:nvGraphicFramePr>
        <p:xfrm>
          <a:off x="2764336" y="1595467"/>
          <a:ext cx="2831150" cy="660471"/>
        </p:xfrm>
        <a:graphic>
          <a:graphicData uri="http://schemas.openxmlformats.org/presentationml/2006/ole">
            <mc:AlternateContent xmlns:mc="http://schemas.openxmlformats.org/markup-compatibility/2006">
              <mc:Choice xmlns:v="urn:schemas-microsoft-com:vml" Requires="v">
                <p:oleObj spid="_x0000_s16741" name="Equation" r:id="rId5" imgW="2280417" imgH="532600" progId="Equation.DSMT4">
                  <p:embed/>
                </p:oleObj>
              </mc:Choice>
              <mc:Fallback>
                <p:oleObj name="Equation" r:id="rId5" imgW="2280417" imgH="532600" progId="Equation.DSMT4">
                  <p:embed/>
                  <p:pic>
                    <p:nvPicPr>
                      <p:cNvPr id="3" name="对象 2"/>
                      <p:cNvPicPr/>
                      <p:nvPr/>
                    </p:nvPicPr>
                    <p:blipFill>
                      <a:blip r:embed="rId6"/>
                      <a:stretch>
                        <a:fillRect/>
                      </a:stretch>
                    </p:blipFill>
                    <p:spPr>
                      <a:xfrm>
                        <a:off x="2764336" y="1595467"/>
                        <a:ext cx="2831150" cy="660471"/>
                      </a:xfrm>
                      <a:prstGeom prst="rect">
                        <a:avLst/>
                      </a:prstGeom>
                    </p:spPr>
                  </p:pic>
                </p:oleObj>
              </mc:Fallback>
            </mc:AlternateContent>
          </a:graphicData>
        </a:graphic>
      </p:graphicFrame>
      <p:sp>
        <p:nvSpPr>
          <p:cNvPr id="30" name="矩形 29"/>
          <p:cNvSpPr/>
          <p:nvPr/>
        </p:nvSpPr>
        <p:spPr>
          <a:xfrm>
            <a:off x="1896771" y="2109728"/>
            <a:ext cx="4947285" cy="1220847"/>
          </a:xfrm>
          <a:prstGeom prst="rect">
            <a:avLst/>
          </a:prstGeom>
        </p:spPr>
        <p:txBody>
          <a:bodyPr wrap="square">
            <a:spAutoFit/>
          </a:bodyPr>
          <a:lstStyle/>
          <a:p>
            <a:pPr marL="342900" indent="-342900" algn="just">
              <a:lnSpc>
                <a:spcPts val="2200"/>
              </a:lnSpc>
              <a:spcAft>
                <a:spcPts val="0"/>
              </a:spcAft>
              <a:buAutoNum type="arabicParenBoth"/>
            </a:pPr>
            <a:r>
              <a:rPr lang="en-US" altLang="zh-CN" sz="1400" dirty="0" smtClean="0"/>
              <a:t> </a:t>
            </a:r>
            <a:r>
              <a:rPr lang="zh-CN" altLang="zh-CN" sz="1400" dirty="0" smtClean="0"/>
              <a:t>参与者</a:t>
            </a:r>
            <a:r>
              <a:rPr lang="zh-CN" altLang="zh-CN" sz="1400" dirty="0"/>
              <a:t>：运营商、聚合</a:t>
            </a:r>
            <a:r>
              <a:rPr lang="zh-CN" altLang="zh-CN" sz="1400" dirty="0" smtClean="0"/>
              <a:t>商</a:t>
            </a:r>
            <a:endParaRPr lang="en-US" altLang="zh-CN" sz="1400" dirty="0" smtClean="0"/>
          </a:p>
          <a:p>
            <a:pPr algn="just">
              <a:lnSpc>
                <a:spcPts val="2200"/>
              </a:lnSpc>
              <a:spcAft>
                <a:spcPts val="0"/>
              </a:spcAft>
            </a:pPr>
            <a:r>
              <a:rPr lang="en-US" altLang="zh-CN" sz="1400" dirty="0" smtClean="0"/>
              <a:t>(</a:t>
            </a:r>
            <a:r>
              <a:rPr lang="en-US" altLang="zh-CN" sz="1400" dirty="0"/>
              <a:t>2) </a:t>
            </a:r>
            <a:r>
              <a:rPr lang="zh-CN" altLang="zh-CN" sz="1400" dirty="0"/>
              <a:t>博弈策略：运营商的策略为电、热定价；聚合商的策略为电、热负荷调整</a:t>
            </a:r>
            <a:r>
              <a:rPr lang="zh-CN" altLang="zh-CN" sz="1400" dirty="0" smtClean="0"/>
              <a:t>。</a:t>
            </a:r>
            <a:endParaRPr lang="en-US" altLang="zh-CN" sz="1400" dirty="0" smtClean="0"/>
          </a:p>
          <a:p>
            <a:pPr algn="just">
              <a:lnSpc>
                <a:spcPts val="2200"/>
              </a:lnSpc>
              <a:spcAft>
                <a:spcPts val="0"/>
              </a:spcAft>
            </a:pPr>
            <a:r>
              <a:rPr lang="en-US" altLang="zh-CN" sz="1400" dirty="0" smtClean="0"/>
              <a:t>(</a:t>
            </a:r>
            <a:r>
              <a:rPr lang="en-US" altLang="zh-CN" sz="1400" dirty="0"/>
              <a:t>3) </a:t>
            </a:r>
            <a:r>
              <a:rPr lang="zh-CN" altLang="zh-CN" sz="1400" dirty="0" smtClean="0"/>
              <a:t>博弈</a:t>
            </a:r>
            <a:r>
              <a:rPr lang="zh-CN" altLang="zh-CN" sz="1400" dirty="0"/>
              <a:t>目标：运营商收益函数；聚合商成本函数</a:t>
            </a:r>
          </a:p>
        </p:txBody>
      </p:sp>
      <p:sp>
        <p:nvSpPr>
          <p:cNvPr id="31" name="矩形 30"/>
          <p:cNvSpPr/>
          <p:nvPr/>
        </p:nvSpPr>
        <p:spPr>
          <a:xfrm>
            <a:off x="7032085" y="1840841"/>
            <a:ext cx="4964110" cy="4338367"/>
          </a:xfrm>
          <a:prstGeom prst="rect">
            <a:avLst/>
          </a:prstGeom>
        </p:spPr>
        <p:txBody>
          <a:bodyPr wrap="square">
            <a:spAutoFit/>
          </a:bodyPr>
          <a:lstStyle/>
          <a:p>
            <a:pPr algn="just">
              <a:lnSpc>
                <a:spcPct val="110000"/>
              </a:lnSpc>
              <a:spcAft>
                <a:spcPts val="0"/>
              </a:spcAft>
            </a:pPr>
            <a:r>
              <a:rPr lang="zh-CN" altLang="zh-CN" dirty="0" smtClean="0">
                <a:latin typeface="Times New Roman" panose="02020603050405020304" pitchFamily="18" charset="0"/>
                <a:cs typeface="Times New Roman" panose="02020603050405020304" pitchFamily="18" charset="0"/>
              </a:rPr>
              <a:t>步骤</a:t>
            </a:r>
            <a:r>
              <a:rPr lang="en-US" altLang="zh-CN" dirty="0">
                <a:cs typeface="Times New Roman" panose="02020603050405020304" pitchFamily="18" charset="0"/>
              </a:rPr>
              <a:t>1</a:t>
            </a:r>
            <a:r>
              <a:rPr lang="zh-CN" altLang="zh-CN" dirty="0">
                <a:cs typeface="Times New Roman" panose="02020603050405020304" pitchFamily="18" charset="0"/>
              </a:rPr>
              <a:t>：初始化运营商和聚合商的参数；</a:t>
            </a:r>
          </a:p>
          <a:p>
            <a:pPr algn="just">
              <a:lnSpc>
                <a:spcPct val="110000"/>
              </a:lnSpc>
              <a:spcAft>
                <a:spcPts val="0"/>
              </a:spcAft>
            </a:pPr>
            <a:r>
              <a:rPr lang="zh-CN" altLang="zh-CN" dirty="0">
                <a:cs typeface="Times New Roman" panose="02020603050405020304" pitchFamily="18" charset="0"/>
              </a:rPr>
              <a:t>步骤</a:t>
            </a:r>
            <a:r>
              <a:rPr lang="en-US" altLang="zh-CN" dirty="0">
                <a:cs typeface="Times New Roman" panose="02020603050405020304" pitchFamily="18" charset="0"/>
              </a:rPr>
              <a:t>2</a:t>
            </a:r>
            <a:r>
              <a:rPr lang="zh-CN" altLang="zh-CN" dirty="0">
                <a:cs typeface="Times New Roman" panose="02020603050405020304" pitchFamily="18" charset="0"/>
              </a:rPr>
              <a:t>：随机生成运营商定价，下传至聚合商；</a:t>
            </a:r>
          </a:p>
          <a:p>
            <a:pPr algn="just">
              <a:lnSpc>
                <a:spcPct val="110000"/>
              </a:lnSpc>
              <a:spcAft>
                <a:spcPts val="0"/>
              </a:spcAft>
            </a:pPr>
            <a:r>
              <a:rPr lang="zh-CN" altLang="zh-CN" dirty="0">
                <a:cs typeface="Times New Roman" panose="02020603050405020304" pitchFamily="18" charset="0"/>
              </a:rPr>
              <a:t>步骤</a:t>
            </a:r>
            <a:r>
              <a:rPr lang="en-US" altLang="zh-CN" dirty="0">
                <a:cs typeface="Times New Roman" panose="02020603050405020304" pitchFamily="18" charset="0"/>
              </a:rPr>
              <a:t>3</a:t>
            </a:r>
            <a:r>
              <a:rPr lang="zh-CN" altLang="zh-CN" dirty="0">
                <a:cs typeface="Times New Roman" panose="02020603050405020304" pitchFamily="18" charset="0"/>
              </a:rPr>
              <a:t>：</a:t>
            </a:r>
            <a:r>
              <a:rPr lang="en-US" altLang="zh-CN" dirty="0">
                <a:cs typeface="Times New Roman" panose="02020603050405020304" pitchFamily="18" charset="0"/>
              </a:rPr>
              <a:t>k=k+1</a:t>
            </a:r>
            <a:r>
              <a:rPr lang="zh-CN" altLang="zh-CN" dirty="0">
                <a:cs typeface="Times New Roman" panose="02020603050405020304" pitchFamily="18" charset="0"/>
              </a:rPr>
              <a:t>；</a:t>
            </a:r>
          </a:p>
          <a:p>
            <a:pPr algn="just">
              <a:lnSpc>
                <a:spcPct val="110000"/>
              </a:lnSpc>
              <a:spcAft>
                <a:spcPts val="0"/>
              </a:spcAft>
            </a:pPr>
            <a:r>
              <a:rPr lang="zh-CN" altLang="zh-CN" dirty="0">
                <a:cs typeface="Times New Roman" panose="02020603050405020304" pitchFamily="18" charset="0"/>
              </a:rPr>
              <a:t>步骤</a:t>
            </a:r>
            <a:r>
              <a:rPr lang="en-US" altLang="zh-CN" dirty="0">
                <a:cs typeface="Times New Roman" panose="02020603050405020304" pitchFamily="18" charset="0"/>
              </a:rPr>
              <a:t>4</a:t>
            </a:r>
            <a:r>
              <a:rPr lang="zh-CN" altLang="zh-CN" dirty="0">
                <a:cs typeface="Times New Roman" panose="02020603050405020304" pitchFamily="18" charset="0"/>
              </a:rPr>
              <a:t>：聚合商接收定价，利用求解电、热负荷变化量，计算当前成本，并上传交易量；</a:t>
            </a:r>
          </a:p>
          <a:p>
            <a:pPr algn="just">
              <a:lnSpc>
                <a:spcPct val="110000"/>
              </a:lnSpc>
              <a:spcAft>
                <a:spcPts val="0"/>
              </a:spcAft>
            </a:pPr>
            <a:r>
              <a:rPr lang="zh-CN" altLang="zh-CN" dirty="0">
                <a:cs typeface="Times New Roman" panose="02020603050405020304" pitchFamily="18" charset="0"/>
              </a:rPr>
              <a:t>步骤</a:t>
            </a:r>
            <a:r>
              <a:rPr lang="en-US" altLang="zh-CN" dirty="0">
                <a:cs typeface="Times New Roman" panose="02020603050405020304" pitchFamily="18" charset="0"/>
              </a:rPr>
              <a:t>5</a:t>
            </a:r>
            <a:r>
              <a:rPr lang="zh-CN" altLang="zh-CN" dirty="0">
                <a:cs typeface="Times New Roman" panose="02020603050405020304" pitchFamily="18" charset="0"/>
              </a:rPr>
              <a:t>：运营商根据上传量计算当前收益；</a:t>
            </a:r>
          </a:p>
          <a:p>
            <a:pPr algn="just">
              <a:lnSpc>
                <a:spcPct val="110000"/>
              </a:lnSpc>
              <a:spcAft>
                <a:spcPts val="0"/>
              </a:spcAft>
            </a:pPr>
            <a:r>
              <a:rPr lang="zh-CN" altLang="zh-CN" dirty="0">
                <a:cs typeface="Times New Roman" panose="02020603050405020304" pitchFamily="18" charset="0"/>
              </a:rPr>
              <a:t>步骤</a:t>
            </a:r>
            <a:r>
              <a:rPr lang="en-US" altLang="zh-CN" dirty="0">
                <a:cs typeface="Times New Roman" panose="02020603050405020304" pitchFamily="18" charset="0"/>
              </a:rPr>
              <a:t>6</a:t>
            </a:r>
            <a:r>
              <a:rPr lang="zh-CN" altLang="zh-CN" dirty="0">
                <a:cs typeface="Times New Roman" panose="02020603050405020304" pitchFamily="18" charset="0"/>
              </a:rPr>
              <a:t>：通过变异、交叉、选择生成新的电、热定价，重复步骤</a:t>
            </a:r>
            <a:r>
              <a:rPr lang="en-US" altLang="zh-CN" dirty="0">
                <a:cs typeface="Times New Roman" panose="02020603050405020304" pitchFamily="18" charset="0"/>
              </a:rPr>
              <a:t>4</a:t>
            </a:r>
            <a:r>
              <a:rPr lang="zh-CN" altLang="zh-CN" dirty="0">
                <a:cs typeface="Times New Roman" panose="02020603050405020304" pitchFamily="18" charset="0"/>
              </a:rPr>
              <a:t>到步骤</a:t>
            </a:r>
            <a:r>
              <a:rPr lang="en-US" altLang="zh-CN" dirty="0">
                <a:cs typeface="Times New Roman" panose="02020603050405020304" pitchFamily="18" charset="0"/>
              </a:rPr>
              <a:t>5</a:t>
            </a:r>
            <a:r>
              <a:rPr lang="zh-CN" altLang="zh-CN" dirty="0">
                <a:cs typeface="Times New Roman" panose="02020603050405020304" pitchFamily="18" charset="0"/>
              </a:rPr>
              <a:t>，重新计算运营商收益与聚合商成本。</a:t>
            </a:r>
          </a:p>
          <a:p>
            <a:pPr algn="just">
              <a:lnSpc>
                <a:spcPct val="110000"/>
              </a:lnSpc>
              <a:spcAft>
                <a:spcPts val="0"/>
              </a:spcAft>
            </a:pPr>
            <a:r>
              <a:rPr lang="zh-CN" altLang="zh-CN" dirty="0">
                <a:cs typeface="Times New Roman" panose="02020603050405020304" pitchFamily="18" charset="0"/>
              </a:rPr>
              <a:t>步骤</a:t>
            </a:r>
            <a:r>
              <a:rPr lang="en-US" altLang="zh-CN" dirty="0">
                <a:cs typeface="Times New Roman" panose="02020603050405020304" pitchFamily="18" charset="0"/>
              </a:rPr>
              <a:t>7</a:t>
            </a:r>
            <a:r>
              <a:rPr lang="zh-CN" altLang="zh-CN" dirty="0">
                <a:cs typeface="Times New Roman" panose="02020603050405020304" pitchFamily="18" charset="0"/>
              </a:rPr>
              <a:t>：取程序执行过程中运营商最优收益和聚合商的最优成本</a:t>
            </a:r>
          </a:p>
          <a:p>
            <a:pPr algn="just">
              <a:lnSpc>
                <a:spcPct val="110000"/>
              </a:lnSpc>
              <a:spcAft>
                <a:spcPts val="0"/>
              </a:spcAft>
            </a:pPr>
            <a:r>
              <a:rPr lang="zh-CN" altLang="zh-CN" dirty="0">
                <a:cs typeface="Times New Roman" panose="02020603050405020304" pitchFamily="18" charset="0"/>
              </a:rPr>
              <a:t>步骤</a:t>
            </a:r>
            <a:r>
              <a:rPr lang="en-US" altLang="zh-CN" dirty="0">
                <a:cs typeface="Times New Roman" panose="02020603050405020304" pitchFamily="18" charset="0"/>
              </a:rPr>
              <a:t>8</a:t>
            </a:r>
            <a:r>
              <a:rPr lang="zh-CN" altLang="zh-CN" dirty="0">
                <a:latin typeface="Times New Roman" panose="02020603050405020304" pitchFamily="18" charset="0"/>
                <a:cs typeface="Times New Roman" panose="02020603050405020304" pitchFamily="18" charset="0"/>
              </a:rPr>
              <a:t>：若程序执行过程中，运营商收益差的绝对值与聚合商成本差的绝对值均小于设定值，程序结束，否则执行步骤</a:t>
            </a:r>
            <a:r>
              <a:rPr lang="en-US" altLang="zh-CN" dirty="0">
                <a:cs typeface="Times New Roman" panose="02020603050405020304" pitchFamily="18" charset="0"/>
              </a:rPr>
              <a:t>3</a:t>
            </a:r>
            <a:r>
              <a:rPr lang="zh-CN" altLang="zh-CN" sz="1400" dirty="0">
                <a:latin typeface="Times New Roman" panose="02020603050405020304" pitchFamily="18" charset="0"/>
                <a:cs typeface="Times New Roman" panose="02020603050405020304" pitchFamily="18" charset="0"/>
              </a:rPr>
              <a:t>。</a:t>
            </a:r>
          </a:p>
        </p:txBody>
      </p:sp>
      <p:sp>
        <p:nvSpPr>
          <p:cNvPr id="34" name="圆角矩形 33"/>
          <p:cNvSpPr/>
          <p:nvPr/>
        </p:nvSpPr>
        <p:spPr>
          <a:xfrm>
            <a:off x="2904836" y="1144885"/>
            <a:ext cx="2690650"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运营商</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聚合商交互过程</a:t>
            </a:r>
            <a:endParaRPr lang="zh-CN" altLang="en-US" dirty="0">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7"/>
          <a:stretch>
            <a:fillRect/>
          </a:stretch>
        </p:blipFill>
        <p:spPr>
          <a:xfrm>
            <a:off x="1834612" y="5114073"/>
            <a:ext cx="4999574" cy="1789707"/>
          </a:xfrm>
          <a:prstGeom prst="rect">
            <a:avLst/>
          </a:prstGeom>
        </p:spPr>
      </p:pic>
      <p:pic>
        <p:nvPicPr>
          <p:cNvPr id="36" name="图片 35"/>
          <p:cNvPicPr>
            <a:picLocks noChangeAspect="1"/>
          </p:cNvPicPr>
          <p:nvPr/>
        </p:nvPicPr>
        <p:blipFill>
          <a:blip r:embed="rId8"/>
          <a:stretch>
            <a:fillRect/>
          </a:stretch>
        </p:blipFill>
        <p:spPr>
          <a:xfrm>
            <a:off x="1924396" y="3263903"/>
            <a:ext cx="4909790" cy="1850170"/>
          </a:xfrm>
          <a:prstGeom prst="rect">
            <a:avLst/>
          </a:prstGeom>
        </p:spPr>
      </p:pic>
      <p:sp>
        <p:nvSpPr>
          <p:cNvPr id="24" name="矩形 23"/>
          <p:cNvSpPr/>
          <p:nvPr/>
        </p:nvSpPr>
        <p:spPr>
          <a:xfrm>
            <a:off x="6935407" y="1638234"/>
            <a:ext cx="5076220" cy="454097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2804"/>
    </mc:Choice>
    <mc:Fallback xmlns="">
      <p:transition advTm="32804"/>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67594" name="标题 1"/>
          <p:cNvSpPr txBox="1"/>
          <p:nvPr/>
        </p:nvSpPr>
        <p:spPr>
          <a:xfrm>
            <a:off x="2620963" y="242888"/>
            <a:ext cx="9677400"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a:latin typeface="微软雅黑" panose="020B0503020204020204" pitchFamily="34" charset="-122"/>
                <a:ea typeface="微软雅黑" panose="020B0503020204020204" pitchFamily="34" charset="-122"/>
              </a:rPr>
              <a:t>3.2</a:t>
            </a:r>
            <a:r>
              <a:rPr lang="zh-CN" altLang="en-US" sz="3200" b="1" dirty="0" smtClean="0">
                <a:latin typeface="微软雅黑" panose="020B0503020204020204" pitchFamily="34" charset="-122"/>
                <a:ea typeface="微软雅黑" panose="020B0503020204020204" pitchFamily="34" charset="-122"/>
              </a:rPr>
              <a:t>：</a:t>
            </a:r>
            <a:r>
              <a:rPr lang="zh-CN" altLang="en-US" sz="3200" b="1" kern="100" dirty="0">
                <a:latin typeface="微软雅黑" panose="020B0503020204020204" pitchFamily="34" charset="-122"/>
                <a:ea typeface="微软雅黑" panose="020B0503020204020204" pitchFamily="34" charset="-122"/>
                <a:cs typeface="Times New Roman" panose="02020603050405020304" pitchFamily="18" charset="0"/>
              </a:rPr>
              <a:t>考虑聚合商交互</a:t>
            </a:r>
            <a:r>
              <a:rPr lang="zh-CN" altLang="en-US" sz="3200" b="1" kern="100" dirty="0" smtClean="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3200" b="1" kern="100" dirty="0" smtClean="0">
                <a:latin typeface="微软雅黑" panose="020B0503020204020204" pitchFamily="34" charset="-122"/>
                <a:ea typeface="微软雅黑" panose="020B0503020204020204" pitchFamily="34" charset="-122"/>
                <a:cs typeface="Times New Roman" panose="02020603050405020304" pitchFamily="18" charset="0"/>
              </a:rPr>
              <a:t>MECPS</a:t>
            </a:r>
            <a:r>
              <a:rPr lang="zh-CN" altLang="en-US" sz="3200" b="1" kern="100" dirty="0" smtClean="0">
                <a:latin typeface="微软雅黑" panose="020B0503020204020204" pitchFamily="34" charset="-122"/>
                <a:ea typeface="微软雅黑" panose="020B0503020204020204" pitchFamily="34" charset="-122"/>
                <a:cs typeface="Times New Roman" panose="02020603050405020304" pitchFamily="18" charset="0"/>
              </a:rPr>
              <a:t>经济</a:t>
            </a:r>
            <a:r>
              <a:rPr lang="zh-CN" altLang="en-US" sz="3200" b="1" kern="100" dirty="0">
                <a:latin typeface="微软雅黑" panose="020B0503020204020204" pitchFamily="34" charset="-122"/>
                <a:ea typeface="微软雅黑" panose="020B0503020204020204" pitchFamily="34" charset="-122"/>
                <a:cs typeface="Times New Roman" panose="02020603050405020304" pitchFamily="18" charset="0"/>
              </a:rPr>
              <a:t>调度</a:t>
            </a: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67597"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pic>
        <p:nvPicPr>
          <p:cNvPr id="25" name="图片 24"/>
          <p:cNvPicPr>
            <a:picLocks noChangeAspect="1"/>
          </p:cNvPicPr>
          <p:nvPr/>
        </p:nvPicPr>
        <p:blipFill>
          <a:blip r:embed="rId5"/>
          <a:stretch>
            <a:fillRect/>
          </a:stretch>
        </p:blipFill>
        <p:spPr>
          <a:xfrm>
            <a:off x="6259833" y="1188363"/>
            <a:ext cx="5932167" cy="1677624"/>
          </a:xfrm>
          <a:prstGeom prst="rect">
            <a:avLst/>
          </a:prstGeom>
        </p:spPr>
      </p:pic>
      <p:sp>
        <p:nvSpPr>
          <p:cNvPr id="5" name="矩形 4"/>
          <p:cNvSpPr/>
          <p:nvPr/>
        </p:nvSpPr>
        <p:spPr>
          <a:xfrm>
            <a:off x="7320767" y="2869049"/>
            <a:ext cx="3416320"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改进分布式双一致算法运算过程</a:t>
            </a:r>
            <a:endParaRPr lang="zh-CN" altLang="en-US" dirty="0">
              <a:latin typeface="微软雅黑" panose="020B0503020204020204" pitchFamily="34" charset="-122"/>
              <a:ea typeface="微软雅黑" panose="020B0503020204020204" pitchFamily="34" charset="-122"/>
            </a:endParaRPr>
          </a:p>
        </p:txBody>
      </p:sp>
      <p:sp>
        <p:nvSpPr>
          <p:cNvPr id="27" name="矩形 26"/>
          <p:cNvSpPr/>
          <p:nvPr/>
        </p:nvSpPr>
        <p:spPr>
          <a:xfrm>
            <a:off x="6328389" y="3238381"/>
            <a:ext cx="5651408" cy="3341807"/>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795463" y="976692"/>
            <a:ext cx="4345307" cy="5603496"/>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2509838" y="1088073"/>
            <a:ext cx="2690650"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系统经济调度模型</a:t>
            </a:r>
            <a:endParaRPr lang="zh-CN" altLang="en-US" dirty="0">
              <a:latin typeface="微软雅黑" panose="020B0503020204020204" pitchFamily="34" charset="-122"/>
              <a:ea typeface="微软雅黑" panose="020B0503020204020204" pitchFamily="34" charset="-122"/>
            </a:endParaRPr>
          </a:p>
        </p:txBody>
      </p:sp>
      <p:sp>
        <p:nvSpPr>
          <p:cNvPr id="30" name="矩形 29"/>
          <p:cNvSpPr/>
          <p:nvPr/>
        </p:nvSpPr>
        <p:spPr>
          <a:xfrm>
            <a:off x="1836133" y="1712122"/>
            <a:ext cx="1569660"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系统目标函数</a:t>
            </a:r>
            <a:endParaRPr lang="zh-CN" altLang="en-US" dirty="0">
              <a:latin typeface="微软雅黑" panose="020B0503020204020204" pitchFamily="34" charset="-122"/>
              <a:ea typeface="微软雅黑" panose="020B0503020204020204" pitchFamily="34"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868322356"/>
              </p:ext>
            </p:extLst>
          </p:nvPr>
        </p:nvGraphicFramePr>
        <p:xfrm>
          <a:off x="1846583" y="2132633"/>
          <a:ext cx="4294187" cy="373063"/>
        </p:xfrm>
        <a:graphic>
          <a:graphicData uri="http://schemas.openxmlformats.org/presentationml/2006/ole">
            <mc:AlternateContent xmlns:mc="http://schemas.openxmlformats.org/markup-compatibility/2006">
              <mc:Choice xmlns:v="urn:schemas-microsoft-com:vml" Requires="v">
                <p:oleObj spid="_x0000_s16018" name="Equation" r:id="rId6" imgW="4294760" imgH="373693" progId="Equation.DSMT4">
                  <p:embed/>
                </p:oleObj>
              </mc:Choice>
              <mc:Fallback>
                <p:oleObj name="Equation" r:id="rId6" imgW="4294760" imgH="373693" progId="Equation.DSMT4">
                  <p:embed/>
                  <p:pic>
                    <p:nvPicPr>
                      <p:cNvPr id="0" name=""/>
                      <p:cNvPicPr/>
                      <p:nvPr/>
                    </p:nvPicPr>
                    <p:blipFill>
                      <a:blip r:embed="rId7"/>
                      <a:stretch>
                        <a:fillRect/>
                      </a:stretch>
                    </p:blipFill>
                    <p:spPr>
                      <a:xfrm>
                        <a:off x="1846583" y="2132633"/>
                        <a:ext cx="4294187" cy="373063"/>
                      </a:xfrm>
                      <a:prstGeom prst="rect">
                        <a:avLst/>
                      </a:prstGeom>
                    </p:spPr>
                  </p:pic>
                </p:oleObj>
              </mc:Fallback>
            </mc:AlternateContent>
          </a:graphicData>
        </a:graphic>
      </p:graphicFrame>
      <p:sp>
        <p:nvSpPr>
          <p:cNvPr id="33" name="矩形 32"/>
          <p:cNvSpPr/>
          <p:nvPr/>
        </p:nvSpPr>
        <p:spPr>
          <a:xfrm>
            <a:off x="1870075" y="2603500"/>
            <a:ext cx="1107996" cy="369332"/>
          </a:xfrm>
          <a:prstGeom prst="rect">
            <a:avLst/>
          </a:prstGeom>
        </p:spPr>
        <p:txBody>
          <a:bodyPr wrap="none">
            <a:spAutoFit/>
          </a:bodyPr>
          <a:lstStyle/>
          <a:p>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机组约束</a:t>
            </a:r>
            <a:endParaRPr lang="zh-CN" altLang="en-US" dirty="0">
              <a:latin typeface="微软雅黑" panose="020B0503020204020204" pitchFamily="34" charset="-122"/>
              <a:ea typeface="微软雅黑" panose="020B0503020204020204" pitchFamily="34" charset="-122"/>
            </a:endParaRPr>
          </a:p>
        </p:txBody>
      </p:sp>
      <p:graphicFrame>
        <p:nvGraphicFramePr>
          <p:cNvPr id="34" name="对象 33"/>
          <p:cNvGraphicFramePr>
            <a:graphicFrameLocks noChangeAspect="1"/>
          </p:cNvGraphicFramePr>
          <p:nvPr>
            <p:extLst>
              <p:ext uri="{D42A27DB-BD31-4B8C-83A1-F6EECF244321}">
                <p14:modId xmlns:p14="http://schemas.microsoft.com/office/powerpoint/2010/main" val="1348740513"/>
              </p:ext>
            </p:extLst>
          </p:nvPr>
        </p:nvGraphicFramePr>
        <p:xfrm>
          <a:off x="2620963" y="2978582"/>
          <a:ext cx="2588536" cy="428179"/>
        </p:xfrm>
        <a:graphic>
          <a:graphicData uri="http://schemas.openxmlformats.org/presentationml/2006/ole">
            <mc:AlternateContent xmlns:mc="http://schemas.openxmlformats.org/markup-compatibility/2006">
              <mc:Choice xmlns:v="urn:schemas-microsoft-com:vml" Requires="v">
                <p:oleObj spid="_x0000_s16019" name="Equation" r:id="rId8" imgW="1900467" imgH="313738" progId="Equation.DSMT4">
                  <p:embed/>
                </p:oleObj>
              </mc:Choice>
              <mc:Fallback>
                <p:oleObj name="Equation" r:id="rId8" imgW="1900467" imgH="313738" progId="Equation.DSMT4">
                  <p:embed/>
                  <p:pic>
                    <p:nvPicPr>
                      <p:cNvPr id="30" name="对象 29"/>
                      <p:cNvPicPr/>
                      <p:nvPr/>
                    </p:nvPicPr>
                    <p:blipFill>
                      <a:blip r:embed="rId9"/>
                      <a:stretch>
                        <a:fillRect/>
                      </a:stretch>
                    </p:blipFill>
                    <p:spPr>
                      <a:xfrm>
                        <a:off x="2620963" y="2978582"/>
                        <a:ext cx="2588536" cy="428179"/>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1790274754"/>
              </p:ext>
            </p:extLst>
          </p:nvPr>
        </p:nvGraphicFramePr>
        <p:xfrm>
          <a:off x="2533330" y="3414499"/>
          <a:ext cx="2833932" cy="459556"/>
        </p:xfrm>
        <a:graphic>
          <a:graphicData uri="http://schemas.openxmlformats.org/presentationml/2006/ole">
            <mc:AlternateContent xmlns:mc="http://schemas.openxmlformats.org/markup-compatibility/2006">
              <mc:Choice xmlns:v="urn:schemas-microsoft-com:vml" Requires="v">
                <p:oleObj spid="_x0000_s16020" name="Equation" r:id="rId10" imgW="1938534" imgH="313738" progId="Equation.DSMT4">
                  <p:embed/>
                </p:oleObj>
              </mc:Choice>
              <mc:Fallback>
                <p:oleObj name="Equation" r:id="rId10" imgW="1938534" imgH="313738" progId="Equation.DSMT4">
                  <p:embed/>
                  <p:pic>
                    <p:nvPicPr>
                      <p:cNvPr id="31" name="对象 30"/>
                      <p:cNvPicPr/>
                      <p:nvPr/>
                    </p:nvPicPr>
                    <p:blipFill>
                      <a:blip r:embed="rId11"/>
                      <a:stretch>
                        <a:fillRect/>
                      </a:stretch>
                    </p:blipFill>
                    <p:spPr>
                      <a:xfrm>
                        <a:off x="2533330" y="3414499"/>
                        <a:ext cx="2833932" cy="459556"/>
                      </a:xfrm>
                      <a:prstGeom prst="rect">
                        <a:avLst/>
                      </a:prstGeom>
                    </p:spPr>
                  </p:pic>
                </p:oleObj>
              </mc:Fallback>
            </mc:AlternateContent>
          </a:graphicData>
        </a:graphic>
      </p:graphicFrame>
      <p:sp>
        <p:nvSpPr>
          <p:cNvPr id="38" name="矩形 37"/>
          <p:cNvSpPr/>
          <p:nvPr/>
        </p:nvSpPr>
        <p:spPr>
          <a:xfrm>
            <a:off x="1813049" y="3881635"/>
            <a:ext cx="31854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使用拉格朗日乘子法表示为：</a:t>
            </a:r>
          </a:p>
        </p:txBody>
      </p:sp>
      <p:graphicFrame>
        <p:nvGraphicFramePr>
          <p:cNvPr id="39" name="对象 38"/>
          <p:cNvGraphicFramePr>
            <a:graphicFrameLocks noChangeAspect="1"/>
          </p:cNvGraphicFramePr>
          <p:nvPr>
            <p:extLst>
              <p:ext uri="{D42A27DB-BD31-4B8C-83A1-F6EECF244321}">
                <p14:modId xmlns:p14="http://schemas.microsoft.com/office/powerpoint/2010/main" val="318171840"/>
              </p:ext>
            </p:extLst>
          </p:nvPr>
        </p:nvGraphicFramePr>
        <p:xfrm>
          <a:off x="2858953" y="4251088"/>
          <a:ext cx="1992420" cy="366787"/>
        </p:xfrm>
        <a:graphic>
          <a:graphicData uri="http://schemas.openxmlformats.org/presentationml/2006/ole">
            <mc:AlternateContent xmlns:mc="http://schemas.openxmlformats.org/markup-compatibility/2006">
              <mc:Choice xmlns:v="urn:schemas-microsoft-com:vml" Requires="v">
                <p:oleObj spid="_x0000_s16021" name="Equation" r:id="rId12" imgW="1396621" imgH="256597" progId="Equation.DSMT4">
                  <p:embed/>
                </p:oleObj>
              </mc:Choice>
              <mc:Fallback>
                <p:oleObj name="Equation" r:id="rId12" imgW="1396621" imgH="256597" progId="Equation.DSMT4">
                  <p:embed/>
                  <p:pic>
                    <p:nvPicPr>
                      <p:cNvPr id="34" name="对象 33"/>
                      <p:cNvPicPr/>
                      <p:nvPr/>
                    </p:nvPicPr>
                    <p:blipFill>
                      <a:blip r:embed="rId13"/>
                      <a:stretch>
                        <a:fillRect/>
                      </a:stretch>
                    </p:blipFill>
                    <p:spPr>
                      <a:xfrm>
                        <a:off x="2858953" y="4251088"/>
                        <a:ext cx="1992420" cy="366787"/>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4105953441"/>
              </p:ext>
            </p:extLst>
          </p:nvPr>
        </p:nvGraphicFramePr>
        <p:xfrm>
          <a:off x="2397703" y="4553308"/>
          <a:ext cx="3105186" cy="987067"/>
        </p:xfrm>
        <a:graphic>
          <a:graphicData uri="http://schemas.openxmlformats.org/presentationml/2006/ole">
            <mc:AlternateContent xmlns:mc="http://schemas.openxmlformats.org/markup-compatibility/2006">
              <mc:Choice xmlns:v="urn:schemas-microsoft-com:vml" Requires="v">
                <p:oleObj spid="_x0000_s16022" name="Equation" r:id="rId14" imgW="2841005" imgH="903479" progId="Equation.DSMT4">
                  <p:embed/>
                </p:oleObj>
              </mc:Choice>
              <mc:Fallback>
                <p:oleObj name="Equation" r:id="rId14" imgW="2841005" imgH="903479" progId="Equation.DSMT4">
                  <p:embed/>
                  <p:pic>
                    <p:nvPicPr>
                      <p:cNvPr id="35" name="对象 34"/>
                      <p:cNvPicPr/>
                      <p:nvPr/>
                    </p:nvPicPr>
                    <p:blipFill>
                      <a:blip r:embed="rId15"/>
                      <a:stretch>
                        <a:fillRect/>
                      </a:stretch>
                    </p:blipFill>
                    <p:spPr>
                      <a:xfrm>
                        <a:off x="2397703" y="4553308"/>
                        <a:ext cx="3105186" cy="987067"/>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2234361271"/>
              </p:ext>
            </p:extLst>
          </p:nvPr>
        </p:nvGraphicFramePr>
        <p:xfrm>
          <a:off x="2448785" y="5607541"/>
          <a:ext cx="3089029" cy="962572"/>
        </p:xfrm>
        <a:graphic>
          <a:graphicData uri="http://schemas.openxmlformats.org/presentationml/2006/ole">
            <mc:AlternateContent xmlns:mc="http://schemas.openxmlformats.org/markup-compatibility/2006">
              <mc:Choice xmlns:v="urn:schemas-microsoft-com:vml" Requires="v">
                <p:oleObj spid="_x0000_s16023" name="Equation" r:id="rId16" imgW="2898105" imgH="903479" progId="Equation.DSMT4">
                  <p:embed/>
                </p:oleObj>
              </mc:Choice>
              <mc:Fallback>
                <p:oleObj name="Equation" r:id="rId16" imgW="2898105" imgH="903479" progId="Equation.DSMT4">
                  <p:embed/>
                  <p:pic>
                    <p:nvPicPr>
                      <p:cNvPr id="36" name="对象 35"/>
                      <p:cNvPicPr/>
                      <p:nvPr/>
                    </p:nvPicPr>
                    <p:blipFill>
                      <a:blip r:embed="rId17"/>
                      <a:stretch>
                        <a:fillRect/>
                      </a:stretch>
                    </p:blipFill>
                    <p:spPr>
                      <a:xfrm>
                        <a:off x="2448785" y="5607541"/>
                        <a:ext cx="3089029" cy="962572"/>
                      </a:xfrm>
                      <a:prstGeom prst="rect">
                        <a:avLst/>
                      </a:prstGeom>
                    </p:spPr>
                  </p:pic>
                </p:oleObj>
              </mc:Fallback>
            </mc:AlternateContent>
          </a:graphicData>
        </a:graphic>
      </p:graphicFrame>
      <p:sp>
        <p:nvSpPr>
          <p:cNvPr id="42" name="左大括号 41"/>
          <p:cNvSpPr/>
          <p:nvPr/>
        </p:nvSpPr>
        <p:spPr>
          <a:xfrm>
            <a:off x="2188751" y="5036820"/>
            <a:ext cx="140971" cy="110871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1765258" y="5193389"/>
            <a:ext cx="387147" cy="923330"/>
          </a:xfrm>
          <a:prstGeom prst="rect">
            <a:avLst/>
          </a:prstGeom>
        </p:spPr>
        <p:txBody>
          <a:bodyPr wrap="square">
            <a:spAutoFit/>
          </a:bodyPr>
          <a:lstStyle/>
          <a:p>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最优解</a:t>
            </a:r>
            <a:endParaRPr lang="zh-CN" altLang="en-US" dirty="0"/>
          </a:p>
        </p:txBody>
      </p:sp>
      <p:sp>
        <p:nvSpPr>
          <p:cNvPr id="44" name="圆角矩形 43"/>
          <p:cNvSpPr/>
          <p:nvPr/>
        </p:nvSpPr>
        <p:spPr>
          <a:xfrm>
            <a:off x="7683602" y="3310570"/>
            <a:ext cx="2690650"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改进分布式双一致算法</a:t>
            </a:r>
            <a:endParaRPr lang="zh-CN" altLang="en-US" dirty="0">
              <a:latin typeface="微软雅黑" panose="020B0503020204020204" pitchFamily="34" charset="-122"/>
              <a:ea typeface="微软雅黑" panose="020B0503020204020204" pitchFamily="34" charset="-122"/>
            </a:endParaRPr>
          </a:p>
        </p:txBody>
      </p:sp>
      <p:sp>
        <p:nvSpPr>
          <p:cNvPr id="49" name="矩形 48"/>
          <p:cNvSpPr/>
          <p:nvPr/>
        </p:nvSpPr>
        <p:spPr>
          <a:xfrm>
            <a:off x="6413166" y="3729756"/>
            <a:ext cx="5492280" cy="2121769"/>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bwMode="auto">
          <a:xfrm>
            <a:off x="7006258" y="4681430"/>
            <a:ext cx="1256963" cy="3469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a:solidFill>
                  <a:schemeClr val="lt1"/>
                </a:solidFill>
                <a:latin typeface="微软雅黑" panose="020B0503020204020204" pitchFamily="34" charset="-122"/>
                <a:ea typeface="微软雅黑" panose="020B0503020204020204" pitchFamily="34" charset="-122"/>
              </a:rPr>
              <a:t>产出值</a:t>
            </a:r>
          </a:p>
        </p:txBody>
      </p:sp>
      <p:sp>
        <p:nvSpPr>
          <p:cNvPr id="52" name="矩形 51"/>
          <p:cNvSpPr/>
          <p:nvPr/>
        </p:nvSpPr>
        <p:spPr bwMode="auto">
          <a:xfrm>
            <a:off x="6996360" y="5361342"/>
            <a:ext cx="1266862" cy="3469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a:solidFill>
                  <a:schemeClr val="lt1"/>
                </a:solidFill>
                <a:latin typeface="微软雅黑" panose="020B0503020204020204" pitchFamily="34" charset="-122"/>
                <a:ea typeface="微软雅黑" panose="020B0503020204020204" pitchFamily="34" charset="-122"/>
              </a:rPr>
              <a:t>不匹配值</a:t>
            </a:r>
          </a:p>
        </p:txBody>
      </p:sp>
      <p:sp>
        <p:nvSpPr>
          <p:cNvPr id="53" name="矩形 52"/>
          <p:cNvSpPr/>
          <p:nvPr/>
        </p:nvSpPr>
        <p:spPr>
          <a:xfrm>
            <a:off x="8477037" y="4588935"/>
            <a:ext cx="3351961" cy="56938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56" name="矩形 55"/>
          <p:cNvSpPr/>
          <p:nvPr/>
        </p:nvSpPr>
        <p:spPr>
          <a:xfrm>
            <a:off x="8486091" y="5290844"/>
            <a:ext cx="3351961" cy="47930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57" name="矩形 56"/>
          <p:cNvSpPr/>
          <p:nvPr/>
        </p:nvSpPr>
        <p:spPr bwMode="auto">
          <a:xfrm>
            <a:off x="7006258" y="3979948"/>
            <a:ext cx="1266861" cy="3469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a:solidFill>
                  <a:schemeClr val="lt1"/>
                </a:solidFill>
                <a:latin typeface="微软雅黑" panose="020B0503020204020204" pitchFamily="34" charset="-122"/>
                <a:ea typeface="微软雅黑" panose="020B0503020204020204" pitchFamily="34" charset="-122"/>
              </a:rPr>
              <a:t>乘子值</a:t>
            </a:r>
          </a:p>
        </p:txBody>
      </p:sp>
      <p:sp>
        <p:nvSpPr>
          <p:cNvPr id="58" name="矩形 57"/>
          <p:cNvSpPr/>
          <p:nvPr/>
        </p:nvSpPr>
        <p:spPr>
          <a:xfrm>
            <a:off x="8477037" y="3905186"/>
            <a:ext cx="3351961" cy="49649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59" name="矩形 58"/>
          <p:cNvSpPr/>
          <p:nvPr/>
        </p:nvSpPr>
        <p:spPr bwMode="auto">
          <a:xfrm flipH="1">
            <a:off x="6501638" y="3838353"/>
            <a:ext cx="421067" cy="19317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dirty="0">
                <a:solidFill>
                  <a:schemeClr val="lt1"/>
                </a:solidFill>
                <a:latin typeface="微软雅黑" panose="020B0503020204020204" pitchFamily="34" charset="-122"/>
                <a:ea typeface="微软雅黑" panose="020B0503020204020204" pitchFamily="34" charset="-122"/>
              </a:rPr>
              <a:t>迭代更新规则</a:t>
            </a:r>
          </a:p>
        </p:txBody>
      </p:sp>
      <p:graphicFrame>
        <p:nvGraphicFramePr>
          <p:cNvPr id="60" name="对象 59"/>
          <p:cNvGraphicFramePr>
            <a:graphicFrameLocks noChangeAspect="1"/>
          </p:cNvGraphicFramePr>
          <p:nvPr>
            <p:extLst>
              <p:ext uri="{D42A27DB-BD31-4B8C-83A1-F6EECF244321}">
                <p14:modId xmlns:p14="http://schemas.microsoft.com/office/powerpoint/2010/main" val="2129284424"/>
              </p:ext>
            </p:extLst>
          </p:nvPr>
        </p:nvGraphicFramePr>
        <p:xfrm>
          <a:off x="9117393" y="3998414"/>
          <a:ext cx="2194676" cy="347290"/>
        </p:xfrm>
        <a:graphic>
          <a:graphicData uri="http://schemas.openxmlformats.org/presentationml/2006/ole">
            <mc:AlternateContent xmlns:mc="http://schemas.openxmlformats.org/markup-compatibility/2006">
              <mc:Choice xmlns:v="urn:schemas-microsoft-com:vml" Requires="v">
                <p:oleObj spid="_x0000_s16024" name="Equation" r:id="rId18" imgW="1444384" imgH="228206" progId="Equation.DSMT4">
                  <p:embed/>
                </p:oleObj>
              </mc:Choice>
              <mc:Fallback>
                <p:oleObj name="Equation" r:id="rId18" imgW="1444384" imgH="228206" progId="Equation.DSMT4">
                  <p:embed/>
                  <p:pic>
                    <p:nvPicPr>
                      <p:cNvPr id="16" name="对象 15"/>
                      <p:cNvPicPr/>
                      <p:nvPr/>
                    </p:nvPicPr>
                    <p:blipFill>
                      <a:blip r:embed="rId19"/>
                      <a:stretch>
                        <a:fillRect/>
                      </a:stretch>
                    </p:blipFill>
                    <p:spPr>
                      <a:xfrm>
                        <a:off x="9117393" y="3998414"/>
                        <a:ext cx="2194676" cy="347290"/>
                      </a:xfrm>
                      <a:prstGeom prst="rect">
                        <a:avLst/>
                      </a:prstGeom>
                    </p:spPr>
                  </p:pic>
                </p:oleObj>
              </mc:Fallback>
            </mc:AlternateContent>
          </a:graphicData>
        </a:graphic>
      </p:graphicFrame>
      <p:graphicFrame>
        <p:nvGraphicFramePr>
          <p:cNvPr id="61" name="对象 60"/>
          <p:cNvGraphicFramePr>
            <a:graphicFrameLocks noChangeAspect="1"/>
          </p:cNvGraphicFramePr>
          <p:nvPr>
            <p:extLst>
              <p:ext uri="{D42A27DB-BD31-4B8C-83A1-F6EECF244321}">
                <p14:modId xmlns:p14="http://schemas.microsoft.com/office/powerpoint/2010/main" val="2747702614"/>
              </p:ext>
            </p:extLst>
          </p:nvPr>
        </p:nvGraphicFramePr>
        <p:xfrm>
          <a:off x="9117392" y="4593048"/>
          <a:ext cx="1961271" cy="327637"/>
        </p:xfrm>
        <a:graphic>
          <a:graphicData uri="http://schemas.openxmlformats.org/presentationml/2006/ole">
            <mc:AlternateContent xmlns:mc="http://schemas.openxmlformats.org/markup-compatibility/2006">
              <mc:Choice xmlns:v="urn:schemas-microsoft-com:vml" Requires="v">
                <p:oleObj spid="_x0000_s16025" name="Equation" r:id="rId20" imgW="1368250" imgH="228206" progId="Equation.DSMT4">
                  <p:embed/>
                </p:oleObj>
              </mc:Choice>
              <mc:Fallback>
                <p:oleObj name="Equation" r:id="rId20" imgW="1368250" imgH="228206" progId="Equation.DSMT4">
                  <p:embed/>
                  <p:pic>
                    <p:nvPicPr>
                      <p:cNvPr id="17" name="对象 16"/>
                      <p:cNvPicPr/>
                      <p:nvPr/>
                    </p:nvPicPr>
                    <p:blipFill>
                      <a:blip r:embed="rId21"/>
                      <a:stretch>
                        <a:fillRect/>
                      </a:stretch>
                    </p:blipFill>
                    <p:spPr>
                      <a:xfrm>
                        <a:off x="9117392" y="4593048"/>
                        <a:ext cx="1961271" cy="327637"/>
                      </a:xfrm>
                      <a:prstGeom prst="rect">
                        <a:avLst/>
                      </a:prstGeom>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3368132869"/>
              </p:ext>
            </p:extLst>
          </p:nvPr>
        </p:nvGraphicFramePr>
        <p:xfrm>
          <a:off x="9117391" y="4890405"/>
          <a:ext cx="1511433" cy="324845"/>
        </p:xfrm>
        <a:graphic>
          <a:graphicData uri="http://schemas.openxmlformats.org/presentationml/2006/ole">
            <mc:AlternateContent xmlns:mc="http://schemas.openxmlformats.org/markup-compatibility/2006">
              <mc:Choice xmlns:v="urn:schemas-microsoft-com:vml" Requires="v">
                <p:oleObj spid="_x0000_s16026" name="Equation" r:id="rId22" imgW="1064075" imgH="228206" progId="Equation.DSMT4">
                  <p:embed/>
                </p:oleObj>
              </mc:Choice>
              <mc:Fallback>
                <p:oleObj name="Equation" r:id="rId22" imgW="1064075" imgH="228206" progId="Equation.DSMT4">
                  <p:embed/>
                  <p:pic>
                    <p:nvPicPr>
                      <p:cNvPr id="18" name="对象 17"/>
                      <p:cNvPicPr/>
                      <p:nvPr/>
                    </p:nvPicPr>
                    <p:blipFill>
                      <a:blip r:embed="rId23"/>
                      <a:stretch>
                        <a:fillRect/>
                      </a:stretch>
                    </p:blipFill>
                    <p:spPr>
                      <a:xfrm>
                        <a:off x="9117391" y="4890405"/>
                        <a:ext cx="1511433" cy="324845"/>
                      </a:xfrm>
                      <a:prstGeom prst="rect">
                        <a:avLst/>
                      </a:prstGeom>
                    </p:spPr>
                  </p:pic>
                </p:oleObj>
              </mc:Fallback>
            </mc:AlternateContent>
          </a:graphicData>
        </a:graphic>
      </p:graphicFrame>
      <p:graphicFrame>
        <p:nvGraphicFramePr>
          <p:cNvPr id="63" name="对象 62"/>
          <p:cNvGraphicFramePr>
            <a:graphicFrameLocks noChangeAspect="1"/>
          </p:cNvGraphicFramePr>
          <p:nvPr>
            <p:extLst>
              <p:ext uri="{D42A27DB-BD31-4B8C-83A1-F6EECF244321}">
                <p14:modId xmlns:p14="http://schemas.microsoft.com/office/powerpoint/2010/main" val="3650898295"/>
              </p:ext>
            </p:extLst>
          </p:nvPr>
        </p:nvGraphicFramePr>
        <p:xfrm>
          <a:off x="8540155" y="5375992"/>
          <a:ext cx="3257764" cy="349827"/>
        </p:xfrm>
        <a:graphic>
          <a:graphicData uri="http://schemas.openxmlformats.org/presentationml/2006/ole">
            <mc:AlternateContent xmlns:mc="http://schemas.openxmlformats.org/markup-compatibility/2006">
              <mc:Choice xmlns:v="urn:schemas-microsoft-com:vml" Requires="v">
                <p:oleObj spid="_x0000_s16027" name="Equation" r:id="rId24" imgW="2128509" imgH="228206" progId="Equation.DSMT4">
                  <p:embed/>
                </p:oleObj>
              </mc:Choice>
              <mc:Fallback>
                <p:oleObj name="Equation" r:id="rId24" imgW="2128509" imgH="228206" progId="Equation.DSMT4">
                  <p:embed/>
                  <p:pic>
                    <p:nvPicPr>
                      <p:cNvPr id="21" name="对象 20"/>
                      <p:cNvPicPr/>
                      <p:nvPr/>
                    </p:nvPicPr>
                    <p:blipFill>
                      <a:blip r:embed="rId25"/>
                      <a:stretch>
                        <a:fillRect/>
                      </a:stretch>
                    </p:blipFill>
                    <p:spPr>
                      <a:xfrm>
                        <a:off x="8540155" y="5375992"/>
                        <a:ext cx="3257764" cy="349827"/>
                      </a:xfrm>
                      <a:prstGeom prst="rect">
                        <a:avLst/>
                      </a:prstGeom>
                    </p:spPr>
                  </p:pic>
                </p:oleObj>
              </mc:Fallback>
            </mc:AlternateContent>
          </a:graphicData>
        </a:graphic>
      </p:graphicFrame>
      <p:sp>
        <p:nvSpPr>
          <p:cNvPr id="19" name="矩形 18"/>
          <p:cNvSpPr/>
          <p:nvPr/>
        </p:nvSpPr>
        <p:spPr>
          <a:xfrm>
            <a:off x="6296345" y="5845742"/>
            <a:ext cx="5736945" cy="738664"/>
          </a:xfrm>
          <a:prstGeom prst="rect">
            <a:avLst/>
          </a:prstGeom>
        </p:spPr>
        <p:txBody>
          <a:bodyPr wrap="square">
            <a:spAutoFit/>
          </a:bodyPr>
          <a:lstStyle/>
          <a:p>
            <a:pPr algn="just"/>
            <a:r>
              <a:rPr lang="zh-CN" altLang="en-US" sz="1400" dirty="0">
                <a:latin typeface="微软雅黑" panose="020B0503020204020204" pitchFamily="34" charset="-122"/>
                <a:ea typeface="微软雅黑" panose="020B0503020204020204" pitchFamily="34" charset="-122"/>
              </a:rPr>
              <a:t>改进分布式双一致算法设计了</a:t>
            </a:r>
            <a:r>
              <a:rPr lang="zh-CN" altLang="en-US" sz="1400" dirty="0">
                <a:solidFill>
                  <a:srgbClr val="FF0000"/>
                </a:solidFill>
                <a:latin typeface="微软雅黑" panose="020B0503020204020204" pitchFamily="34" charset="-122"/>
                <a:ea typeface="微软雅黑" panose="020B0503020204020204" pitchFamily="34" charset="-122"/>
              </a:rPr>
              <a:t>两个一致性协议</a:t>
            </a:r>
            <a:r>
              <a:rPr lang="zh-CN" altLang="en-US" sz="1400" dirty="0">
                <a:latin typeface="微软雅黑" panose="020B0503020204020204" pitchFamily="34" charset="-122"/>
                <a:ea typeface="微软雅黑" panose="020B0503020204020204" pitchFamily="34" charset="-122"/>
              </a:rPr>
              <a:t>分别计算对应于经济调度问题最优解的</a:t>
            </a:r>
            <a:r>
              <a:rPr lang="zh-CN" altLang="en-US" sz="1400" dirty="0">
                <a:solidFill>
                  <a:srgbClr val="FF0000"/>
                </a:solidFill>
                <a:latin typeface="微软雅黑" panose="020B0503020204020204" pitchFamily="34" charset="-122"/>
                <a:ea typeface="微软雅黑" panose="020B0503020204020204" pitchFamily="34" charset="-122"/>
              </a:rPr>
              <a:t>增量成本</a:t>
            </a:r>
            <a:r>
              <a:rPr lang="zh-CN" altLang="en-US" sz="1400" dirty="0">
                <a:latin typeface="微软雅黑" panose="020B0503020204020204" pitchFamily="34" charset="-122"/>
                <a:ea typeface="微软雅黑" panose="020B0503020204020204" pitchFamily="34" charset="-122"/>
              </a:rPr>
              <a:t>和估计电、热</a:t>
            </a:r>
            <a:r>
              <a:rPr lang="zh-CN" altLang="en-US" sz="1400" dirty="0">
                <a:solidFill>
                  <a:srgbClr val="FF0000"/>
                </a:solidFill>
                <a:latin typeface="微软雅黑" panose="020B0503020204020204" pitchFamily="34" charset="-122"/>
                <a:ea typeface="微软雅黑" panose="020B0503020204020204" pitchFamily="34" charset="-122"/>
              </a:rPr>
              <a:t>局部功率失配量</a:t>
            </a:r>
            <a:r>
              <a:rPr lang="zh-CN" altLang="en-US" sz="1400" dirty="0">
                <a:latin typeface="微软雅黑" panose="020B0503020204020204" pitchFamily="34" charset="-122"/>
                <a:ea typeface="微软雅黑" panose="020B0503020204020204" pitchFamily="34" charset="-122"/>
              </a:rPr>
              <a:t>用以协调设备出力，最终实现系统经济调度。</a:t>
            </a:r>
          </a:p>
        </p:txBody>
      </p:sp>
    </p:spTree>
  </p:cSld>
  <p:clrMapOvr>
    <a:masterClrMapping/>
  </p:clrMapOvr>
  <mc:AlternateContent xmlns:mc="http://schemas.openxmlformats.org/markup-compatibility/2006" xmlns:p14="http://schemas.microsoft.com/office/powerpoint/2010/main">
    <mc:Choice Requires="p14">
      <p:transition p14:dur="0" advTm="18189"/>
    </mc:Choice>
    <mc:Fallback xmlns="">
      <p:transition advTm="18189"/>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71690" name="标题 1"/>
          <p:cNvSpPr txBox="1"/>
          <p:nvPr/>
        </p:nvSpPr>
        <p:spPr>
          <a:xfrm>
            <a:off x="2620963" y="242888"/>
            <a:ext cx="94059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3.3</a:t>
            </a:r>
            <a:r>
              <a:rPr lang="zh-CN" altLang="en-US" sz="3200" b="1" dirty="0" smtClean="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考虑攻击风险的双重保护机制</a:t>
            </a:r>
          </a:p>
          <a:p>
            <a:pPr marL="0" lvl="0" indent="0" eaLnBrk="1" hangingPunct="1">
              <a:spcBef>
                <a:spcPct val="0"/>
              </a:spcBef>
              <a:buFontTx/>
              <a:buNone/>
            </a:pP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71693"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pic>
        <p:nvPicPr>
          <p:cNvPr id="24" name="图片 23"/>
          <p:cNvPicPr>
            <a:picLocks noChangeAspect="1"/>
          </p:cNvPicPr>
          <p:nvPr/>
        </p:nvPicPr>
        <p:blipFill>
          <a:blip r:embed="rId5"/>
          <a:stretch>
            <a:fillRect/>
          </a:stretch>
        </p:blipFill>
        <p:spPr>
          <a:xfrm>
            <a:off x="1768548" y="1261461"/>
            <a:ext cx="6095118" cy="2430499"/>
          </a:xfrm>
          <a:prstGeom prst="rect">
            <a:avLst/>
          </a:prstGeom>
        </p:spPr>
      </p:pic>
      <p:graphicFrame>
        <p:nvGraphicFramePr>
          <p:cNvPr id="25" name="对象 24"/>
          <p:cNvGraphicFramePr>
            <a:graphicFrameLocks noChangeAspect="1"/>
          </p:cNvGraphicFramePr>
          <p:nvPr>
            <p:extLst>
              <p:ext uri="{D42A27DB-BD31-4B8C-83A1-F6EECF244321}">
                <p14:modId xmlns:p14="http://schemas.microsoft.com/office/powerpoint/2010/main" val="3773350466"/>
              </p:ext>
            </p:extLst>
          </p:nvPr>
        </p:nvGraphicFramePr>
        <p:xfrm>
          <a:off x="9014488" y="2297060"/>
          <a:ext cx="2128837" cy="760413"/>
        </p:xfrm>
        <a:graphic>
          <a:graphicData uri="http://schemas.openxmlformats.org/presentationml/2006/ole">
            <mc:AlternateContent xmlns:mc="http://schemas.openxmlformats.org/markup-compatibility/2006">
              <mc:Choice xmlns:v="urn:schemas-microsoft-com:vml" Requires="v">
                <p:oleObj spid="_x0000_s24749" name="Equation" r:id="rId6" imgW="2128509" imgH="760806" progId="Equation.DSMT4">
                  <p:embed/>
                </p:oleObj>
              </mc:Choice>
              <mc:Fallback>
                <p:oleObj name="Equation" r:id="rId6" imgW="2128509" imgH="760806" progId="Equation.DSMT4">
                  <p:embed/>
                  <p:pic>
                    <p:nvPicPr>
                      <p:cNvPr id="10" name="对象 9"/>
                      <p:cNvPicPr/>
                      <p:nvPr/>
                    </p:nvPicPr>
                    <p:blipFill>
                      <a:blip r:embed="rId7"/>
                      <a:stretch>
                        <a:fillRect/>
                      </a:stretch>
                    </p:blipFill>
                    <p:spPr>
                      <a:xfrm>
                        <a:off x="9014488" y="2297060"/>
                        <a:ext cx="2128837" cy="760413"/>
                      </a:xfrm>
                      <a:prstGeom prst="rect">
                        <a:avLst/>
                      </a:prstGeom>
                    </p:spPr>
                  </p:pic>
                </p:oleObj>
              </mc:Fallback>
            </mc:AlternateContent>
          </a:graphicData>
        </a:graphic>
      </p:graphicFrame>
      <p:sp>
        <p:nvSpPr>
          <p:cNvPr id="26" name="矩形 25"/>
          <p:cNvSpPr/>
          <p:nvPr/>
        </p:nvSpPr>
        <p:spPr>
          <a:xfrm>
            <a:off x="8045111" y="2485028"/>
            <a:ext cx="992579" cy="369332"/>
          </a:xfrm>
          <a:prstGeom prst="rect">
            <a:avLst/>
          </a:prstGeom>
        </p:spPr>
        <p:txBody>
          <a:bodyPr wrap="none">
            <a:spAutoFit/>
          </a:bodyPr>
          <a:lstStyle/>
          <a:p>
            <a:r>
              <a:rPr lang="zh-CN" altLang="zh-CN" dirty="0">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a:latin typeface="Times New Roman" panose="02020603050405020304" pitchFamily="18" charset="0"/>
                <a:ea typeface="宋体" panose="02010600030101010101" pitchFamily="2" charset="-122"/>
              </a:rPr>
              <a:t>1</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graphicFrame>
        <p:nvGraphicFramePr>
          <p:cNvPr id="27" name="对象 26"/>
          <p:cNvGraphicFramePr>
            <a:graphicFrameLocks noChangeAspect="1"/>
          </p:cNvGraphicFramePr>
          <p:nvPr>
            <p:extLst>
              <p:ext uri="{D42A27DB-BD31-4B8C-83A1-F6EECF244321}">
                <p14:modId xmlns:p14="http://schemas.microsoft.com/office/powerpoint/2010/main" val="2907638318"/>
              </p:ext>
            </p:extLst>
          </p:nvPr>
        </p:nvGraphicFramePr>
        <p:xfrm>
          <a:off x="9016246" y="3110633"/>
          <a:ext cx="1139825" cy="457200"/>
        </p:xfrm>
        <a:graphic>
          <a:graphicData uri="http://schemas.openxmlformats.org/presentationml/2006/ole">
            <mc:AlternateContent xmlns:mc="http://schemas.openxmlformats.org/markup-compatibility/2006">
              <mc:Choice xmlns:v="urn:schemas-microsoft-com:vml" Requires="v">
                <p:oleObj spid="_x0000_s24750" name="Equation" r:id="rId8" imgW="1140209" imgH="456412" progId="Equation.DSMT4">
                  <p:embed/>
                </p:oleObj>
              </mc:Choice>
              <mc:Fallback>
                <p:oleObj name="Equation" r:id="rId8" imgW="1140209" imgH="456412" progId="Equation.DSMT4">
                  <p:embed/>
                  <p:pic>
                    <p:nvPicPr>
                      <p:cNvPr id="13" name="对象 12"/>
                      <p:cNvPicPr/>
                      <p:nvPr/>
                    </p:nvPicPr>
                    <p:blipFill>
                      <a:blip r:embed="rId9"/>
                      <a:stretch>
                        <a:fillRect/>
                      </a:stretch>
                    </p:blipFill>
                    <p:spPr>
                      <a:xfrm>
                        <a:off x="9016246" y="3110633"/>
                        <a:ext cx="1139825" cy="457200"/>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1663769368"/>
              </p:ext>
            </p:extLst>
          </p:nvPr>
        </p:nvGraphicFramePr>
        <p:xfrm>
          <a:off x="9016246" y="3615067"/>
          <a:ext cx="1139825" cy="228600"/>
        </p:xfrm>
        <a:graphic>
          <a:graphicData uri="http://schemas.openxmlformats.org/presentationml/2006/ole">
            <mc:AlternateContent xmlns:mc="http://schemas.openxmlformats.org/markup-compatibility/2006">
              <mc:Choice xmlns:v="urn:schemas-microsoft-com:vml" Requires="v">
                <p:oleObj spid="_x0000_s24751" name="Equation" r:id="rId10" imgW="1140209" imgH="228206" progId="Equation.DSMT4">
                  <p:embed/>
                </p:oleObj>
              </mc:Choice>
              <mc:Fallback>
                <p:oleObj name="Equation" r:id="rId10" imgW="1140209" imgH="228206" progId="Equation.DSMT4">
                  <p:embed/>
                  <p:pic>
                    <p:nvPicPr>
                      <p:cNvPr id="14" name="对象 13"/>
                      <p:cNvPicPr/>
                      <p:nvPr/>
                    </p:nvPicPr>
                    <p:blipFill>
                      <a:blip r:embed="rId11"/>
                      <a:stretch>
                        <a:fillRect/>
                      </a:stretch>
                    </p:blipFill>
                    <p:spPr>
                      <a:xfrm>
                        <a:off x="9016246" y="3615067"/>
                        <a:ext cx="1139825" cy="228600"/>
                      </a:xfrm>
                      <a:prstGeom prst="rect">
                        <a:avLst/>
                      </a:prstGeom>
                    </p:spPr>
                  </p:pic>
                </p:oleObj>
              </mc:Fallback>
            </mc:AlternateContent>
          </a:graphicData>
        </a:graphic>
      </p:graphicFrame>
      <p:sp>
        <p:nvSpPr>
          <p:cNvPr id="29" name="矩形 28"/>
          <p:cNvSpPr/>
          <p:nvPr/>
        </p:nvSpPr>
        <p:spPr>
          <a:xfrm>
            <a:off x="8023667" y="3986881"/>
            <a:ext cx="992579" cy="369332"/>
          </a:xfrm>
          <a:prstGeom prst="rect">
            <a:avLst/>
          </a:prstGeom>
        </p:spPr>
        <p:txBody>
          <a:bodyPr wrap="none">
            <a:spAutoFit/>
          </a:bodyPr>
          <a:lstStyle/>
          <a:p>
            <a:r>
              <a:rPr lang="zh-CN" altLang="zh-CN" dirty="0">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a:latin typeface="Times New Roman" panose="02020603050405020304" pitchFamily="18" charset="0"/>
                <a:ea typeface="宋体" panose="02010600030101010101" pitchFamily="2" charset="-122"/>
              </a:rPr>
              <a:t>2</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graphicFrame>
        <p:nvGraphicFramePr>
          <p:cNvPr id="30" name="对象 29"/>
          <p:cNvGraphicFramePr>
            <a:graphicFrameLocks noChangeAspect="1"/>
          </p:cNvGraphicFramePr>
          <p:nvPr>
            <p:extLst>
              <p:ext uri="{D42A27DB-BD31-4B8C-83A1-F6EECF244321}">
                <p14:modId xmlns:p14="http://schemas.microsoft.com/office/powerpoint/2010/main" val="2814525333"/>
              </p:ext>
            </p:extLst>
          </p:nvPr>
        </p:nvGraphicFramePr>
        <p:xfrm>
          <a:off x="8861262" y="4036403"/>
          <a:ext cx="1425394" cy="354558"/>
        </p:xfrm>
        <a:graphic>
          <a:graphicData uri="http://schemas.openxmlformats.org/presentationml/2006/ole">
            <mc:AlternateContent xmlns:mc="http://schemas.openxmlformats.org/markup-compatibility/2006">
              <mc:Choice xmlns:v="urn:schemas-microsoft-com:vml" Requires="v">
                <p:oleObj spid="_x0000_s24752" name="Equation" r:id="rId12" imgW="1263746" imgH="313738" progId="Equation.DSMT4">
                  <p:embed/>
                </p:oleObj>
              </mc:Choice>
              <mc:Fallback>
                <p:oleObj name="Equation" r:id="rId12" imgW="1263746" imgH="313738" progId="Equation.DSMT4">
                  <p:embed/>
                  <p:pic>
                    <p:nvPicPr>
                      <p:cNvPr id="27" name="对象 26"/>
                      <p:cNvPicPr/>
                      <p:nvPr/>
                    </p:nvPicPr>
                    <p:blipFill>
                      <a:blip r:embed="rId13"/>
                      <a:stretch>
                        <a:fillRect/>
                      </a:stretch>
                    </p:blipFill>
                    <p:spPr>
                      <a:xfrm>
                        <a:off x="8861262" y="4036403"/>
                        <a:ext cx="1425394" cy="354558"/>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1362750760"/>
              </p:ext>
            </p:extLst>
          </p:nvPr>
        </p:nvGraphicFramePr>
        <p:xfrm>
          <a:off x="10546666" y="4076636"/>
          <a:ext cx="1254125" cy="314325"/>
        </p:xfrm>
        <a:graphic>
          <a:graphicData uri="http://schemas.openxmlformats.org/presentationml/2006/ole">
            <mc:AlternateContent xmlns:mc="http://schemas.openxmlformats.org/markup-compatibility/2006">
              <mc:Choice xmlns:v="urn:schemas-microsoft-com:vml" Requires="v">
                <p:oleObj spid="_x0000_s24753" name="Equation" r:id="rId14" imgW="1254409" imgH="313738" progId="Equation.DSMT4">
                  <p:embed/>
                </p:oleObj>
              </mc:Choice>
              <mc:Fallback>
                <p:oleObj name="Equation" r:id="rId14" imgW="1254409" imgH="313738" progId="Equation.DSMT4">
                  <p:embed/>
                  <p:pic>
                    <p:nvPicPr>
                      <p:cNvPr id="29" name="对象 28"/>
                      <p:cNvPicPr/>
                      <p:nvPr/>
                    </p:nvPicPr>
                    <p:blipFill>
                      <a:blip r:embed="rId15"/>
                      <a:stretch>
                        <a:fillRect/>
                      </a:stretch>
                    </p:blipFill>
                    <p:spPr>
                      <a:xfrm>
                        <a:off x="10546666" y="4076636"/>
                        <a:ext cx="1254125" cy="314325"/>
                      </a:xfrm>
                      <a:prstGeom prst="rect">
                        <a:avLst/>
                      </a:prstGeom>
                    </p:spPr>
                  </p:pic>
                </p:oleObj>
              </mc:Fallback>
            </mc:AlternateContent>
          </a:graphicData>
        </a:graphic>
      </p:graphicFrame>
      <p:sp>
        <p:nvSpPr>
          <p:cNvPr id="33" name="矩形 32"/>
          <p:cNvSpPr/>
          <p:nvPr/>
        </p:nvSpPr>
        <p:spPr>
          <a:xfrm>
            <a:off x="8045111" y="4541829"/>
            <a:ext cx="992579" cy="369332"/>
          </a:xfrm>
          <a:prstGeom prst="rect">
            <a:avLst/>
          </a:prstGeom>
        </p:spPr>
        <p:txBody>
          <a:bodyPr wrap="none">
            <a:spAutoFit/>
          </a:bodyPr>
          <a:lstStyle/>
          <a:p>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smtClean="0">
                <a:latin typeface="Times New Roman" panose="02020603050405020304" pitchFamily="18" charset="0"/>
                <a:ea typeface="宋体" panose="02010600030101010101" pitchFamily="2" charset="-122"/>
              </a:rPr>
              <a:t>3</a:t>
            </a:r>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34" name="矩形 33"/>
          <p:cNvSpPr/>
          <p:nvPr/>
        </p:nvSpPr>
        <p:spPr>
          <a:xfrm>
            <a:off x="8799599" y="4541829"/>
            <a:ext cx="646331" cy="369332"/>
          </a:xfrm>
          <a:prstGeom prst="rect">
            <a:avLst/>
          </a:prstGeom>
        </p:spPr>
        <p:txBody>
          <a:bodyPr wrap="none">
            <a:spAutoFit/>
          </a:bodyPr>
          <a:lstStyle/>
          <a:p>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发送</a:t>
            </a:r>
            <a:endParaRPr lang="zh-CN" altLang="en-US" dirty="0"/>
          </a:p>
        </p:txBody>
      </p:sp>
      <p:graphicFrame>
        <p:nvGraphicFramePr>
          <p:cNvPr id="35" name="对象 34"/>
          <p:cNvGraphicFramePr>
            <a:graphicFrameLocks noChangeAspect="1"/>
          </p:cNvGraphicFramePr>
          <p:nvPr>
            <p:extLst>
              <p:ext uri="{D42A27DB-BD31-4B8C-83A1-F6EECF244321}">
                <p14:modId xmlns:p14="http://schemas.microsoft.com/office/powerpoint/2010/main" val="1614493913"/>
              </p:ext>
            </p:extLst>
          </p:nvPr>
        </p:nvGraphicFramePr>
        <p:xfrm>
          <a:off x="9379716" y="4577012"/>
          <a:ext cx="595857" cy="298966"/>
        </p:xfrm>
        <a:graphic>
          <a:graphicData uri="http://schemas.openxmlformats.org/presentationml/2006/ole">
            <mc:AlternateContent xmlns:mc="http://schemas.openxmlformats.org/markup-compatibility/2006">
              <mc:Choice xmlns:v="urn:schemas-microsoft-com:vml" Requires="v">
                <p:oleObj spid="_x0000_s24754" name="Equation" r:id="rId16" imgW="456083" imgH="228206" progId="Equation.DSMT4">
                  <p:embed/>
                </p:oleObj>
              </mc:Choice>
              <mc:Fallback>
                <p:oleObj name="Equation" r:id="rId16" imgW="456083" imgH="228206" progId="Equation.DSMT4">
                  <p:embed/>
                  <p:pic>
                    <p:nvPicPr>
                      <p:cNvPr id="35" name="对象 34"/>
                      <p:cNvPicPr/>
                      <p:nvPr/>
                    </p:nvPicPr>
                    <p:blipFill>
                      <a:blip r:embed="rId17"/>
                      <a:stretch>
                        <a:fillRect/>
                      </a:stretch>
                    </p:blipFill>
                    <p:spPr>
                      <a:xfrm>
                        <a:off x="9379716" y="4577012"/>
                        <a:ext cx="595857" cy="298966"/>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3655816878"/>
              </p:ext>
            </p:extLst>
          </p:nvPr>
        </p:nvGraphicFramePr>
        <p:xfrm>
          <a:off x="10246031" y="4541829"/>
          <a:ext cx="517285" cy="318631"/>
        </p:xfrm>
        <a:graphic>
          <a:graphicData uri="http://schemas.openxmlformats.org/presentationml/2006/ole">
            <mc:AlternateContent xmlns:mc="http://schemas.openxmlformats.org/markup-compatibility/2006">
              <mc:Choice xmlns:v="urn:schemas-microsoft-com:vml" Requires="v">
                <p:oleObj spid="_x0000_s24755" name="Equation" r:id="rId18" imgW="418017" imgH="256597" progId="Equation.DSMT4">
                  <p:embed/>
                </p:oleObj>
              </mc:Choice>
              <mc:Fallback>
                <p:oleObj name="Equation" r:id="rId18" imgW="418017" imgH="256597" progId="Equation.DSMT4">
                  <p:embed/>
                  <p:pic>
                    <p:nvPicPr>
                      <p:cNvPr id="36" name="对象 35"/>
                      <p:cNvPicPr/>
                      <p:nvPr/>
                    </p:nvPicPr>
                    <p:blipFill>
                      <a:blip r:embed="rId19"/>
                      <a:stretch>
                        <a:fillRect/>
                      </a:stretch>
                    </p:blipFill>
                    <p:spPr>
                      <a:xfrm>
                        <a:off x="10246031" y="4541829"/>
                        <a:ext cx="517285" cy="318631"/>
                      </a:xfrm>
                      <a:prstGeom prst="rect">
                        <a:avLst/>
                      </a:prstGeom>
                    </p:spPr>
                  </p:pic>
                </p:oleObj>
              </mc:Fallback>
            </mc:AlternateContent>
          </a:graphicData>
        </a:graphic>
      </p:graphicFrame>
      <p:sp>
        <p:nvSpPr>
          <p:cNvPr id="37" name="矩形 36"/>
          <p:cNvSpPr/>
          <p:nvPr/>
        </p:nvSpPr>
        <p:spPr>
          <a:xfrm>
            <a:off x="9871158" y="4531726"/>
            <a:ext cx="415498" cy="369332"/>
          </a:xfrm>
          <a:prstGeom prst="rect">
            <a:avLst/>
          </a:prstGeom>
        </p:spPr>
        <p:txBody>
          <a:bodyPr wrap="none">
            <a:spAutoFit/>
          </a:bodyPr>
          <a:lstStyle/>
          <a:p>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和</a:t>
            </a:r>
            <a:endParaRPr lang="zh-CN" altLang="en-US" dirty="0"/>
          </a:p>
        </p:txBody>
      </p:sp>
      <p:sp>
        <p:nvSpPr>
          <p:cNvPr id="38" name="矩形 37"/>
          <p:cNvSpPr/>
          <p:nvPr/>
        </p:nvSpPr>
        <p:spPr>
          <a:xfrm>
            <a:off x="8045111" y="5096777"/>
            <a:ext cx="992579" cy="369332"/>
          </a:xfrm>
          <a:prstGeom prst="rect">
            <a:avLst/>
          </a:prstGeom>
        </p:spPr>
        <p:txBody>
          <a:bodyPr wrap="none">
            <a:spAutoFit/>
          </a:bodyPr>
          <a:lstStyle/>
          <a:p>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a:latin typeface="Times New Roman" panose="02020603050405020304" pitchFamily="18" charset="0"/>
                <a:ea typeface="宋体" panose="02010600030101010101" pitchFamily="2" charset="-122"/>
              </a:rPr>
              <a:t>4</a:t>
            </a:r>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graphicFrame>
        <p:nvGraphicFramePr>
          <p:cNvPr id="39" name="对象 38"/>
          <p:cNvGraphicFramePr>
            <a:graphicFrameLocks noChangeAspect="1"/>
          </p:cNvGraphicFramePr>
          <p:nvPr>
            <p:extLst>
              <p:ext uri="{D42A27DB-BD31-4B8C-83A1-F6EECF244321}">
                <p14:modId xmlns:p14="http://schemas.microsoft.com/office/powerpoint/2010/main" val="195806944"/>
              </p:ext>
            </p:extLst>
          </p:nvPr>
        </p:nvGraphicFramePr>
        <p:xfrm>
          <a:off x="8869138" y="5131275"/>
          <a:ext cx="1606285" cy="378878"/>
        </p:xfrm>
        <a:graphic>
          <a:graphicData uri="http://schemas.openxmlformats.org/presentationml/2006/ole">
            <mc:AlternateContent xmlns:mc="http://schemas.openxmlformats.org/markup-compatibility/2006">
              <mc:Choice xmlns:v="urn:schemas-microsoft-com:vml" Requires="v">
                <p:oleObj spid="_x0000_s24756" name="Equation" r:id="rId20" imgW="1292117" imgH="304394" progId="Equation.DSMT4">
                  <p:embed/>
                </p:oleObj>
              </mc:Choice>
              <mc:Fallback>
                <p:oleObj name="Equation" r:id="rId20" imgW="1292117" imgH="304394" progId="Equation.DSMT4">
                  <p:embed/>
                  <p:pic>
                    <p:nvPicPr>
                      <p:cNvPr id="39" name="对象 38"/>
                      <p:cNvPicPr/>
                      <p:nvPr/>
                    </p:nvPicPr>
                    <p:blipFill>
                      <a:blip r:embed="rId21"/>
                      <a:stretch>
                        <a:fillRect/>
                      </a:stretch>
                    </p:blipFill>
                    <p:spPr>
                      <a:xfrm>
                        <a:off x="8869138" y="5131275"/>
                        <a:ext cx="1606285" cy="378878"/>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1322257523"/>
              </p:ext>
            </p:extLst>
          </p:nvPr>
        </p:nvGraphicFramePr>
        <p:xfrm>
          <a:off x="10556769" y="5129970"/>
          <a:ext cx="1611816" cy="380183"/>
        </p:xfrm>
        <a:graphic>
          <a:graphicData uri="http://schemas.openxmlformats.org/presentationml/2006/ole">
            <mc:AlternateContent xmlns:mc="http://schemas.openxmlformats.org/markup-compatibility/2006">
              <mc:Choice xmlns:v="urn:schemas-microsoft-com:vml" Requires="v">
                <p:oleObj spid="_x0000_s24757" name="Equation" r:id="rId22" imgW="1292117" imgH="304394" progId="Equation.DSMT4">
                  <p:embed/>
                </p:oleObj>
              </mc:Choice>
              <mc:Fallback>
                <p:oleObj name="Equation" r:id="rId22" imgW="1292117" imgH="304394" progId="Equation.DSMT4">
                  <p:embed/>
                  <p:pic>
                    <p:nvPicPr>
                      <p:cNvPr id="40" name="对象 39"/>
                      <p:cNvPicPr/>
                      <p:nvPr/>
                    </p:nvPicPr>
                    <p:blipFill>
                      <a:blip r:embed="rId23"/>
                      <a:stretch>
                        <a:fillRect/>
                      </a:stretch>
                    </p:blipFill>
                    <p:spPr>
                      <a:xfrm>
                        <a:off x="10556769" y="5129970"/>
                        <a:ext cx="1611816" cy="380183"/>
                      </a:xfrm>
                      <a:prstGeom prst="rect">
                        <a:avLst/>
                      </a:prstGeom>
                    </p:spPr>
                  </p:pic>
                </p:oleObj>
              </mc:Fallback>
            </mc:AlternateContent>
          </a:graphicData>
        </a:graphic>
      </p:graphicFrame>
      <p:sp>
        <p:nvSpPr>
          <p:cNvPr id="41" name="矩形 40"/>
          <p:cNvSpPr/>
          <p:nvPr/>
        </p:nvSpPr>
        <p:spPr>
          <a:xfrm>
            <a:off x="8045111" y="5651725"/>
            <a:ext cx="992579" cy="369332"/>
          </a:xfrm>
          <a:prstGeom prst="rect">
            <a:avLst/>
          </a:prstGeom>
        </p:spPr>
        <p:txBody>
          <a:bodyPr wrap="none">
            <a:spAutoFit/>
          </a:bodyPr>
          <a:lstStyle/>
          <a:p>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smtClean="0">
                <a:latin typeface="Times New Roman" panose="02020603050405020304" pitchFamily="18" charset="0"/>
                <a:ea typeface="宋体" panose="02010600030101010101" pitchFamily="2" charset="-122"/>
              </a:rPr>
              <a:t>5</a:t>
            </a:r>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42" name="矩形 41"/>
          <p:cNvSpPr/>
          <p:nvPr/>
        </p:nvSpPr>
        <p:spPr>
          <a:xfrm>
            <a:off x="8861262" y="5642215"/>
            <a:ext cx="646331" cy="369332"/>
          </a:xfrm>
          <a:prstGeom prst="rect">
            <a:avLst/>
          </a:prstGeom>
        </p:spPr>
        <p:txBody>
          <a:bodyPr wrap="none">
            <a:spAutoFit/>
          </a:bodyPr>
          <a:lstStyle/>
          <a:p>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发送</a:t>
            </a:r>
            <a:endParaRPr lang="zh-CN" altLang="en-US" dirty="0"/>
          </a:p>
        </p:txBody>
      </p:sp>
      <p:graphicFrame>
        <p:nvGraphicFramePr>
          <p:cNvPr id="43" name="对象 42"/>
          <p:cNvGraphicFramePr>
            <a:graphicFrameLocks noChangeAspect="1"/>
          </p:cNvGraphicFramePr>
          <p:nvPr>
            <p:extLst>
              <p:ext uri="{D42A27DB-BD31-4B8C-83A1-F6EECF244321}">
                <p14:modId xmlns:p14="http://schemas.microsoft.com/office/powerpoint/2010/main" val="3149924678"/>
              </p:ext>
            </p:extLst>
          </p:nvPr>
        </p:nvGraphicFramePr>
        <p:xfrm>
          <a:off x="9445930" y="5651725"/>
          <a:ext cx="455877" cy="341908"/>
        </p:xfrm>
        <a:graphic>
          <a:graphicData uri="http://schemas.openxmlformats.org/presentationml/2006/ole">
            <mc:AlternateContent xmlns:mc="http://schemas.openxmlformats.org/markup-compatibility/2006">
              <mc:Choice xmlns:v="urn:schemas-microsoft-com:vml" Requires="v">
                <p:oleObj spid="_x0000_s24758" name="Equation" r:id="rId24" imgW="342242" imgH="256597" progId="Equation.DSMT4">
                  <p:embed/>
                </p:oleObj>
              </mc:Choice>
              <mc:Fallback>
                <p:oleObj name="Equation" r:id="rId24" imgW="342242" imgH="256597" progId="Equation.DSMT4">
                  <p:embed/>
                  <p:pic>
                    <p:nvPicPr>
                      <p:cNvPr id="43" name="对象 42"/>
                      <p:cNvPicPr/>
                      <p:nvPr/>
                    </p:nvPicPr>
                    <p:blipFill>
                      <a:blip r:embed="rId25"/>
                      <a:stretch>
                        <a:fillRect/>
                      </a:stretch>
                    </p:blipFill>
                    <p:spPr>
                      <a:xfrm>
                        <a:off x="9445930" y="5651725"/>
                        <a:ext cx="455877" cy="341908"/>
                      </a:xfrm>
                      <a:prstGeom prst="rect">
                        <a:avLst/>
                      </a:prstGeom>
                    </p:spPr>
                  </p:pic>
                </p:oleObj>
              </mc:Fallback>
            </mc:AlternateContent>
          </a:graphicData>
        </a:graphic>
      </p:graphicFrame>
      <p:sp>
        <p:nvSpPr>
          <p:cNvPr id="44" name="矩形 43"/>
          <p:cNvSpPr/>
          <p:nvPr/>
        </p:nvSpPr>
        <p:spPr>
          <a:xfrm>
            <a:off x="9814816" y="5642215"/>
            <a:ext cx="415498" cy="369332"/>
          </a:xfrm>
          <a:prstGeom prst="rect">
            <a:avLst/>
          </a:prstGeom>
        </p:spPr>
        <p:txBody>
          <a:bodyPr wrap="none">
            <a:spAutoFit/>
          </a:bodyPr>
          <a:lstStyle/>
          <a:p>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和</a:t>
            </a:r>
            <a:endParaRPr lang="zh-CN" altLang="en-US" dirty="0"/>
          </a:p>
        </p:txBody>
      </p:sp>
      <p:graphicFrame>
        <p:nvGraphicFramePr>
          <p:cNvPr id="45" name="对象 44"/>
          <p:cNvGraphicFramePr>
            <a:graphicFrameLocks noChangeAspect="1"/>
          </p:cNvGraphicFramePr>
          <p:nvPr>
            <p:extLst>
              <p:ext uri="{D42A27DB-BD31-4B8C-83A1-F6EECF244321}">
                <p14:modId xmlns:p14="http://schemas.microsoft.com/office/powerpoint/2010/main" val="4004252746"/>
              </p:ext>
            </p:extLst>
          </p:nvPr>
        </p:nvGraphicFramePr>
        <p:xfrm>
          <a:off x="10160305" y="5628010"/>
          <a:ext cx="508492" cy="381369"/>
        </p:xfrm>
        <a:graphic>
          <a:graphicData uri="http://schemas.openxmlformats.org/presentationml/2006/ole">
            <mc:AlternateContent xmlns:mc="http://schemas.openxmlformats.org/markup-compatibility/2006">
              <mc:Choice xmlns:v="urn:schemas-microsoft-com:vml" Requires="v">
                <p:oleObj spid="_x0000_s24759" name="Equation" r:id="rId26" imgW="304175" imgH="228206" progId="Equation.DSMT4">
                  <p:embed/>
                </p:oleObj>
              </mc:Choice>
              <mc:Fallback>
                <p:oleObj name="Equation" r:id="rId26" imgW="304175" imgH="228206" progId="Equation.DSMT4">
                  <p:embed/>
                  <p:pic>
                    <p:nvPicPr>
                      <p:cNvPr id="45" name="对象 44"/>
                      <p:cNvPicPr/>
                      <p:nvPr/>
                    </p:nvPicPr>
                    <p:blipFill>
                      <a:blip r:embed="rId27"/>
                      <a:stretch>
                        <a:fillRect/>
                      </a:stretch>
                    </p:blipFill>
                    <p:spPr>
                      <a:xfrm>
                        <a:off x="10160305" y="5628010"/>
                        <a:ext cx="508492" cy="381369"/>
                      </a:xfrm>
                      <a:prstGeom prst="rect">
                        <a:avLst/>
                      </a:prstGeom>
                    </p:spPr>
                  </p:pic>
                </p:oleObj>
              </mc:Fallback>
            </mc:AlternateContent>
          </a:graphicData>
        </a:graphic>
      </p:graphicFrame>
      <p:sp>
        <p:nvSpPr>
          <p:cNvPr id="46" name="矩形 45"/>
          <p:cNvSpPr/>
          <p:nvPr/>
        </p:nvSpPr>
        <p:spPr>
          <a:xfrm>
            <a:off x="8023669" y="6177929"/>
            <a:ext cx="992579" cy="369332"/>
          </a:xfrm>
          <a:prstGeom prst="rect">
            <a:avLst/>
          </a:prstGeom>
        </p:spPr>
        <p:txBody>
          <a:bodyPr wrap="none">
            <a:spAutoFit/>
          </a:bodyPr>
          <a:lstStyle/>
          <a:p>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a:latin typeface="Times New Roman" panose="02020603050405020304" pitchFamily="18" charset="0"/>
                <a:ea typeface="宋体" panose="02010600030101010101" pitchFamily="2" charset="-122"/>
              </a:rPr>
              <a:t>6</a:t>
            </a:r>
            <a:r>
              <a:rPr lang="zh-CN" altLang="zh-CN"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graphicFrame>
        <p:nvGraphicFramePr>
          <p:cNvPr id="47" name="对象 46"/>
          <p:cNvGraphicFramePr>
            <a:graphicFrameLocks noChangeAspect="1"/>
          </p:cNvGraphicFramePr>
          <p:nvPr>
            <p:extLst>
              <p:ext uri="{D42A27DB-BD31-4B8C-83A1-F6EECF244321}">
                <p14:modId xmlns:p14="http://schemas.microsoft.com/office/powerpoint/2010/main" val="2818446327"/>
              </p:ext>
            </p:extLst>
          </p:nvPr>
        </p:nvGraphicFramePr>
        <p:xfrm>
          <a:off x="8847696" y="6161556"/>
          <a:ext cx="2438150" cy="407419"/>
        </p:xfrm>
        <a:graphic>
          <a:graphicData uri="http://schemas.openxmlformats.org/presentationml/2006/ole">
            <mc:AlternateContent xmlns:mc="http://schemas.openxmlformats.org/markup-compatibility/2006">
              <mc:Choice xmlns:v="urn:schemas-microsoft-com:vml" Requires="v">
                <p:oleObj spid="_x0000_s24760" name="Equation" r:id="rId28" imgW="1824334" imgH="304394" progId="Equation.DSMT4">
                  <p:embed/>
                </p:oleObj>
              </mc:Choice>
              <mc:Fallback>
                <p:oleObj name="Equation" r:id="rId28" imgW="1824334" imgH="304394" progId="Equation.DSMT4">
                  <p:embed/>
                  <p:pic>
                    <p:nvPicPr>
                      <p:cNvPr id="47" name="对象 46"/>
                      <p:cNvPicPr/>
                      <p:nvPr/>
                    </p:nvPicPr>
                    <p:blipFill>
                      <a:blip r:embed="rId29"/>
                      <a:stretch>
                        <a:fillRect/>
                      </a:stretch>
                    </p:blipFill>
                    <p:spPr>
                      <a:xfrm>
                        <a:off x="8847696" y="6161556"/>
                        <a:ext cx="2438150" cy="407419"/>
                      </a:xfrm>
                      <a:prstGeom prst="rect">
                        <a:avLst/>
                      </a:prstGeom>
                    </p:spPr>
                  </p:pic>
                </p:oleObj>
              </mc:Fallback>
            </mc:AlternateContent>
          </a:graphicData>
        </a:graphic>
      </p:graphicFrame>
      <p:sp>
        <p:nvSpPr>
          <p:cNvPr id="48" name="矩形 47"/>
          <p:cNvSpPr/>
          <p:nvPr/>
        </p:nvSpPr>
        <p:spPr>
          <a:xfrm>
            <a:off x="1907171" y="3691960"/>
            <a:ext cx="5928329" cy="3040628"/>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a:off x="8553692" y="1637092"/>
            <a:ext cx="3032566"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latin typeface="微软雅黑" panose="020B0503020204020204" pitchFamily="34" charset="-122"/>
                <a:ea typeface="微软雅黑" panose="020B0503020204020204" pitchFamily="34" charset="-122"/>
              </a:rPr>
              <a:t>分布式关键信息隐藏机制</a:t>
            </a:r>
            <a:endParaRPr lang="zh-CN" altLang="en-US" dirty="0">
              <a:latin typeface="微软雅黑" panose="020B0503020204020204" pitchFamily="34" charset="-122"/>
              <a:ea typeface="微软雅黑" panose="020B0503020204020204" pitchFamily="34" charset="-122"/>
            </a:endParaRPr>
          </a:p>
        </p:txBody>
      </p:sp>
      <p:sp>
        <p:nvSpPr>
          <p:cNvPr id="51" name="矩形 50"/>
          <p:cNvSpPr/>
          <p:nvPr/>
        </p:nvSpPr>
        <p:spPr>
          <a:xfrm>
            <a:off x="7995501" y="1481138"/>
            <a:ext cx="4123474" cy="525145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935844" y="3748506"/>
            <a:ext cx="5761659" cy="2862322"/>
          </a:xfrm>
          <a:prstGeom prst="rect">
            <a:avLst/>
          </a:prstGeom>
        </p:spPr>
        <p:txBody>
          <a:bodyPr wrap="square">
            <a:spAutoFit/>
          </a:bodyPr>
          <a:lstStyle/>
          <a:p>
            <a:pPr indent="266700" algn="just">
              <a:spcAft>
                <a:spcPts val="0"/>
              </a:spcAft>
            </a:pPr>
            <a:r>
              <a:rPr lang="zh-CN" altLang="en-US" kern="100" dirty="0">
                <a:latin typeface="微软雅黑" panose="020B0503020204020204" pitchFamily="34" charset="-122"/>
                <a:ea typeface="微软雅黑" panose="020B0503020204020204" pitchFamily="34" charset="-122"/>
              </a:rPr>
              <a:t>由研究内容</a:t>
            </a:r>
            <a:r>
              <a:rPr lang="en-US" altLang="zh-CN" kern="100" dirty="0">
                <a:latin typeface="微软雅黑" panose="020B0503020204020204" pitchFamily="34" charset="-122"/>
                <a:ea typeface="微软雅黑" panose="020B0503020204020204" pitchFamily="34" charset="-122"/>
              </a:rPr>
              <a:t>2</a:t>
            </a:r>
            <a:r>
              <a:rPr lang="zh-CN" altLang="en-US" kern="100" dirty="0">
                <a:latin typeface="微软雅黑" panose="020B0503020204020204" pitchFamily="34" charset="-122"/>
                <a:ea typeface="微软雅黑" panose="020B0503020204020204" pitchFamily="34" charset="-122"/>
              </a:rPr>
              <a:t>可知，攻击者可以从通信链路上拦截并进行虚假数据注入，从而篡改成本函数导致系统以及聚合商的损失。这是</a:t>
            </a:r>
            <a:r>
              <a:rPr lang="zh-CN" altLang="zh-CN" kern="100" dirty="0">
                <a:latin typeface="微软雅黑" panose="020B0503020204020204" pitchFamily="34" charset="-122"/>
                <a:ea typeface="微软雅黑" panose="020B0503020204020204" pitchFamily="34" charset="-122"/>
              </a:rPr>
              <a:t>由于</a:t>
            </a:r>
            <a:r>
              <a:rPr lang="zh-CN" altLang="en-US" kern="100" dirty="0">
                <a:latin typeface="微软雅黑" panose="020B0503020204020204" pitchFamily="34" charset="-122"/>
                <a:ea typeface="微软雅黑" panose="020B0503020204020204" pitchFamily="34" charset="-122"/>
              </a:rPr>
              <a:t>多能信息</a:t>
            </a:r>
            <a:r>
              <a:rPr lang="en-US" altLang="zh-CN" kern="100" dirty="0">
                <a:latin typeface="微软雅黑" panose="020B0503020204020204" pitchFamily="34" charset="-122"/>
                <a:ea typeface="微软雅黑" panose="020B0503020204020204" pitchFamily="34" charset="-122"/>
              </a:rPr>
              <a:t>-</a:t>
            </a:r>
            <a:r>
              <a:rPr lang="zh-CN" altLang="en-US" kern="100" dirty="0">
                <a:latin typeface="微软雅黑" panose="020B0503020204020204" pitchFamily="34" charset="-122"/>
                <a:ea typeface="微软雅黑" panose="020B0503020204020204" pitchFamily="34" charset="-122"/>
              </a:rPr>
              <a:t>物理系统信息</a:t>
            </a:r>
            <a:r>
              <a:rPr lang="zh-CN" altLang="zh-CN" kern="100" dirty="0">
                <a:latin typeface="微软雅黑" panose="020B0503020204020204" pitchFamily="34" charset="-122"/>
                <a:ea typeface="微软雅黑" panose="020B0503020204020204" pitchFamily="34" charset="-122"/>
              </a:rPr>
              <a:t>层的更新</a:t>
            </a:r>
            <a:r>
              <a:rPr lang="zh-CN" altLang="en-US" kern="100" dirty="0">
                <a:latin typeface="微软雅黑" panose="020B0503020204020204" pitchFamily="34" charset="-122"/>
                <a:ea typeface="微软雅黑" panose="020B0503020204020204" pitchFamily="34" charset="-122"/>
              </a:rPr>
              <a:t>（运营商和聚合商，聚合商和用户）</a:t>
            </a:r>
            <a:r>
              <a:rPr lang="zh-CN" altLang="zh-CN" kern="100" dirty="0">
                <a:latin typeface="微软雅黑" panose="020B0503020204020204" pitchFamily="34" charset="-122"/>
                <a:ea typeface="微软雅黑" panose="020B0503020204020204" pitchFamily="34" charset="-122"/>
              </a:rPr>
              <a:t>需要</a:t>
            </a:r>
            <a:r>
              <a:rPr lang="zh-CN" altLang="en-US" kern="100" dirty="0">
                <a:latin typeface="微软雅黑" panose="020B0503020204020204" pitchFamily="34" charset="-122"/>
                <a:ea typeface="微软雅黑" panose="020B0503020204020204" pitchFamily="34" charset="-122"/>
              </a:rPr>
              <a:t>频繁</a:t>
            </a:r>
            <a:r>
              <a:rPr lang="zh-CN" altLang="zh-CN" kern="100" dirty="0">
                <a:latin typeface="微软雅黑" panose="020B0503020204020204" pitchFamily="34" charset="-122"/>
                <a:ea typeface="微软雅黑" panose="020B0503020204020204" pitchFamily="34" charset="-122"/>
              </a:rPr>
              <a:t>进行信息交换，</a:t>
            </a:r>
            <a:r>
              <a:rPr lang="zh-CN" altLang="en-US" kern="100" dirty="0">
                <a:latin typeface="微软雅黑" panose="020B0503020204020204" pitchFamily="34" charset="-122"/>
                <a:ea typeface="微软雅黑" panose="020B0503020204020204" pitchFamily="34" charset="-122"/>
              </a:rPr>
              <a:t>而</a:t>
            </a:r>
            <a:r>
              <a:rPr lang="zh-CN" altLang="zh-CN" kern="100" dirty="0">
                <a:latin typeface="微软雅黑" panose="020B0503020204020204" pitchFamily="34" charset="-122"/>
                <a:ea typeface="微软雅黑" panose="020B0503020204020204" pitchFamily="34" charset="-122"/>
              </a:rPr>
              <a:t>这些信息的传递通常是在保护</a:t>
            </a:r>
            <a:r>
              <a:rPr lang="zh-CN" altLang="en-US" kern="100" dirty="0">
                <a:latin typeface="微软雅黑" panose="020B0503020204020204" pitchFamily="34" charset="-122"/>
                <a:ea typeface="微软雅黑" panose="020B0503020204020204" pitchFamily="34" charset="-122"/>
              </a:rPr>
              <a:t>较弱</a:t>
            </a:r>
            <a:r>
              <a:rPr lang="zh-CN" altLang="zh-CN" kern="100" dirty="0">
                <a:latin typeface="微软雅黑" panose="020B0503020204020204" pitchFamily="34" charset="-122"/>
                <a:ea typeface="微软雅黑" panose="020B0503020204020204" pitchFamily="34" charset="-122"/>
              </a:rPr>
              <a:t>的通信链路上进行的</a:t>
            </a:r>
            <a:r>
              <a:rPr lang="zh-CN" altLang="en-US" kern="100" dirty="0">
                <a:latin typeface="微软雅黑" panose="020B0503020204020204" pitchFamily="34" charset="-122"/>
                <a:ea typeface="微软雅黑" panose="020B0503020204020204" pitchFamily="34" charset="-122"/>
              </a:rPr>
              <a:t>，这样</a:t>
            </a:r>
            <a:r>
              <a:rPr lang="zh-CN" altLang="zh-CN" kern="100" dirty="0">
                <a:latin typeface="微软雅黑" panose="020B0503020204020204" pitchFamily="34" charset="-122"/>
                <a:ea typeface="微软雅黑" panose="020B0503020204020204" pitchFamily="34" charset="-122"/>
              </a:rPr>
              <a:t>恶意攻击者</a:t>
            </a:r>
            <a:r>
              <a:rPr lang="zh-CN" altLang="en-US" kern="100" dirty="0">
                <a:latin typeface="微软雅黑" panose="020B0503020204020204" pitchFamily="34" charset="-122"/>
                <a:ea typeface="微软雅黑" panose="020B0503020204020204" pitchFamily="34" charset="-122"/>
              </a:rPr>
              <a:t>会</a:t>
            </a:r>
            <a:r>
              <a:rPr lang="zh-CN" altLang="zh-CN" kern="100" dirty="0">
                <a:latin typeface="微软雅黑" panose="020B0503020204020204" pitchFamily="34" charset="-122"/>
                <a:ea typeface="微软雅黑" panose="020B0503020204020204" pitchFamily="34" charset="-122"/>
              </a:rPr>
              <a:t>先收集目标系统的关键信息，并根据收集到的信息为进一步攻击做准备。为了解决这一问题，引入了一种</a:t>
            </a:r>
            <a:r>
              <a:rPr lang="zh-CN" altLang="zh-CN" kern="100" dirty="0">
                <a:solidFill>
                  <a:srgbClr val="FF0000"/>
                </a:solidFill>
                <a:latin typeface="微软雅黑" panose="020B0503020204020204" pitchFamily="34" charset="-122"/>
                <a:ea typeface="微软雅黑" panose="020B0503020204020204" pitchFamily="34" charset="-122"/>
              </a:rPr>
              <a:t>状态分解</a:t>
            </a:r>
            <a:r>
              <a:rPr lang="zh-CN" altLang="zh-CN" kern="100" dirty="0">
                <a:latin typeface="微软雅黑" panose="020B0503020204020204" pitchFamily="34" charset="-122"/>
                <a:ea typeface="微软雅黑" panose="020B0503020204020204" pitchFamily="34" charset="-122"/>
              </a:rPr>
              <a:t>机制，用于掩盖智能体间传递的信息，使攻击者无法直接获取到</a:t>
            </a:r>
            <a:r>
              <a:rPr lang="zh-CN" altLang="en-US" kern="100" dirty="0">
                <a:latin typeface="微软雅黑" panose="020B0503020204020204" pitchFamily="34" charset="-122"/>
                <a:ea typeface="微软雅黑" panose="020B0503020204020204" pitchFamily="34" charset="-122"/>
              </a:rPr>
              <a:t>多能信息物理系统间传递</a:t>
            </a:r>
            <a:r>
              <a:rPr lang="zh-CN" altLang="zh-CN" kern="100" dirty="0">
                <a:latin typeface="微软雅黑" panose="020B0503020204020204" pitchFamily="34" charset="-122"/>
                <a:ea typeface="微软雅黑" panose="020B0503020204020204" pitchFamily="34" charset="-122"/>
              </a:rPr>
              <a:t>的真实关键信息。</a:t>
            </a:r>
          </a:p>
        </p:txBody>
      </p:sp>
    </p:spTree>
  </p:cSld>
  <p:clrMapOvr>
    <a:masterClrMapping/>
  </p:clrMapOvr>
  <mc:AlternateContent xmlns:mc="http://schemas.openxmlformats.org/markup-compatibility/2006" xmlns:p14="http://schemas.microsoft.com/office/powerpoint/2010/main">
    <mc:Choice Requires="p14">
      <p:transition p14:dur="0" advTm="6901"/>
    </mc:Choice>
    <mc:Fallback xmlns="">
      <p:transition advTm="6901"/>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1"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73739" name="标题 1"/>
          <p:cNvSpPr txBox="1"/>
          <p:nvPr/>
        </p:nvSpPr>
        <p:spPr>
          <a:xfrm>
            <a:off x="2620963" y="242888"/>
            <a:ext cx="94059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3.3</a:t>
            </a:r>
            <a:r>
              <a:rPr lang="zh-CN" altLang="en-US" sz="3200" b="1" dirty="0">
                <a:latin typeface="微软雅黑" panose="020B0503020204020204" pitchFamily="34" charset="-122"/>
                <a:ea typeface="微软雅黑" panose="020B0503020204020204" pitchFamily="34" charset="-122"/>
              </a:rPr>
              <a:t>：考虑攻击风险的双重保护</a:t>
            </a:r>
            <a:r>
              <a:rPr lang="zh-CN" altLang="en-US" sz="3200" b="1" dirty="0" smtClean="0">
                <a:latin typeface="微软雅黑" panose="020B0503020204020204" pitchFamily="34" charset="-122"/>
                <a:ea typeface="微软雅黑" panose="020B0503020204020204" pitchFamily="34" charset="-122"/>
              </a:rPr>
              <a:t>机制</a:t>
            </a: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73742"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pic>
        <p:nvPicPr>
          <p:cNvPr id="31" name="图片 30"/>
          <p:cNvPicPr>
            <a:picLocks noChangeAspect="1"/>
          </p:cNvPicPr>
          <p:nvPr/>
        </p:nvPicPr>
        <p:blipFill>
          <a:blip r:embed="rId5"/>
          <a:stretch>
            <a:fillRect/>
          </a:stretch>
        </p:blipFill>
        <p:spPr>
          <a:xfrm>
            <a:off x="2034558" y="1441481"/>
            <a:ext cx="3786929" cy="2887331"/>
          </a:xfrm>
          <a:prstGeom prst="rect">
            <a:avLst/>
          </a:prstGeom>
        </p:spPr>
      </p:pic>
      <p:sp>
        <p:nvSpPr>
          <p:cNvPr id="33" name="矩形 32"/>
          <p:cNvSpPr/>
          <p:nvPr/>
        </p:nvSpPr>
        <p:spPr>
          <a:xfrm>
            <a:off x="3026218" y="4218698"/>
            <a:ext cx="1800493"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监测网络示意图</a:t>
            </a:r>
            <a:endParaRPr lang="zh-CN" altLang="en-US" dirty="0">
              <a:latin typeface="微软雅黑" panose="020B0503020204020204" pitchFamily="34" charset="-122"/>
              <a:ea typeface="微软雅黑" panose="020B0503020204020204" pitchFamily="34" charset="-122"/>
            </a:endParaRPr>
          </a:p>
        </p:txBody>
      </p:sp>
      <p:sp>
        <p:nvSpPr>
          <p:cNvPr id="35" name="矩形 34"/>
          <p:cNvSpPr/>
          <p:nvPr/>
        </p:nvSpPr>
        <p:spPr>
          <a:xfrm>
            <a:off x="9773748" y="6460158"/>
            <a:ext cx="1728782" cy="374461"/>
          </a:xfrm>
          <a:prstGeom prst="rect">
            <a:avLst/>
          </a:prstGeom>
        </p:spPr>
        <p:txBody>
          <a:bodyPr wrap="square">
            <a:spAutoFit/>
          </a:bodyPr>
          <a:lstStyle/>
          <a:p>
            <a:pPr indent="304800" algn="just">
              <a:lnSpc>
                <a:spcPts val="2200"/>
              </a:lnSpc>
            </a:pPr>
            <a:r>
              <a:rPr lang="zh-CN" altLang="zh-CN" kern="100" dirty="0">
                <a:latin typeface="+mn-ea"/>
                <a:cs typeface="Times New Roman" panose="02020603050405020304" pitchFamily="18" charset="0"/>
              </a:rPr>
              <a:t>监测流程图</a:t>
            </a:r>
            <a:endParaRPr lang="zh-CN" altLang="en-US" kern="100" dirty="0">
              <a:latin typeface="+mn-ea"/>
              <a:cs typeface="Times New Roman" panose="02020603050405020304" pitchFamily="18" charset="0"/>
            </a:endParaRPr>
          </a:p>
        </p:txBody>
      </p:sp>
      <p:sp>
        <p:nvSpPr>
          <p:cNvPr id="36" name="矩形 35"/>
          <p:cNvSpPr/>
          <p:nvPr/>
        </p:nvSpPr>
        <p:spPr>
          <a:xfrm>
            <a:off x="2074316" y="5062525"/>
            <a:ext cx="3743974" cy="1502976"/>
          </a:xfrm>
          <a:prstGeom prst="rect">
            <a:avLst/>
          </a:prstGeom>
        </p:spPr>
        <p:txBody>
          <a:bodyPr wrap="square">
            <a:spAutoFit/>
          </a:bodyPr>
          <a:lstStyle/>
          <a:p>
            <a:pPr algn="just">
              <a:lnSpc>
                <a:spcPts val="2200"/>
              </a:lnSpc>
              <a:spcAft>
                <a:spcPts val="0"/>
              </a:spcAft>
            </a:pP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本文</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首先构建监视网络监控各子系统中智能体，监视网络如</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图所</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示，这里的监视网络属于通讯冗余网络，只对可疑智能体的状态进行监测，并不参与到调度的状态</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更新</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7" name="对象 36"/>
          <p:cNvGraphicFramePr>
            <a:graphicFrameLocks noChangeAspect="1"/>
          </p:cNvGraphicFramePr>
          <p:nvPr>
            <p:extLst>
              <p:ext uri="{D42A27DB-BD31-4B8C-83A1-F6EECF244321}">
                <p14:modId xmlns:p14="http://schemas.microsoft.com/office/powerpoint/2010/main" val="2062436913"/>
              </p:ext>
            </p:extLst>
          </p:nvPr>
        </p:nvGraphicFramePr>
        <p:xfrm>
          <a:off x="6340492" y="1461125"/>
          <a:ext cx="2794000" cy="635000"/>
        </p:xfrm>
        <a:graphic>
          <a:graphicData uri="http://schemas.openxmlformats.org/presentationml/2006/ole">
            <mc:AlternateContent xmlns:mc="http://schemas.openxmlformats.org/markup-compatibility/2006">
              <mc:Choice xmlns:v="urn:schemas-microsoft-com:vml" Requires="v">
                <p:oleObj spid="_x0000_s25747" name="Equation" r:id="rId6" imgW="2793960" imgH="634680" progId="Equation.DSMT4">
                  <p:embed/>
                </p:oleObj>
              </mc:Choice>
              <mc:Fallback>
                <p:oleObj name="Equation" r:id="rId6" imgW="2793960" imgH="634680" progId="Equation.DSMT4">
                  <p:embed/>
                  <p:pic>
                    <p:nvPicPr>
                      <p:cNvPr id="13" name="对象 12"/>
                      <p:cNvPicPr/>
                      <p:nvPr/>
                    </p:nvPicPr>
                    <p:blipFill>
                      <a:blip r:embed="rId7"/>
                      <a:stretch>
                        <a:fillRect/>
                      </a:stretch>
                    </p:blipFill>
                    <p:spPr>
                      <a:xfrm>
                        <a:off x="6340492" y="1461125"/>
                        <a:ext cx="2794000" cy="635000"/>
                      </a:xfrm>
                      <a:prstGeom prst="rect">
                        <a:avLst/>
                      </a:prstGeom>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598076775"/>
              </p:ext>
            </p:extLst>
          </p:nvPr>
        </p:nvGraphicFramePr>
        <p:xfrm>
          <a:off x="6321134" y="2185036"/>
          <a:ext cx="2768600" cy="635000"/>
        </p:xfrm>
        <a:graphic>
          <a:graphicData uri="http://schemas.openxmlformats.org/presentationml/2006/ole">
            <mc:AlternateContent xmlns:mc="http://schemas.openxmlformats.org/markup-compatibility/2006">
              <mc:Choice xmlns:v="urn:schemas-microsoft-com:vml" Requires="v">
                <p:oleObj spid="_x0000_s25748" name="Equation" r:id="rId8" imgW="2768400" imgH="634680" progId="Equation.DSMT4">
                  <p:embed/>
                </p:oleObj>
              </mc:Choice>
              <mc:Fallback>
                <p:oleObj name="Equation" r:id="rId8" imgW="2768400" imgH="634680" progId="Equation.DSMT4">
                  <p:embed/>
                  <p:pic>
                    <p:nvPicPr>
                      <p:cNvPr id="15" name="对象 14"/>
                      <p:cNvPicPr/>
                      <p:nvPr/>
                    </p:nvPicPr>
                    <p:blipFill>
                      <a:blip r:embed="rId9"/>
                      <a:stretch>
                        <a:fillRect/>
                      </a:stretch>
                    </p:blipFill>
                    <p:spPr>
                      <a:xfrm>
                        <a:off x="6321134" y="2185036"/>
                        <a:ext cx="2768600" cy="635000"/>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2804220517"/>
              </p:ext>
            </p:extLst>
          </p:nvPr>
        </p:nvGraphicFramePr>
        <p:xfrm>
          <a:off x="6340492" y="2961450"/>
          <a:ext cx="1985963" cy="276225"/>
        </p:xfrm>
        <a:graphic>
          <a:graphicData uri="http://schemas.openxmlformats.org/presentationml/2006/ole">
            <mc:AlternateContent xmlns:mc="http://schemas.openxmlformats.org/markup-compatibility/2006">
              <mc:Choice xmlns:v="urn:schemas-microsoft-com:vml" Requires="v">
                <p:oleObj spid="_x0000_s25749" name="Equation" r:id="rId10" imgW="1985938" imgH="275644" progId="Equation.DSMT4">
                  <p:embed/>
                </p:oleObj>
              </mc:Choice>
              <mc:Fallback>
                <p:oleObj name="Equation" r:id="rId10" imgW="1985938" imgH="275644" progId="Equation.DSMT4">
                  <p:embed/>
                  <p:pic>
                    <p:nvPicPr>
                      <p:cNvPr id="18" name="对象 17"/>
                      <p:cNvPicPr/>
                      <p:nvPr/>
                    </p:nvPicPr>
                    <p:blipFill>
                      <a:blip r:embed="rId11"/>
                      <a:stretch>
                        <a:fillRect/>
                      </a:stretch>
                    </p:blipFill>
                    <p:spPr>
                      <a:xfrm>
                        <a:off x="6340492" y="2961450"/>
                        <a:ext cx="1985963" cy="276225"/>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2005092782"/>
              </p:ext>
            </p:extLst>
          </p:nvPr>
        </p:nvGraphicFramePr>
        <p:xfrm>
          <a:off x="6321134" y="3379089"/>
          <a:ext cx="1966913" cy="276225"/>
        </p:xfrm>
        <a:graphic>
          <a:graphicData uri="http://schemas.openxmlformats.org/presentationml/2006/ole">
            <mc:AlternateContent xmlns:mc="http://schemas.openxmlformats.org/markup-compatibility/2006">
              <mc:Choice xmlns:v="urn:schemas-microsoft-com:vml" Requires="v">
                <p:oleObj spid="_x0000_s25750" name="Equation" r:id="rId12" imgW="1966905" imgH="275644" progId="Equation.DSMT4">
                  <p:embed/>
                </p:oleObj>
              </mc:Choice>
              <mc:Fallback>
                <p:oleObj name="Equation" r:id="rId12" imgW="1966905" imgH="275644" progId="Equation.DSMT4">
                  <p:embed/>
                  <p:pic>
                    <p:nvPicPr>
                      <p:cNvPr id="19" name="对象 18"/>
                      <p:cNvPicPr/>
                      <p:nvPr/>
                    </p:nvPicPr>
                    <p:blipFill>
                      <a:blip r:embed="rId13"/>
                      <a:stretch>
                        <a:fillRect/>
                      </a:stretch>
                    </p:blipFill>
                    <p:spPr>
                      <a:xfrm>
                        <a:off x="6321134" y="3379089"/>
                        <a:ext cx="1966913" cy="276225"/>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1196989209"/>
              </p:ext>
            </p:extLst>
          </p:nvPr>
        </p:nvGraphicFramePr>
        <p:xfrm>
          <a:off x="6307154" y="3759297"/>
          <a:ext cx="2052637" cy="276225"/>
        </p:xfrm>
        <a:graphic>
          <a:graphicData uri="http://schemas.openxmlformats.org/presentationml/2006/ole">
            <mc:AlternateContent xmlns:mc="http://schemas.openxmlformats.org/markup-compatibility/2006">
              <mc:Choice xmlns:v="urn:schemas-microsoft-com:vml" Requires="v">
                <p:oleObj spid="_x0000_s25751" name="Equation" r:id="rId14" imgW="2052375" imgH="275644" progId="Equation.DSMT4">
                  <p:embed/>
                </p:oleObj>
              </mc:Choice>
              <mc:Fallback>
                <p:oleObj name="Equation" r:id="rId14" imgW="2052375" imgH="275644" progId="Equation.DSMT4">
                  <p:embed/>
                  <p:pic>
                    <p:nvPicPr>
                      <p:cNvPr id="22" name="对象 21"/>
                      <p:cNvPicPr/>
                      <p:nvPr/>
                    </p:nvPicPr>
                    <p:blipFill>
                      <a:blip r:embed="rId15"/>
                      <a:stretch>
                        <a:fillRect/>
                      </a:stretch>
                    </p:blipFill>
                    <p:spPr>
                      <a:xfrm>
                        <a:off x="6307154" y="3759297"/>
                        <a:ext cx="2052637" cy="276225"/>
                      </a:xfrm>
                      <a:prstGeom prst="rect">
                        <a:avLst/>
                      </a:prstGeom>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3083464872"/>
              </p:ext>
            </p:extLst>
          </p:nvPr>
        </p:nvGraphicFramePr>
        <p:xfrm>
          <a:off x="6283033" y="4117017"/>
          <a:ext cx="2043113" cy="276225"/>
        </p:xfrm>
        <a:graphic>
          <a:graphicData uri="http://schemas.openxmlformats.org/presentationml/2006/ole">
            <mc:AlternateContent xmlns:mc="http://schemas.openxmlformats.org/markup-compatibility/2006">
              <mc:Choice xmlns:v="urn:schemas-microsoft-com:vml" Requires="v">
                <p:oleObj spid="_x0000_s25752" name="Equation" r:id="rId16" imgW="2043038" imgH="275644" progId="Equation.DSMT4">
                  <p:embed/>
                </p:oleObj>
              </mc:Choice>
              <mc:Fallback>
                <p:oleObj name="Equation" r:id="rId16" imgW="2043038" imgH="275644" progId="Equation.DSMT4">
                  <p:embed/>
                  <p:pic>
                    <p:nvPicPr>
                      <p:cNvPr id="23" name="对象 22"/>
                      <p:cNvPicPr/>
                      <p:nvPr/>
                    </p:nvPicPr>
                    <p:blipFill>
                      <a:blip r:embed="rId17"/>
                      <a:stretch>
                        <a:fillRect/>
                      </a:stretch>
                    </p:blipFill>
                    <p:spPr>
                      <a:xfrm>
                        <a:off x="6283033" y="4117017"/>
                        <a:ext cx="2043113" cy="276225"/>
                      </a:xfrm>
                      <a:prstGeom prst="rect">
                        <a:avLst/>
                      </a:prstGeom>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1628150363"/>
              </p:ext>
            </p:extLst>
          </p:nvPr>
        </p:nvGraphicFramePr>
        <p:xfrm>
          <a:off x="6307202" y="5078997"/>
          <a:ext cx="2279650" cy="371475"/>
        </p:xfrm>
        <a:graphic>
          <a:graphicData uri="http://schemas.openxmlformats.org/presentationml/2006/ole">
            <mc:AlternateContent xmlns:mc="http://schemas.openxmlformats.org/markup-compatibility/2006">
              <mc:Choice xmlns:v="urn:schemas-microsoft-com:vml" Requires="v">
                <p:oleObj spid="_x0000_s25753" name="Equation" r:id="rId18" imgW="2280417" imgH="370879" progId="Equation.DSMT4">
                  <p:embed/>
                </p:oleObj>
              </mc:Choice>
              <mc:Fallback>
                <p:oleObj name="Equation" r:id="rId18" imgW="2280417" imgH="370879" progId="Equation.DSMT4">
                  <p:embed/>
                  <p:pic>
                    <p:nvPicPr>
                      <p:cNvPr id="26" name="对象 25"/>
                      <p:cNvPicPr/>
                      <p:nvPr/>
                    </p:nvPicPr>
                    <p:blipFill>
                      <a:blip r:embed="rId19"/>
                      <a:stretch>
                        <a:fillRect/>
                      </a:stretch>
                    </p:blipFill>
                    <p:spPr>
                      <a:xfrm>
                        <a:off x="6307202" y="5078997"/>
                        <a:ext cx="2279650" cy="371475"/>
                      </a:xfrm>
                      <a:prstGeom prst="rect">
                        <a:avLst/>
                      </a:prstGeom>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4031540946"/>
              </p:ext>
            </p:extLst>
          </p:nvPr>
        </p:nvGraphicFramePr>
        <p:xfrm>
          <a:off x="6342798" y="5442538"/>
          <a:ext cx="2279650" cy="371475"/>
        </p:xfrm>
        <a:graphic>
          <a:graphicData uri="http://schemas.openxmlformats.org/presentationml/2006/ole">
            <mc:AlternateContent xmlns:mc="http://schemas.openxmlformats.org/markup-compatibility/2006">
              <mc:Choice xmlns:v="urn:schemas-microsoft-com:vml" Requires="v">
                <p:oleObj spid="_x0000_s25754" name="Equation" r:id="rId20" imgW="2280417" imgH="370879" progId="Equation.DSMT4">
                  <p:embed/>
                </p:oleObj>
              </mc:Choice>
              <mc:Fallback>
                <p:oleObj name="Equation" r:id="rId20" imgW="2280417" imgH="370879" progId="Equation.DSMT4">
                  <p:embed/>
                  <p:pic>
                    <p:nvPicPr>
                      <p:cNvPr id="27" name="对象 26"/>
                      <p:cNvPicPr/>
                      <p:nvPr/>
                    </p:nvPicPr>
                    <p:blipFill>
                      <a:blip r:embed="rId21"/>
                      <a:stretch>
                        <a:fillRect/>
                      </a:stretch>
                    </p:blipFill>
                    <p:spPr>
                      <a:xfrm>
                        <a:off x="6342798" y="5442538"/>
                        <a:ext cx="2279650" cy="371475"/>
                      </a:xfrm>
                      <a:prstGeom prst="rect">
                        <a:avLst/>
                      </a:prstGeom>
                    </p:spPr>
                  </p:pic>
                </p:oleObj>
              </mc:Fallback>
            </mc:AlternateContent>
          </a:graphicData>
        </a:graphic>
      </p:graphicFrame>
      <p:graphicFrame>
        <p:nvGraphicFramePr>
          <p:cNvPr id="46" name="对象 45"/>
          <p:cNvGraphicFramePr>
            <a:graphicFrameLocks noChangeAspect="1"/>
          </p:cNvGraphicFramePr>
          <p:nvPr>
            <p:extLst>
              <p:ext uri="{D42A27DB-BD31-4B8C-83A1-F6EECF244321}">
                <p14:modId xmlns:p14="http://schemas.microsoft.com/office/powerpoint/2010/main" val="1250411141"/>
              </p:ext>
            </p:extLst>
          </p:nvPr>
        </p:nvGraphicFramePr>
        <p:xfrm>
          <a:off x="6343464" y="5728264"/>
          <a:ext cx="1671637" cy="484187"/>
        </p:xfrm>
        <a:graphic>
          <a:graphicData uri="http://schemas.openxmlformats.org/presentationml/2006/ole">
            <mc:AlternateContent xmlns:mc="http://schemas.openxmlformats.org/markup-compatibility/2006">
              <mc:Choice xmlns:v="urn:schemas-microsoft-com:vml" Requires="v">
                <p:oleObj spid="_x0000_s25755" name="Equation" r:id="rId22" imgW="1672426" imgH="484803" progId="Equation.DSMT4">
                  <p:embed/>
                </p:oleObj>
              </mc:Choice>
              <mc:Fallback>
                <p:oleObj name="Equation" r:id="rId22" imgW="1672426" imgH="484803" progId="Equation.DSMT4">
                  <p:embed/>
                  <p:pic>
                    <p:nvPicPr>
                      <p:cNvPr id="28" name="对象 27"/>
                      <p:cNvPicPr/>
                      <p:nvPr/>
                    </p:nvPicPr>
                    <p:blipFill>
                      <a:blip r:embed="rId23"/>
                      <a:stretch>
                        <a:fillRect/>
                      </a:stretch>
                    </p:blipFill>
                    <p:spPr>
                      <a:xfrm>
                        <a:off x="6343464" y="5728264"/>
                        <a:ext cx="1671637" cy="484187"/>
                      </a:xfrm>
                      <a:prstGeom prst="rect">
                        <a:avLst/>
                      </a:prstGeom>
                    </p:spPr>
                  </p:pic>
                </p:oleObj>
              </mc:Fallback>
            </mc:AlternateContent>
          </a:graphicData>
        </a:graphic>
      </p:graphicFrame>
      <p:graphicFrame>
        <p:nvGraphicFramePr>
          <p:cNvPr id="47" name="对象 46"/>
          <p:cNvGraphicFramePr>
            <a:graphicFrameLocks noChangeAspect="1"/>
          </p:cNvGraphicFramePr>
          <p:nvPr>
            <p:extLst>
              <p:ext uri="{D42A27DB-BD31-4B8C-83A1-F6EECF244321}">
                <p14:modId xmlns:p14="http://schemas.microsoft.com/office/powerpoint/2010/main" val="2981270454"/>
              </p:ext>
            </p:extLst>
          </p:nvPr>
        </p:nvGraphicFramePr>
        <p:xfrm>
          <a:off x="6343464" y="6177554"/>
          <a:ext cx="1671637" cy="484187"/>
        </p:xfrm>
        <a:graphic>
          <a:graphicData uri="http://schemas.openxmlformats.org/presentationml/2006/ole">
            <mc:AlternateContent xmlns:mc="http://schemas.openxmlformats.org/markup-compatibility/2006">
              <mc:Choice xmlns:v="urn:schemas-microsoft-com:vml" Requires="v">
                <p:oleObj spid="_x0000_s25756" name="Equation" r:id="rId24" imgW="1672426" imgH="484803" progId="Equation.DSMT4">
                  <p:embed/>
                </p:oleObj>
              </mc:Choice>
              <mc:Fallback>
                <p:oleObj name="Equation" r:id="rId24" imgW="1672426" imgH="484803" progId="Equation.DSMT4">
                  <p:embed/>
                  <p:pic>
                    <p:nvPicPr>
                      <p:cNvPr id="29" name="对象 28"/>
                      <p:cNvPicPr/>
                      <p:nvPr/>
                    </p:nvPicPr>
                    <p:blipFill>
                      <a:blip r:embed="rId25"/>
                      <a:stretch>
                        <a:fillRect/>
                      </a:stretch>
                    </p:blipFill>
                    <p:spPr>
                      <a:xfrm>
                        <a:off x="6343464" y="6177554"/>
                        <a:ext cx="1671637" cy="484187"/>
                      </a:xfrm>
                      <a:prstGeom prst="rect">
                        <a:avLst/>
                      </a:prstGeom>
                    </p:spPr>
                  </p:pic>
                </p:oleObj>
              </mc:Fallback>
            </mc:AlternateContent>
          </a:graphicData>
        </a:graphic>
      </p:graphicFrame>
      <p:sp>
        <p:nvSpPr>
          <p:cNvPr id="48" name="矩形 47"/>
          <p:cNvSpPr/>
          <p:nvPr/>
        </p:nvSpPr>
        <p:spPr>
          <a:xfrm>
            <a:off x="6103265" y="1415432"/>
            <a:ext cx="3139069" cy="2994477"/>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103265" y="5001193"/>
            <a:ext cx="3139069" cy="1660548"/>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2" name="图片 51"/>
          <p:cNvPicPr>
            <a:picLocks noChangeAspect="1"/>
          </p:cNvPicPr>
          <p:nvPr/>
        </p:nvPicPr>
        <p:blipFill>
          <a:blip r:embed="rId26"/>
          <a:stretch>
            <a:fillRect/>
          </a:stretch>
        </p:blipFill>
        <p:spPr>
          <a:xfrm>
            <a:off x="9305719" y="785270"/>
            <a:ext cx="2848032" cy="5731537"/>
          </a:xfrm>
          <a:prstGeom prst="rect">
            <a:avLst/>
          </a:prstGeom>
        </p:spPr>
      </p:pic>
      <p:sp>
        <p:nvSpPr>
          <p:cNvPr id="53" name="矩形 52"/>
          <p:cNvSpPr/>
          <p:nvPr/>
        </p:nvSpPr>
        <p:spPr>
          <a:xfrm>
            <a:off x="2032690" y="4935045"/>
            <a:ext cx="3785600" cy="1726696"/>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nvSpPr>
        <p:spPr>
          <a:xfrm>
            <a:off x="6194522" y="951660"/>
            <a:ext cx="2939970"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04800" algn="just">
              <a:lnSpc>
                <a:spcPts val="2200"/>
              </a:lnSpc>
            </a:pP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增量成本的上下限估计</a:t>
            </a:r>
            <a:endParaRPr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7" name="圆角矩形 56"/>
          <p:cNvSpPr/>
          <p:nvPr/>
        </p:nvSpPr>
        <p:spPr>
          <a:xfrm>
            <a:off x="6075474" y="4551323"/>
            <a:ext cx="3194649"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04800" algn="just">
              <a:lnSpc>
                <a:spcPts val="22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局部功率失配上下限估计</a:t>
            </a:r>
            <a:endParaRPr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advTm="5715"/>
    </mc:Choice>
    <mc:Fallback xmlns="">
      <p:transition advTm="5715"/>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1"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73739" name="标题 1"/>
          <p:cNvSpPr txBox="1"/>
          <p:nvPr/>
        </p:nvSpPr>
        <p:spPr>
          <a:xfrm>
            <a:off x="2620963" y="242888"/>
            <a:ext cx="94059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3.3</a:t>
            </a:r>
            <a:r>
              <a:rPr lang="zh-CN" altLang="en-US" sz="3200" b="1" dirty="0">
                <a:latin typeface="微软雅黑" panose="020B0503020204020204" pitchFamily="34" charset="-122"/>
                <a:ea typeface="微软雅黑" panose="020B0503020204020204" pitchFamily="34" charset="-122"/>
              </a:rPr>
              <a:t>：考虑攻击风险的双重保护机制</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73742"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pic>
        <p:nvPicPr>
          <p:cNvPr id="28" name="图片 27"/>
          <p:cNvPicPr>
            <a:picLocks noChangeAspect="1"/>
          </p:cNvPicPr>
          <p:nvPr/>
        </p:nvPicPr>
        <p:blipFill>
          <a:blip r:embed="rId5"/>
          <a:stretch>
            <a:fillRect/>
          </a:stretch>
        </p:blipFill>
        <p:spPr>
          <a:xfrm>
            <a:off x="5997117" y="1049808"/>
            <a:ext cx="6194883" cy="4184532"/>
          </a:xfrm>
          <a:prstGeom prst="rect">
            <a:avLst/>
          </a:prstGeom>
        </p:spPr>
      </p:pic>
      <p:sp>
        <p:nvSpPr>
          <p:cNvPr id="29" name="矩形 28"/>
          <p:cNvSpPr/>
          <p:nvPr/>
        </p:nvSpPr>
        <p:spPr>
          <a:xfrm>
            <a:off x="6067218" y="5171043"/>
            <a:ext cx="6341806" cy="369332"/>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考虑聚合商风险的多能信息物理系统分布式经济调度流程图</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Rectangle 2"/>
          <p:cNvSpPr>
            <a:spLocks noChangeArrowheads="1"/>
          </p:cNvSpPr>
          <p:nvPr/>
        </p:nvSpPr>
        <p:spPr bwMode="auto">
          <a:xfrm>
            <a:off x="2094035" y="15798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1" name="对象 30"/>
          <p:cNvGraphicFramePr>
            <a:graphicFrameLocks noChangeAspect="1"/>
          </p:cNvGraphicFramePr>
          <p:nvPr>
            <p:extLst>
              <p:ext uri="{D42A27DB-BD31-4B8C-83A1-F6EECF244321}">
                <p14:modId xmlns:p14="http://schemas.microsoft.com/office/powerpoint/2010/main" val="3229787307"/>
              </p:ext>
            </p:extLst>
          </p:nvPr>
        </p:nvGraphicFramePr>
        <p:xfrm>
          <a:off x="2007468" y="937017"/>
          <a:ext cx="3745150" cy="2353101"/>
        </p:xfrm>
        <a:graphic>
          <a:graphicData uri="http://schemas.openxmlformats.org/presentationml/2006/ole">
            <mc:AlternateContent xmlns:mc="http://schemas.openxmlformats.org/markup-compatibility/2006">
              <mc:Choice xmlns:v="urn:schemas-microsoft-com:vml" Requires="v">
                <p:oleObj spid="_x0000_s20197" name="Visio" r:id="rId6" imgW="6210286" imgH="3954656" progId="Visio.Drawing.15">
                  <p:embed/>
                </p:oleObj>
              </mc:Choice>
              <mc:Fallback>
                <p:oleObj name="Visio" r:id="rId6" imgW="6210286" imgH="3954656" progId="Visio.Drawing.15">
                  <p:embed/>
                  <p:pic>
                    <p:nvPicPr>
                      <p:cNvPr id="14" name="对象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7468" y="937017"/>
                        <a:ext cx="3745150" cy="2353101"/>
                      </a:xfrm>
                      <a:prstGeom prst="rect">
                        <a:avLst/>
                      </a:prstGeom>
                      <a:noFill/>
                    </p:spPr>
                  </p:pic>
                </p:oleObj>
              </mc:Fallback>
            </mc:AlternateContent>
          </a:graphicData>
        </a:graphic>
      </p:graphicFrame>
      <p:sp>
        <p:nvSpPr>
          <p:cNvPr id="33" name="矩形 32"/>
          <p:cNvSpPr/>
          <p:nvPr/>
        </p:nvSpPr>
        <p:spPr>
          <a:xfrm>
            <a:off x="2462486" y="3324392"/>
            <a:ext cx="2723823" cy="369332"/>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被攻击智能体隔离示意图</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矩形 33"/>
          <p:cNvSpPr/>
          <p:nvPr/>
        </p:nvSpPr>
        <p:spPr>
          <a:xfrm>
            <a:off x="1671639" y="3759709"/>
            <a:ext cx="2031325" cy="369332"/>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置信度更新规则：</a:t>
            </a:r>
          </a:p>
        </p:txBody>
      </p:sp>
      <p:graphicFrame>
        <p:nvGraphicFramePr>
          <p:cNvPr id="35" name="对象 34"/>
          <p:cNvGraphicFramePr>
            <a:graphicFrameLocks noChangeAspect="1"/>
          </p:cNvGraphicFramePr>
          <p:nvPr>
            <p:extLst>
              <p:ext uri="{D42A27DB-BD31-4B8C-83A1-F6EECF244321}">
                <p14:modId xmlns:p14="http://schemas.microsoft.com/office/powerpoint/2010/main" val="3530592359"/>
              </p:ext>
            </p:extLst>
          </p:nvPr>
        </p:nvGraphicFramePr>
        <p:xfrm>
          <a:off x="2473025" y="4095485"/>
          <a:ext cx="2125164" cy="546959"/>
        </p:xfrm>
        <a:graphic>
          <a:graphicData uri="http://schemas.openxmlformats.org/presentationml/2006/ole">
            <mc:AlternateContent xmlns:mc="http://schemas.openxmlformats.org/markup-compatibility/2006">
              <mc:Choice xmlns:v="urn:schemas-microsoft-com:vml" Requires="v">
                <p:oleObj spid="_x0000_s20198" name="Equation" r:id="rId8" imgW="1776930" imgH="456412" progId="Equation.DSMT4">
                  <p:embed/>
                </p:oleObj>
              </mc:Choice>
              <mc:Fallback>
                <p:oleObj name="Equation" r:id="rId8" imgW="1776930" imgH="456412" progId="Equation.DSMT4">
                  <p:embed/>
                  <p:pic>
                    <p:nvPicPr>
                      <p:cNvPr id="27" name="对象 26"/>
                      <p:cNvPicPr/>
                      <p:nvPr/>
                    </p:nvPicPr>
                    <p:blipFill>
                      <a:blip r:embed="rId9"/>
                      <a:stretch>
                        <a:fillRect/>
                      </a:stretch>
                    </p:blipFill>
                    <p:spPr>
                      <a:xfrm>
                        <a:off x="2473025" y="4095485"/>
                        <a:ext cx="2125164" cy="546959"/>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2879365980"/>
              </p:ext>
            </p:extLst>
          </p:nvPr>
        </p:nvGraphicFramePr>
        <p:xfrm>
          <a:off x="2473024" y="4642444"/>
          <a:ext cx="2301286" cy="541579"/>
        </p:xfrm>
        <a:graphic>
          <a:graphicData uri="http://schemas.openxmlformats.org/presentationml/2006/ole">
            <mc:AlternateContent xmlns:mc="http://schemas.openxmlformats.org/markup-compatibility/2006">
              <mc:Choice xmlns:v="urn:schemas-microsoft-com:vml" Requires="v">
                <p:oleObj spid="_x0000_s20199" name="Equation" r:id="rId10" imgW="2137846" imgH="503850" progId="Equation.DSMT4">
                  <p:embed/>
                </p:oleObj>
              </mc:Choice>
              <mc:Fallback>
                <p:oleObj name="Equation" r:id="rId10" imgW="2137846" imgH="503850" progId="Equation.DSMT4">
                  <p:embed/>
                  <p:pic>
                    <p:nvPicPr>
                      <p:cNvPr id="28" name="对象 27"/>
                      <p:cNvPicPr/>
                      <p:nvPr/>
                    </p:nvPicPr>
                    <p:blipFill>
                      <a:blip r:embed="rId11"/>
                      <a:stretch>
                        <a:fillRect/>
                      </a:stretch>
                    </p:blipFill>
                    <p:spPr>
                      <a:xfrm>
                        <a:off x="2473024" y="4642444"/>
                        <a:ext cx="2301286" cy="541579"/>
                      </a:xfrm>
                      <a:prstGeom prst="rect">
                        <a:avLst/>
                      </a:prstGeom>
                    </p:spPr>
                  </p:pic>
                </p:oleObj>
              </mc:Fallback>
            </mc:AlternateContent>
          </a:graphicData>
        </a:graphic>
      </p:graphicFrame>
      <p:sp>
        <p:nvSpPr>
          <p:cNvPr id="37" name="矩形 36"/>
          <p:cNvSpPr/>
          <p:nvPr/>
        </p:nvSpPr>
        <p:spPr>
          <a:xfrm>
            <a:off x="1758868" y="3759710"/>
            <a:ext cx="4116012" cy="142431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758868" y="5259029"/>
            <a:ext cx="4116012" cy="154457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728309" y="5284656"/>
            <a:ext cx="433965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置信度影响下分布式算法权重矩阵元素：</a:t>
            </a:r>
          </a:p>
        </p:txBody>
      </p:sp>
      <p:graphicFrame>
        <p:nvGraphicFramePr>
          <p:cNvPr id="40" name="对象 39"/>
          <p:cNvGraphicFramePr>
            <a:graphicFrameLocks noChangeAspect="1"/>
          </p:cNvGraphicFramePr>
          <p:nvPr>
            <p:extLst>
              <p:ext uri="{D42A27DB-BD31-4B8C-83A1-F6EECF244321}">
                <p14:modId xmlns:p14="http://schemas.microsoft.com/office/powerpoint/2010/main" val="3510811288"/>
              </p:ext>
            </p:extLst>
          </p:nvPr>
        </p:nvGraphicFramePr>
        <p:xfrm>
          <a:off x="1879210" y="5760661"/>
          <a:ext cx="1945188" cy="819527"/>
        </p:xfrm>
        <a:graphic>
          <a:graphicData uri="http://schemas.openxmlformats.org/presentationml/2006/ole">
            <mc:AlternateContent xmlns:mc="http://schemas.openxmlformats.org/markup-compatibility/2006">
              <mc:Choice xmlns:v="urn:schemas-microsoft-com:vml" Requires="v">
                <p:oleObj spid="_x0000_s20200" name="Equation" r:id="rId12" imgW="1624662" imgH="684617" progId="Equation.DSMT4">
                  <p:embed/>
                </p:oleObj>
              </mc:Choice>
              <mc:Fallback>
                <p:oleObj name="Equation" r:id="rId12" imgW="1624662" imgH="684617" progId="Equation.DSMT4">
                  <p:embed/>
                  <p:pic>
                    <p:nvPicPr>
                      <p:cNvPr id="32" name="对象 31"/>
                      <p:cNvPicPr/>
                      <p:nvPr/>
                    </p:nvPicPr>
                    <p:blipFill>
                      <a:blip r:embed="rId13"/>
                      <a:stretch>
                        <a:fillRect/>
                      </a:stretch>
                    </p:blipFill>
                    <p:spPr>
                      <a:xfrm>
                        <a:off x="1879210" y="5760661"/>
                        <a:ext cx="1945188" cy="819527"/>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620714966"/>
              </p:ext>
            </p:extLst>
          </p:nvPr>
        </p:nvGraphicFramePr>
        <p:xfrm>
          <a:off x="3834935" y="5728993"/>
          <a:ext cx="1926879" cy="851195"/>
        </p:xfrm>
        <a:graphic>
          <a:graphicData uri="http://schemas.openxmlformats.org/presentationml/2006/ole">
            <mc:AlternateContent xmlns:mc="http://schemas.openxmlformats.org/markup-compatibility/2006">
              <mc:Choice xmlns:v="urn:schemas-microsoft-com:vml" Requires="v">
                <p:oleObj spid="_x0000_s20201" name="Equation" r:id="rId14" imgW="1634359" imgH="722712" progId="Equation.DSMT4">
                  <p:embed/>
                </p:oleObj>
              </mc:Choice>
              <mc:Fallback>
                <p:oleObj name="Equation" r:id="rId14" imgW="1634359" imgH="722712" progId="Equation.DSMT4">
                  <p:embed/>
                  <p:pic>
                    <p:nvPicPr>
                      <p:cNvPr id="33" name="对象 32"/>
                      <p:cNvPicPr/>
                      <p:nvPr/>
                    </p:nvPicPr>
                    <p:blipFill>
                      <a:blip r:embed="rId15"/>
                      <a:stretch>
                        <a:fillRect/>
                      </a:stretch>
                    </p:blipFill>
                    <p:spPr>
                      <a:xfrm>
                        <a:off x="3834935" y="5728993"/>
                        <a:ext cx="1926879" cy="851195"/>
                      </a:xfrm>
                      <a:prstGeom prst="rect">
                        <a:avLst/>
                      </a:prstGeom>
                    </p:spPr>
                  </p:pic>
                </p:oleObj>
              </mc:Fallback>
            </mc:AlternateContent>
          </a:graphicData>
        </a:graphic>
      </p:graphicFrame>
      <p:sp>
        <p:nvSpPr>
          <p:cNvPr id="42" name="矩形 41"/>
          <p:cNvSpPr/>
          <p:nvPr/>
        </p:nvSpPr>
        <p:spPr>
          <a:xfrm>
            <a:off x="6043154" y="5532437"/>
            <a:ext cx="6148846" cy="127116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144076" y="5608454"/>
            <a:ext cx="6096000" cy="1200329"/>
          </a:xfrm>
          <a:prstGeom prst="rect">
            <a:avLst/>
          </a:prstGeom>
        </p:spPr>
        <p:txBody>
          <a:bodyPr>
            <a:spAutoFit/>
          </a:bodyPr>
          <a:lstStyle/>
          <a:p>
            <a:r>
              <a:rPr lang="zh-CN" altLang="en-US" dirty="0">
                <a:latin typeface="微软雅黑" panose="020B0503020204020204" pitchFamily="34" charset="-122"/>
                <a:ea typeface="微软雅黑" panose="020B0503020204020204" pitchFamily="34" charset="-122"/>
              </a:rPr>
              <a:t>当监测指标为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时只能判断智能体存在异常，但为了避免出现信息误传递的现象并不能直接进行隔离，为了解决这个问题提出置信度指标，当某个智能体的置信度降至阈值以下时，将其与网络隔离，以避免其产生不利影响。</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1"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4" cstate="print"/>
          <a:srcRect l="8888" t="6664" r="8957" b="5601"/>
          <a:stretch>
            <a:fillRect/>
          </a:stretch>
        </p:blipFill>
        <p:spPr>
          <a:xfrm>
            <a:off x="370755" y="206065"/>
            <a:ext cx="879623" cy="909956"/>
          </a:xfrm>
          <a:prstGeom prst="ellipse">
            <a:avLst/>
          </a:prstGeom>
        </p:spPr>
      </p:pic>
      <p:sp>
        <p:nvSpPr>
          <p:cNvPr id="73739" name="标题 1"/>
          <p:cNvSpPr txBox="1"/>
          <p:nvPr/>
        </p:nvSpPr>
        <p:spPr>
          <a:xfrm>
            <a:off x="2620963" y="242888"/>
            <a:ext cx="94059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3.4</a:t>
            </a:r>
            <a:r>
              <a:rPr lang="zh-CN" altLang="en-US" sz="3200" b="1" dirty="0" smtClean="0">
                <a:latin typeface="微软雅黑" panose="020B0503020204020204" pitchFamily="34" charset="-122"/>
                <a:ea typeface="微软雅黑" panose="020B0503020204020204" pitchFamily="34" charset="-122"/>
              </a:rPr>
              <a:t>：算例仿真</a:t>
            </a: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73742"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22" name="表格 21"/>
          <p:cNvGraphicFramePr>
            <a:graphicFrameLocks noGrp="1"/>
          </p:cNvGraphicFramePr>
          <p:nvPr>
            <p:extLst>
              <p:ext uri="{D42A27DB-BD31-4B8C-83A1-F6EECF244321}">
                <p14:modId xmlns:p14="http://schemas.microsoft.com/office/powerpoint/2010/main" val="3851646853"/>
              </p:ext>
            </p:extLst>
          </p:nvPr>
        </p:nvGraphicFramePr>
        <p:xfrm>
          <a:off x="9234145" y="1738635"/>
          <a:ext cx="2835516" cy="2266692"/>
        </p:xfrm>
        <a:graphic>
          <a:graphicData uri="http://schemas.openxmlformats.org/drawingml/2006/table">
            <a:tbl>
              <a:tblPr>
                <a:tableStyleId>{5940675A-B579-460E-94D1-54222C63F5DA}</a:tableStyleId>
              </a:tblPr>
              <a:tblGrid>
                <a:gridCol w="443955">
                  <a:extLst>
                    <a:ext uri="{9D8B030D-6E8A-4147-A177-3AD203B41FA5}">
                      <a16:colId xmlns:a16="http://schemas.microsoft.com/office/drawing/2014/main" val="373051877"/>
                    </a:ext>
                  </a:extLst>
                </a:gridCol>
                <a:gridCol w="578431">
                  <a:extLst>
                    <a:ext uri="{9D8B030D-6E8A-4147-A177-3AD203B41FA5}">
                      <a16:colId xmlns:a16="http://schemas.microsoft.com/office/drawing/2014/main" val="2149719308"/>
                    </a:ext>
                  </a:extLst>
                </a:gridCol>
                <a:gridCol w="492707">
                  <a:extLst>
                    <a:ext uri="{9D8B030D-6E8A-4147-A177-3AD203B41FA5}">
                      <a16:colId xmlns:a16="http://schemas.microsoft.com/office/drawing/2014/main" val="3143627577"/>
                    </a:ext>
                  </a:extLst>
                </a:gridCol>
                <a:gridCol w="640850">
                  <a:extLst>
                    <a:ext uri="{9D8B030D-6E8A-4147-A177-3AD203B41FA5}">
                      <a16:colId xmlns:a16="http://schemas.microsoft.com/office/drawing/2014/main" val="3236636808"/>
                    </a:ext>
                  </a:extLst>
                </a:gridCol>
                <a:gridCol w="679573">
                  <a:extLst>
                    <a:ext uri="{9D8B030D-6E8A-4147-A177-3AD203B41FA5}">
                      <a16:colId xmlns:a16="http://schemas.microsoft.com/office/drawing/2014/main" val="2174354256"/>
                    </a:ext>
                  </a:extLst>
                </a:gridCol>
              </a:tblGrid>
              <a:tr h="566673">
                <a:tc>
                  <a:txBody>
                    <a:bodyPr/>
                    <a:lstStyle/>
                    <a:p>
                      <a:pPr algn="ctr">
                        <a:lnSpc>
                          <a:spcPts val="1400"/>
                        </a:lnSpc>
                        <a:spcAft>
                          <a:spcPts val="0"/>
                        </a:spcAft>
                      </a:pPr>
                      <a:r>
                        <a:rPr lang="en-US" altLang="zh-CN" sz="1200" kern="100" dirty="0" smtClean="0">
                          <a:effectLst/>
                          <a:latin typeface="微软雅黑" panose="020B0503020204020204" pitchFamily="34" charset="-122"/>
                          <a:ea typeface="微软雅黑" panose="020B0503020204020204" pitchFamily="34" charset="-122"/>
                        </a:rPr>
                        <a:t>EOU</a:t>
                      </a: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1919632"/>
                  </a:ext>
                </a:extLst>
              </a:tr>
              <a:tr h="566673">
                <a:tc>
                  <a:txBody>
                    <a:bodyPr/>
                    <a:lstStyle/>
                    <a:p>
                      <a:pPr algn="ctr">
                        <a:lnSpc>
                          <a:spcPts val="1400"/>
                        </a:lnSpc>
                        <a:spcAft>
                          <a:spcPts val="0"/>
                        </a:spcAft>
                      </a:pPr>
                      <a:r>
                        <a:rPr lang="en-US" sz="1200" kern="100">
                          <a:effectLst/>
                          <a:latin typeface="微软雅黑" panose="020B0503020204020204" pitchFamily="34" charset="-122"/>
                          <a:ea typeface="微软雅黑" panose="020B0503020204020204" pitchFamily="34" charset="-122"/>
                        </a:rPr>
                        <a:t>1</a:t>
                      </a:r>
                      <a:endParaRPr lang="zh-CN" sz="1200" kern="10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0.0833</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1</a:t>
                      </a:r>
                      <a:r>
                        <a:rPr lang="en-US" sz="1200" kern="100" dirty="0" smtClean="0">
                          <a:effectLst/>
                          <a:latin typeface="微软雅黑" panose="020B0503020204020204" pitchFamily="34" charset="-122"/>
                          <a:ea typeface="微软雅黑" panose="020B0503020204020204" pitchFamily="34" charset="-122"/>
                        </a:rPr>
                        <a:t>3.45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50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250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945846439"/>
                  </a:ext>
                </a:extLst>
              </a:tr>
              <a:tr h="566673">
                <a:tc>
                  <a:txBody>
                    <a:bodyPr/>
                    <a:lstStyle/>
                    <a:p>
                      <a:pPr algn="ctr">
                        <a:lnSpc>
                          <a:spcPts val="1400"/>
                        </a:lnSpc>
                        <a:spcAft>
                          <a:spcPts val="0"/>
                        </a:spcAft>
                      </a:pPr>
                      <a:r>
                        <a:rPr lang="en-US" sz="1200" kern="100">
                          <a:effectLst/>
                          <a:latin typeface="微软雅黑" panose="020B0503020204020204" pitchFamily="34" charset="-122"/>
                          <a:ea typeface="微软雅黑" panose="020B0503020204020204" pitchFamily="34" charset="-122"/>
                        </a:rPr>
                        <a:t>2</a:t>
                      </a:r>
                      <a:endParaRPr lang="zh-CN" sz="1200" kern="10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0.0825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altLang="zh-CN" sz="1200" kern="100" dirty="0" smtClean="0">
                          <a:effectLst/>
                          <a:latin typeface="微软雅黑" panose="020B0503020204020204" pitchFamily="34" charset="-122"/>
                          <a:ea typeface="微软雅黑" panose="020B0503020204020204" pitchFamily="34" charset="-122"/>
                        </a:rPr>
                        <a:t>15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45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210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0853874"/>
                  </a:ext>
                </a:extLst>
              </a:tr>
              <a:tr h="566673">
                <a:tc>
                  <a:txBody>
                    <a:bodyPr/>
                    <a:lstStyle/>
                    <a:p>
                      <a:pPr algn="ctr">
                        <a:lnSpc>
                          <a:spcPts val="1400"/>
                        </a:lnSpc>
                        <a:spcAft>
                          <a:spcPts val="0"/>
                        </a:spcAft>
                      </a:pPr>
                      <a:r>
                        <a:rPr lang="en-US" sz="1200" kern="100">
                          <a:effectLst/>
                          <a:latin typeface="微软雅黑" panose="020B0503020204020204" pitchFamily="34" charset="-122"/>
                          <a:ea typeface="微软雅黑" panose="020B0503020204020204" pitchFamily="34" charset="-122"/>
                        </a:rPr>
                        <a:t>3</a:t>
                      </a:r>
                      <a:endParaRPr lang="zh-CN" sz="1200" kern="10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0.0935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20.66</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a:effectLst/>
                          <a:latin typeface="微软雅黑" panose="020B0503020204020204" pitchFamily="34" charset="-122"/>
                          <a:ea typeface="微软雅黑" panose="020B0503020204020204" pitchFamily="34" charset="-122"/>
                        </a:rPr>
                        <a:t>50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200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542373689"/>
                  </a:ext>
                </a:extLst>
              </a:tr>
            </a:tbl>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359028047"/>
              </p:ext>
            </p:extLst>
          </p:nvPr>
        </p:nvGraphicFramePr>
        <p:xfrm>
          <a:off x="9912925" y="1912510"/>
          <a:ext cx="286180" cy="286180"/>
        </p:xfrm>
        <a:graphic>
          <a:graphicData uri="http://schemas.openxmlformats.org/presentationml/2006/ole">
            <mc:AlternateContent xmlns:mc="http://schemas.openxmlformats.org/markup-compatibility/2006">
              <mc:Choice xmlns:v="urn:schemas-microsoft-com:vml" Requires="v">
                <p:oleObj spid="_x0000_s22466" name="Equation" r:id="rId5" imgW="152651" imgH="152645" progId="Equation.DSMT4">
                  <p:embed/>
                </p:oleObj>
              </mc:Choice>
              <mc:Fallback>
                <p:oleObj name="Equation" r:id="rId5" imgW="152651" imgH="152645" progId="Equation.DSMT4">
                  <p:embed/>
                  <p:pic>
                    <p:nvPicPr>
                      <p:cNvPr id="2" name="对象 1"/>
                      <p:cNvPicPr/>
                      <p:nvPr/>
                    </p:nvPicPr>
                    <p:blipFill>
                      <a:blip r:embed="rId6"/>
                      <a:stretch>
                        <a:fillRect/>
                      </a:stretch>
                    </p:blipFill>
                    <p:spPr>
                      <a:xfrm>
                        <a:off x="9912925" y="1912510"/>
                        <a:ext cx="286180" cy="286180"/>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506083668"/>
              </p:ext>
            </p:extLst>
          </p:nvPr>
        </p:nvGraphicFramePr>
        <p:xfrm>
          <a:off x="10419072" y="1946396"/>
          <a:ext cx="262005" cy="262005"/>
        </p:xfrm>
        <a:graphic>
          <a:graphicData uri="http://schemas.openxmlformats.org/presentationml/2006/ole">
            <mc:AlternateContent xmlns:mc="http://schemas.openxmlformats.org/markup-compatibility/2006">
              <mc:Choice xmlns:v="urn:schemas-microsoft-com:vml" Requires="v">
                <p:oleObj spid="_x0000_s22467" name="Equation" r:id="rId7" imgW="151908" imgH="152017" progId="Equation.DSMT4">
                  <p:embed/>
                </p:oleObj>
              </mc:Choice>
              <mc:Fallback>
                <p:oleObj name="Equation" r:id="rId7" imgW="151908" imgH="152017" progId="Equation.DSMT4">
                  <p:embed/>
                  <p:pic>
                    <p:nvPicPr>
                      <p:cNvPr id="60" name="对象 59"/>
                      <p:cNvPicPr/>
                      <p:nvPr/>
                    </p:nvPicPr>
                    <p:blipFill>
                      <a:blip r:embed="rId8"/>
                      <a:stretch>
                        <a:fillRect/>
                      </a:stretch>
                    </p:blipFill>
                    <p:spPr>
                      <a:xfrm>
                        <a:off x="10419072" y="1946396"/>
                        <a:ext cx="262005" cy="262005"/>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96349635"/>
              </p:ext>
            </p:extLst>
          </p:nvPr>
        </p:nvGraphicFramePr>
        <p:xfrm>
          <a:off x="10823860" y="1873117"/>
          <a:ext cx="552264" cy="314762"/>
        </p:xfrm>
        <a:graphic>
          <a:graphicData uri="http://schemas.openxmlformats.org/presentationml/2006/ole">
            <mc:AlternateContent xmlns:mc="http://schemas.openxmlformats.org/markup-compatibility/2006">
              <mc:Choice xmlns:v="urn:schemas-microsoft-com:vml" Requires="v">
                <p:oleObj spid="_x0000_s22468" name="Equation" r:id="rId9" imgW="380880" imgH="215640" progId="Equation.DSMT4">
                  <p:embed/>
                </p:oleObj>
              </mc:Choice>
              <mc:Fallback>
                <p:oleObj name="Equation" r:id="rId9" imgW="380880" imgH="215640" progId="Equation.DSMT4">
                  <p:embed/>
                  <p:pic>
                    <p:nvPicPr>
                      <p:cNvPr id="61" name="对象 60"/>
                      <p:cNvPicPr/>
                      <p:nvPr/>
                    </p:nvPicPr>
                    <p:blipFill>
                      <a:blip r:embed="rId10"/>
                      <a:stretch>
                        <a:fillRect/>
                      </a:stretch>
                    </p:blipFill>
                    <p:spPr>
                      <a:xfrm>
                        <a:off x="10823860" y="1873117"/>
                        <a:ext cx="552264" cy="314762"/>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935448641"/>
              </p:ext>
            </p:extLst>
          </p:nvPr>
        </p:nvGraphicFramePr>
        <p:xfrm>
          <a:off x="11518907" y="1912510"/>
          <a:ext cx="500296" cy="301433"/>
        </p:xfrm>
        <a:graphic>
          <a:graphicData uri="http://schemas.openxmlformats.org/presentationml/2006/ole">
            <mc:AlternateContent xmlns:mc="http://schemas.openxmlformats.org/markup-compatibility/2006">
              <mc:Choice xmlns:v="urn:schemas-microsoft-com:vml" Requires="v">
                <p:oleObj spid="_x0000_s22469" name="Equation" r:id="rId11" imgW="379950" imgH="228206" progId="Equation.DSMT4">
                  <p:embed/>
                </p:oleObj>
              </mc:Choice>
              <mc:Fallback>
                <p:oleObj name="Equation" r:id="rId11" imgW="379950" imgH="228206" progId="Equation.DSMT4">
                  <p:embed/>
                  <p:pic>
                    <p:nvPicPr>
                      <p:cNvPr id="62" name="对象 61"/>
                      <p:cNvPicPr/>
                      <p:nvPr/>
                    </p:nvPicPr>
                    <p:blipFill>
                      <a:blip r:embed="rId12"/>
                      <a:stretch>
                        <a:fillRect/>
                      </a:stretch>
                    </p:blipFill>
                    <p:spPr>
                      <a:xfrm>
                        <a:off x="11518907" y="1912510"/>
                        <a:ext cx="500296" cy="301433"/>
                      </a:xfrm>
                      <a:prstGeom prst="rect">
                        <a:avLst/>
                      </a:prstGeom>
                    </p:spPr>
                  </p:pic>
                </p:oleObj>
              </mc:Fallback>
            </mc:AlternateContent>
          </a:graphicData>
        </a:graphic>
      </p:graphicFrame>
      <p:graphicFrame>
        <p:nvGraphicFramePr>
          <p:cNvPr id="27" name="表格 26"/>
          <p:cNvGraphicFramePr>
            <a:graphicFrameLocks noGrp="1"/>
          </p:cNvGraphicFramePr>
          <p:nvPr>
            <p:extLst>
              <p:ext uri="{D42A27DB-BD31-4B8C-83A1-F6EECF244321}">
                <p14:modId xmlns:p14="http://schemas.microsoft.com/office/powerpoint/2010/main" val="3516721661"/>
              </p:ext>
            </p:extLst>
          </p:nvPr>
        </p:nvGraphicFramePr>
        <p:xfrm>
          <a:off x="9234146" y="4481755"/>
          <a:ext cx="2835516" cy="791916"/>
        </p:xfrm>
        <a:graphic>
          <a:graphicData uri="http://schemas.openxmlformats.org/drawingml/2006/table">
            <a:tbl>
              <a:tblPr>
                <a:tableStyleId>{5940675A-B579-460E-94D1-54222C63F5DA}</a:tableStyleId>
              </a:tblPr>
              <a:tblGrid>
                <a:gridCol w="525962">
                  <a:extLst>
                    <a:ext uri="{9D8B030D-6E8A-4147-A177-3AD203B41FA5}">
                      <a16:colId xmlns:a16="http://schemas.microsoft.com/office/drawing/2014/main" val="3502410962"/>
                    </a:ext>
                  </a:extLst>
                </a:gridCol>
                <a:gridCol w="523499">
                  <a:extLst>
                    <a:ext uri="{9D8B030D-6E8A-4147-A177-3AD203B41FA5}">
                      <a16:colId xmlns:a16="http://schemas.microsoft.com/office/drawing/2014/main" val="3079333892"/>
                    </a:ext>
                  </a:extLst>
                </a:gridCol>
                <a:gridCol w="436659">
                  <a:extLst>
                    <a:ext uri="{9D8B030D-6E8A-4147-A177-3AD203B41FA5}">
                      <a16:colId xmlns:a16="http://schemas.microsoft.com/office/drawing/2014/main" val="183236710"/>
                    </a:ext>
                  </a:extLst>
                </a:gridCol>
                <a:gridCol w="726740">
                  <a:extLst>
                    <a:ext uri="{9D8B030D-6E8A-4147-A177-3AD203B41FA5}">
                      <a16:colId xmlns:a16="http://schemas.microsoft.com/office/drawing/2014/main" val="2142653642"/>
                    </a:ext>
                  </a:extLst>
                </a:gridCol>
                <a:gridCol w="622656">
                  <a:extLst>
                    <a:ext uri="{9D8B030D-6E8A-4147-A177-3AD203B41FA5}">
                      <a16:colId xmlns:a16="http://schemas.microsoft.com/office/drawing/2014/main" val="528621408"/>
                    </a:ext>
                  </a:extLst>
                </a:gridCol>
              </a:tblGrid>
              <a:tr h="263972">
                <a:tc>
                  <a:txBody>
                    <a:bodyPr/>
                    <a:lstStyle/>
                    <a:p>
                      <a:pPr algn="ctr">
                        <a:lnSpc>
                          <a:spcPts val="1400"/>
                        </a:lnSpc>
                        <a:spcAft>
                          <a:spcPts val="0"/>
                        </a:spcAft>
                      </a:pPr>
                      <a:r>
                        <a:rPr lang="en-US" altLang="zh-CN" sz="1200" kern="100" dirty="0" smtClean="0">
                          <a:effectLst/>
                          <a:latin typeface="微软雅黑" panose="020B0503020204020204" pitchFamily="34" charset="-122"/>
                          <a:ea typeface="微软雅黑" panose="020B0503020204020204" pitchFamily="34" charset="-122"/>
                        </a:rPr>
                        <a:t>HOU</a:t>
                      </a: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8554060"/>
                  </a:ext>
                </a:extLst>
              </a:tr>
              <a:tr h="263972">
                <a:tc>
                  <a:txBody>
                    <a:bodyPr/>
                    <a:lstStyle/>
                    <a:p>
                      <a:pPr algn="ctr">
                        <a:lnSpc>
                          <a:spcPts val="1400"/>
                        </a:lnSpc>
                        <a:spcAft>
                          <a:spcPts val="0"/>
                        </a:spcAft>
                      </a:pPr>
                      <a:r>
                        <a:rPr lang="en-US" sz="1200" kern="100">
                          <a:effectLst/>
                          <a:latin typeface="微软雅黑" panose="020B0503020204020204" pitchFamily="34" charset="-122"/>
                          <a:ea typeface="微软雅黑" panose="020B0503020204020204" pitchFamily="34" charset="-122"/>
                        </a:rPr>
                        <a:t>7</a:t>
                      </a:r>
                      <a:endParaRPr lang="zh-CN" sz="1200" kern="10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0.07</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15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75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300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457237866"/>
                  </a:ext>
                </a:extLst>
              </a:tr>
              <a:tr h="263972">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9</a:t>
                      </a: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0.078</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11.2</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80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320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415376020"/>
                  </a:ext>
                </a:extLst>
              </a:tr>
            </a:tbl>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846251253"/>
              </p:ext>
            </p:extLst>
          </p:nvPr>
        </p:nvGraphicFramePr>
        <p:xfrm>
          <a:off x="9988239" y="4481754"/>
          <a:ext cx="278571" cy="278571"/>
        </p:xfrm>
        <a:graphic>
          <a:graphicData uri="http://schemas.openxmlformats.org/presentationml/2006/ole">
            <mc:AlternateContent xmlns:mc="http://schemas.openxmlformats.org/markup-compatibility/2006">
              <mc:Choice xmlns:v="urn:schemas-microsoft-com:vml" Requires="v">
                <p:oleObj spid="_x0000_s22470" name="Equation" r:id="rId13" imgW="152651" imgH="152645" progId="Equation.DSMT4">
                  <p:embed/>
                </p:oleObj>
              </mc:Choice>
              <mc:Fallback>
                <p:oleObj name="Equation" r:id="rId13" imgW="152651" imgH="152645" progId="Equation.DSMT4">
                  <p:embed/>
                  <p:pic>
                    <p:nvPicPr>
                      <p:cNvPr id="3" name="对象 2"/>
                      <p:cNvPicPr/>
                      <p:nvPr/>
                    </p:nvPicPr>
                    <p:blipFill>
                      <a:blip r:embed="rId14"/>
                      <a:stretch>
                        <a:fillRect/>
                      </a:stretch>
                    </p:blipFill>
                    <p:spPr>
                      <a:xfrm>
                        <a:off x="9988239" y="4481754"/>
                        <a:ext cx="278571" cy="278571"/>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3216878013"/>
              </p:ext>
            </p:extLst>
          </p:nvPr>
        </p:nvGraphicFramePr>
        <p:xfrm>
          <a:off x="10437441" y="4483664"/>
          <a:ext cx="243636" cy="243636"/>
        </p:xfrm>
        <a:graphic>
          <a:graphicData uri="http://schemas.openxmlformats.org/presentationml/2006/ole">
            <mc:AlternateContent xmlns:mc="http://schemas.openxmlformats.org/markup-compatibility/2006">
              <mc:Choice xmlns:v="urn:schemas-microsoft-com:vml" Requires="v">
                <p:oleObj spid="_x0000_s22471" name="Equation" r:id="rId15" imgW="151908" imgH="152017" progId="Equation.DSMT4">
                  <p:embed/>
                </p:oleObj>
              </mc:Choice>
              <mc:Fallback>
                <p:oleObj name="Equation" r:id="rId15" imgW="151908" imgH="152017" progId="Equation.DSMT4">
                  <p:embed/>
                  <p:pic>
                    <p:nvPicPr>
                      <p:cNvPr id="65" name="对象 64"/>
                      <p:cNvPicPr/>
                      <p:nvPr/>
                    </p:nvPicPr>
                    <p:blipFill>
                      <a:blip r:embed="rId16"/>
                      <a:stretch>
                        <a:fillRect/>
                      </a:stretch>
                    </p:blipFill>
                    <p:spPr>
                      <a:xfrm>
                        <a:off x="10437441" y="4483664"/>
                        <a:ext cx="243636" cy="243636"/>
                      </a:xfrm>
                      <a:prstGeom prst="rect">
                        <a:avLst/>
                      </a:prstGeom>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3413183011"/>
              </p:ext>
            </p:extLst>
          </p:nvPr>
        </p:nvGraphicFramePr>
        <p:xfrm>
          <a:off x="10926275" y="4469947"/>
          <a:ext cx="483920" cy="291567"/>
        </p:xfrm>
        <a:graphic>
          <a:graphicData uri="http://schemas.openxmlformats.org/presentationml/2006/ole">
            <mc:AlternateContent xmlns:mc="http://schemas.openxmlformats.org/markup-compatibility/2006">
              <mc:Choice xmlns:v="urn:schemas-microsoft-com:vml" Requires="v">
                <p:oleObj spid="_x0000_s22472" name="Equation" r:id="rId17" imgW="379950" imgH="228206" progId="Equation.DSMT4">
                  <p:embed/>
                </p:oleObj>
              </mc:Choice>
              <mc:Fallback>
                <p:oleObj name="Equation" r:id="rId17" imgW="379950" imgH="228206" progId="Equation.DSMT4">
                  <p:embed/>
                  <p:pic>
                    <p:nvPicPr>
                      <p:cNvPr id="66" name="对象 65"/>
                      <p:cNvPicPr/>
                      <p:nvPr/>
                    </p:nvPicPr>
                    <p:blipFill>
                      <a:blip r:embed="rId18"/>
                      <a:stretch>
                        <a:fillRect/>
                      </a:stretch>
                    </p:blipFill>
                    <p:spPr>
                      <a:xfrm>
                        <a:off x="10926275" y="4469947"/>
                        <a:ext cx="483920" cy="291567"/>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1099277098"/>
              </p:ext>
            </p:extLst>
          </p:nvPr>
        </p:nvGraphicFramePr>
        <p:xfrm>
          <a:off x="11578492" y="4469603"/>
          <a:ext cx="529590" cy="291168"/>
        </p:xfrm>
        <a:graphic>
          <a:graphicData uri="http://schemas.openxmlformats.org/presentationml/2006/ole">
            <mc:AlternateContent xmlns:mc="http://schemas.openxmlformats.org/markup-compatibility/2006">
              <mc:Choice xmlns:v="urn:schemas-microsoft-com:vml" Requires="v">
                <p:oleObj spid="_x0000_s22473" name="Equation" r:id="rId19" imgW="398983" imgH="218862" progId="Equation.DSMT4">
                  <p:embed/>
                </p:oleObj>
              </mc:Choice>
              <mc:Fallback>
                <p:oleObj name="Equation" r:id="rId19" imgW="398983" imgH="218862" progId="Equation.DSMT4">
                  <p:embed/>
                  <p:pic>
                    <p:nvPicPr>
                      <p:cNvPr id="67" name="对象 66"/>
                      <p:cNvPicPr/>
                      <p:nvPr/>
                    </p:nvPicPr>
                    <p:blipFill>
                      <a:blip r:embed="rId20"/>
                      <a:stretch>
                        <a:fillRect/>
                      </a:stretch>
                    </p:blipFill>
                    <p:spPr>
                      <a:xfrm>
                        <a:off x="11578492" y="4469603"/>
                        <a:ext cx="529590" cy="291168"/>
                      </a:xfrm>
                      <a:prstGeom prst="rect">
                        <a:avLst/>
                      </a:prstGeom>
                    </p:spPr>
                  </p:pic>
                </p:oleObj>
              </mc:Fallback>
            </mc:AlternateContent>
          </a:graphicData>
        </a:graphic>
      </p:graphicFrame>
      <p:graphicFrame>
        <p:nvGraphicFramePr>
          <p:cNvPr id="33" name="表格 32"/>
          <p:cNvGraphicFramePr>
            <a:graphicFrameLocks noGrp="1"/>
          </p:cNvGraphicFramePr>
          <p:nvPr>
            <p:extLst>
              <p:ext uri="{D42A27DB-BD31-4B8C-83A1-F6EECF244321}">
                <p14:modId xmlns:p14="http://schemas.microsoft.com/office/powerpoint/2010/main" val="3773335213"/>
              </p:ext>
            </p:extLst>
          </p:nvPr>
        </p:nvGraphicFramePr>
        <p:xfrm>
          <a:off x="9234145" y="5683693"/>
          <a:ext cx="2835515" cy="761199"/>
        </p:xfrm>
        <a:graphic>
          <a:graphicData uri="http://schemas.openxmlformats.org/drawingml/2006/table">
            <a:tbl>
              <a:tblPr>
                <a:tableStyleId>{5940675A-B579-460E-94D1-54222C63F5DA}</a:tableStyleId>
              </a:tblPr>
              <a:tblGrid>
                <a:gridCol w="442290">
                  <a:extLst>
                    <a:ext uri="{9D8B030D-6E8A-4147-A177-3AD203B41FA5}">
                      <a16:colId xmlns:a16="http://schemas.microsoft.com/office/drawing/2014/main" val="2726840819"/>
                    </a:ext>
                  </a:extLst>
                </a:gridCol>
                <a:gridCol w="312517">
                  <a:extLst>
                    <a:ext uri="{9D8B030D-6E8A-4147-A177-3AD203B41FA5}">
                      <a16:colId xmlns:a16="http://schemas.microsoft.com/office/drawing/2014/main" val="3243740070"/>
                    </a:ext>
                  </a:extLst>
                </a:gridCol>
                <a:gridCol w="335666">
                  <a:extLst>
                    <a:ext uri="{9D8B030D-6E8A-4147-A177-3AD203B41FA5}">
                      <a16:colId xmlns:a16="http://schemas.microsoft.com/office/drawing/2014/main" val="2101179694"/>
                    </a:ext>
                  </a:extLst>
                </a:gridCol>
                <a:gridCol w="416688">
                  <a:extLst>
                    <a:ext uri="{9D8B030D-6E8A-4147-A177-3AD203B41FA5}">
                      <a16:colId xmlns:a16="http://schemas.microsoft.com/office/drawing/2014/main" val="1946888640"/>
                    </a:ext>
                  </a:extLst>
                </a:gridCol>
                <a:gridCol w="219919">
                  <a:extLst>
                    <a:ext uri="{9D8B030D-6E8A-4147-A177-3AD203B41FA5}">
                      <a16:colId xmlns:a16="http://schemas.microsoft.com/office/drawing/2014/main" val="1546349082"/>
                    </a:ext>
                  </a:extLst>
                </a:gridCol>
                <a:gridCol w="474562">
                  <a:extLst>
                    <a:ext uri="{9D8B030D-6E8A-4147-A177-3AD203B41FA5}">
                      <a16:colId xmlns:a16="http://schemas.microsoft.com/office/drawing/2014/main" val="3056225520"/>
                    </a:ext>
                  </a:extLst>
                </a:gridCol>
                <a:gridCol w="633873">
                  <a:extLst>
                    <a:ext uri="{9D8B030D-6E8A-4147-A177-3AD203B41FA5}">
                      <a16:colId xmlns:a16="http://schemas.microsoft.com/office/drawing/2014/main" val="3762453874"/>
                    </a:ext>
                  </a:extLst>
                </a:gridCol>
              </a:tblGrid>
              <a:tr h="253733">
                <a:tc>
                  <a:txBody>
                    <a:bodyPr/>
                    <a:lstStyle/>
                    <a:p>
                      <a:pPr algn="ctr">
                        <a:lnSpc>
                          <a:spcPts val="1400"/>
                        </a:lnSpc>
                        <a:spcAft>
                          <a:spcPts val="0"/>
                        </a:spcAft>
                      </a:pPr>
                      <a:r>
                        <a:rPr lang="en-US" altLang="zh-CN" sz="1200" kern="100" dirty="0" smtClean="0">
                          <a:effectLst/>
                          <a:latin typeface="微软雅黑" panose="020B0503020204020204" pitchFamily="34" charset="-122"/>
                          <a:ea typeface="微软雅黑" panose="020B0503020204020204" pitchFamily="34" charset="-122"/>
                        </a:rPr>
                        <a:t>CHP</a:t>
                      </a: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1400"/>
                        </a:lnSpc>
                        <a:spcAft>
                          <a:spcPts val="0"/>
                        </a:spcAft>
                      </a:pPr>
                      <a:endParaRPr lang="zh-CN" sz="1200" kern="100" dirty="0">
                        <a:effectLst/>
                        <a:latin typeface="微软雅黑" panose="020B0503020204020204" pitchFamily="34" charset="-122"/>
                        <a:ea typeface="微软雅黑" panose="020B0503020204020204" pitchFamily="34" charset="-122"/>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6869000"/>
                  </a:ext>
                </a:extLst>
              </a:tr>
              <a:tr h="507466">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5</a:t>
                      </a:r>
                      <a:endParaRPr lang="zh-CN" sz="12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0.06</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12.5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ts val="1400"/>
                        </a:lnSpc>
                        <a:spcAft>
                          <a:spcPts val="0"/>
                        </a:spcAft>
                      </a:pPr>
                      <a:r>
                        <a:rPr lang="en-US" sz="1200" kern="100" dirty="0" smtClean="0">
                          <a:effectLst/>
                          <a:latin typeface="微软雅黑" panose="020B0503020204020204" pitchFamily="34" charset="-122"/>
                          <a:ea typeface="微软雅黑" panose="020B0503020204020204" pitchFamily="34" charset="-122"/>
                        </a:rPr>
                        <a:t>0.04</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4.2</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0.031</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ts val="1400"/>
                        </a:lnSpc>
                        <a:spcAft>
                          <a:spcPts val="0"/>
                        </a:spcAft>
                      </a:pPr>
                      <a:r>
                        <a:rPr lang="en-US" sz="1200" kern="100" dirty="0">
                          <a:effectLst/>
                          <a:latin typeface="微软雅黑" panose="020B0503020204020204" pitchFamily="34" charset="-122"/>
                          <a:ea typeface="微软雅黑" panose="020B0503020204020204" pitchFamily="34" charset="-122"/>
                        </a:rPr>
                        <a:t>45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45403518"/>
                  </a:ext>
                </a:extLst>
              </a:tr>
            </a:tbl>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291130714"/>
              </p:ext>
            </p:extLst>
          </p:nvPr>
        </p:nvGraphicFramePr>
        <p:xfrm>
          <a:off x="9725553" y="5675210"/>
          <a:ext cx="286853" cy="286853"/>
        </p:xfrm>
        <a:graphic>
          <a:graphicData uri="http://schemas.openxmlformats.org/presentationml/2006/ole">
            <mc:AlternateContent xmlns:mc="http://schemas.openxmlformats.org/markup-compatibility/2006">
              <mc:Choice xmlns:v="urn:schemas-microsoft-com:vml" Requires="v">
                <p:oleObj spid="_x0000_s22474" name="Equation" r:id="rId21" imgW="151908" imgH="152017" progId="Equation.DSMT4">
                  <p:embed/>
                </p:oleObj>
              </mc:Choice>
              <mc:Fallback>
                <p:oleObj name="Equation" r:id="rId21" imgW="151908" imgH="152017" progId="Equation.DSMT4">
                  <p:embed/>
                  <p:pic>
                    <p:nvPicPr>
                      <p:cNvPr id="71" name="对象 70"/>
                      <p:cNvPicPr/>
                      <p:nvPr/>
                    </p:nvPicPr>
                    <p:blipFill>
                      <a:blip r:embed="rId22"/>
                      <a:stretch>
                        <a:fillRect/>
                      </a:stretch>
                    </p:blipFill>
                    <p:spPr>
                      <a:xfrm>
                        <a:off x="9725553" y="5675210"/>
                        <a:ext cx="286853" cy="286853"/>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3879526775"/>
              </p:ext>
            </p:extLst>
          </p:nvPr>
        </p:nvGraphicFramePr>
        <p:xfrm>
          <a:off x="10093497" y="5661406"/>
          <a:ext cx="222345" cy="281636"/>
        </p:xfrm>
        <a:graphic>
          <a:graphicData uri="http://schemas.openxmlformats.org/presentationml/2006/ole">
            <mc:AlternateContent xmlns:mc="http://schemas.openxmlformats.org/markup-compatibility/2006">
              <mc:Choice xmlns:v="urn:schemas-microsoft-com:vml" Requires="v">
                <p:oleObj spid="_x0000_s22475" name="Equation" r:id="rId23" imgW="142571" imgH="180768" progId="Equation.DSMT4">
                  <p:embed/>
                </p:oleObj>
              </mc:Choice>
              <mc:Fallback>
                <p:oleObj name="Equation" r:id="rId23" imgW="142571" imgH="180768" progId="Equation.DSMT4">
                  <p:embed/>
                  <p:pic>
                    <p:nvPicPr>
                      <p:cNvPr id="72" name="对象 71"/>
                      <p:cNvPicPr/>
                      <p:nvPr/>
                    </p:nvPicPr>
                    <p:blipFill>
                      <a:blip r:embed="rId24"/>
                      <a:stretch>
                        <a:fillRect/>
                      </a:stretch>
                    </p:blipFill>
                    <p:spPr>
                      <a:xfrm>
                        <a:off x="10093497" y="5661406"/>
                        <a:ext cx="222345" cy="281636"/>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2935761393"/>
              </p:ext>
            </p:extLst>
          </p:nvPr>
        </p:nvGraphicFramePr>
        <p:xfrm>
          <a:off x="10434505" y="5662435"/>
          <a:ext cx="225614" cy="306191"/>
        </p:xfrm>
        <a:graphic>
          <a:graphicData uri="http://schemas.openxmlformats.org/presentationml/2006/ole">
            <mc:AlternateContent xmlns:mc="http://schemas.openxmlformats.org/markup-compatibility/2006">
              <mc:Choice xmlns:v="urn:schemas-microsoft-com:vml" Requires="v">
                <p:oleObj spid="_x0000_s22476" name="Equation" r:id="rId25" imgW="132875" imgH="180768" progId="Equation.DSMT4">
                  <p:embed/>
                </p:oleObj>
              </mc:Choice>
              <mc:Fallback>
                <p:oleObj name="Equation" r:id="rId25" imgW="132875" imgH="180768" progId="Equation.DSMT4">
                  <p:embed/>
                  <p:pic>
                    <p:nvPicPr>
                      <p:cNvPr id="73" name="对象 72"/>
                      <p:cNvPicPr/>
                      <p:nvPr/>
                    </p:nvPicPr>
                    <p:blipFill>
                      <a:blip r:embed="rId26"/>
                      <a:stretch>
                        <a:fillRect/>
                      </a:stretch>
                    </p:blipFill>
                    <p:spPr>
                      <a:xfrm>
                        <a:off x="10434505" y="5662435"/>
                        <a:ext cx="225614" cy="306191"/>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1041498936"/>
              </p:ext>
            </p:extLst>
          </p:nvPr>
        </p:nvGraphicFramePr>
        <p:xfrm>
          <a:off x="10765123" y="5661406"/>
          <a:ext cx="226373" cy="307220"/>
        </p:xfrm>
        <a:graphic>
          <a:graphicData uri="http://schemas.openxmlformats.org/presentationml/2006/ole">
            <mc:AlternateContent xmlns:mc="http://schemas.openxmlformats.org/markup-compatibility/2006">
              <mc:Choice xmlns:v="urn:schemas-microsoft-com:vml" Requires="v">
                <p:oleObj spid="_x0000_s22477" name="Equation" r:id="rId27" imgW="132875" imgH="180768" progId="Equation.DSMT4">
                  <p:embed/>
                </p:oleObj>
              </mc:Choice>
              <mc:Fallback>
                <p:oleObj name="Equation" r:id="rId27" imgW="132875" imgH="180768" progId="Equation.DSMT4">
                  <p:embed/>
                  <p:pic>
                    <p:nvPicPr>
                      <p:cNvPr id="74" name="对象 73"/>
                      <p:cNvPicPr/>
                      <p:nvPr/>
                    </p:nvPicPr>
                    <p:blipFill>
                      <a:blip r:embed="rId28"/>
                      <a:stretch>
                        <a:fillRect/>
                      </a:stretch>
                    </p:blipFill>
                    <p:spPr>
                      <a:xfrm>
                        <a:off x="10765123" y="5661406"/>
                        <a:ext cx="226373" cy="307220"/>
                      </a:xfrm>
                      <a:prstGeom prst="rect">
                        <a:avLst/>
                      </a:prstGeom>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2090369240"/>
              </p:ext>
            </p:extLst>
          </p:nvPr>
        </p:nvGraphicFramePr>
        <p:xfrm>
          <a:off x="11066227" y="5648694"/>
          <a:ext cx="307059" cy="307059"/>
        </p:xfrm>
        <a:graphic>
          <a:graphicData uri="http://schemas.openxmlformats.org/presentationml/2006/ole">
            <mc:AlternateContent xmlns:mc="http://schemas.openxmlformats.org/markup-compatibility/2006">
              <mc:Choice xmlns:v="urn:schemas-microsoft-com:vml" Requires="v">
                <p:oleObj spid="_x0000_s22478" name="Equation" r:id="rId29" imgW="151908" imgH="152017" progId="Equation.DSMT4">
                  <p:embed/>
                </p:oleObj>
              </mc:Choice>
              <mc:Fallback>
                <p:oleObj name="Equation" r:id="rId29" imgW="151908" imgH="152017" progId="Equation.DSMT4">
                  <p:embed/>
                  <p:pic>
                    <p:nvPicPr>
                      <p:cNvPr id="78" name="对象 77"/>
                      <p:cNvPicPr/>
                      <p:nvPr/>
                    </p:nvPicPr>
                    <p:blipFill>
                      <a:blip r:embed="rId30"/>
                      <a:stretch>
                        <a:fillRect/>
                      </a:stretch>
                    </p:blipFill>
                    <p:spPr>
                      <a:xfrm>
                        <a:off x="11066227" y="5648694"/>
                        <a:ext cx="307059" cy="307059"/>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618210771"/>
              </p:ext>
            </p:extLst>
          </p:nvPr>
        </p:nvGraphicFramePr>
        <p:xfrm>
          <a:off x="11415422" y="5708375"/>
          <a:ext cx="639779" cy="275010"/>
        </p:xfrm>
        <a:graphic>
          <a:graphicData uri="http://schemas.openxmlformats.org/presentationml/2006/ole">
            <mc:AlternateContent xmlns:mc="http://schemas.openxmlformats.org/markup-compatibility/2006">
              <mc:Choice xmlns:v="urn:schemas-microsoft-com:vml" Requires="v">
                <p:oleObj spid="_x0000_s22479" name="Equation" r:id="rId31" imgW="532217" imgH="228206" progId="Equation.DSMT4">
                  <p:embed/>
                </p:oleObj>
              </mc:Choice>
              <mc:Fallback>
                <p:oleObj name="Equation" r:id="rId31" imgW="532217" imgH="228206" progId="Equation.DSMT4">
                  <p:embed/>
                  <p:pic>
                    <p:nvPicPr>
                      <p:cNvPr id="79" name="对象 78"/>
                      <p:cNvPicPr/>
                      <p:nvPr/>
                    </p:nvPicPr>
                    <p:blipFill>
                      <a:blip r:embed="rId32"/>
                      <a:stretch>
                        <a:fillRect/>
                      </a:stretch>
                    </p:blipFill>
                    <p:spPr>
                      <a:xfrm>
                        <a:off x="11415422" y="5708375"/>
                        <a:ext cx="639779" cy="275010"/>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2719587654"/>
              </p:ext>
            </p:extLst>
          </p:nvPr>
        </p:nvGraphicFramePr>
        <p:xfrm>
          <a:off x="1754189" y="1320001"/>
          <a:ext cx="7479956" cy="3339300"/>
        </p:xfrm>
        <a:graphic>
          <a:graphicData uri="http://schemas.openxmlformats.org/presentationml/2006/ole">
            <mc:AlternateContent xmlns:mc="http://schemas.openxmlformats.org/markup-compatibility/2006">
              <mc:Choice xmlns:v="urn:schemas-microsoft-com:vml" Requires="v">
                <p:oleObj spid="_x0000_s22480" name="Visio" r:id="rId33" imgW="14706467" imgH="9509636" progId="Visio.Drawing.15">
                  <p:embed/>
                </p:oleObj>
              </mc:Choice>
              <mc:Fallback>
                <p:oleObj name="Visio" r:id="rId33" imgW="14706467" imgH="9509636" progId="Visio.Drawing.15">
                  <p:embed/>
                  <p:pic>
                    <p:nvPicPr>
                      <p:cNvPr id="6" name="对象 5"/>
                      <p:cNvPicPr>
                        <a:picLocks noChangeAspect="1" noChangeArrowheads="1"/>
                      </p:cNvPicPr>
                      <p:nvPr/>
                    </p:nvPicPr>
                    <p:blipFill>
                      <a:blip r:embed="rId34">
                        <a:extLst>
                          <a:ext uri="{28A0092B-C50C-407E-A947-70E740481C1C}">
                            <a14:useLocalDpi xmlns:a14="http://schemas.microsoft.com/office/drawing/2010/main" val="0"/>
                          </a:ext>
                        </a:extLst>
                      </a:blip>
                      <a:srcRect b="36208"/>
                      <a:stretch>
                        <a:fillRect/>
                      </a:stretch>
                    </p:blipFill>
                    <p:spPr bwMode="auto">
                      <a:xfrm>
                        <a:off x="1754189" y="1320001"/>
                        <a:ext cx="7479956" cy="3339300"/>
                      </a:xfrm>
                      <a:prstGeom prst="rect">
                        <a:avLst/>
                      </a:prstGeom>
                      <a:noFill/>
                    </p:spPr>
                  </p:pic>
                </p:oleObj>
              </mc:Fallback>
            </mc:AlternateContent>
          </a:graphicData>
        </a:graphic>
      </p:graphicFrame>
      <p:sp>
        <p:nvSpPr>
          <p:cNvPr id="41" name="矩形 40"/>
          <p:cNvSpPr/>
          <p:nvPr/>
        </p:nvSpPr>
        <p:spPr>
          <a:xfrm>
            <a:off x="1685926" y="4727300"/>
            <a:ext cx="7311414" cy="1785104"/>
          </a:xfrm>
          <a:prstGeom prst="rect">
            <a:avLst/>
          </a:prstGeom>
        </p:spPr>
        <p:txBody>
          <a:bodyPr wrap="square">
            <a:spAutoFit/>
          </a:bodyPr>
          <a:lstStyle/>
          <a:p>
            <a:pPr indent="304800" algn="just" hangingPunct="0">
              <a:lnSpc>
                <a:spcPts val="2200"/>
              </a:lnSpc>
              <a:spcAft>
                <a:spcPts val="0"/>
              </a:spcAft>
            </a:pP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参考</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巴厘岛能源系统构建了</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39-32</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节点的电</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热多能信息物理系统进行仿真，通信拓扑如图</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4.10</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所示。该测试系统包括一个</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39</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总线的电力系统、一个</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32</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节点的热系统其中包括一个</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CHP</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机组（对应智能体</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）、三个</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EOU</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机组（对应智能体</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1-3</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）和两个</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HOU</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机组（对应智能体</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7</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9</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）、两个聚合商（对应智能体</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8</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）。该系统中的电力通信网络、热力通信网络通过</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CHP</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机组进行联络。</a:t>
            </a:r>
          </a:p>
        </p:txBody>
      </p:sp>
      <p:sp>
        <p:nvSpPr>
          <p:cNvPr id="42" name="矩形 41"/>
          <p:cNvSpPr/>
          <p:nvPr/>
        </p:nvSpPr>
        <p:spPr>
          <a:xfrm>
            <a:off x="9078716" y="1395356"/>
            <a:ext cx="3171061" cy="276999"/>
          </a:xfrm>
          <a:prstGeom prst="rect">
            <a:avLst/>
          </a:prstGeom>
        </p:spPr>
        <p:txBody>
          <a:bodyPr wrap="none">
            <a:spAutoFit/>
          </a:bodyPr>
          <a:lstStyle/>
          <a:p>
            <a:r>
              <a:rPr lang="en-US" altLang="zh-CN" sz="1200" dirty="0">
                <a:latin typeface="微软雅黑" panose="020B0503020204020204" pitchFamily="34" charset="-122"/>
                <a:ea typeface="微软雅黑" panose="020B0503020204020204" pitchFamily="34" charset="-122"/>
              </a:rPr>
              <a:t>EOU </a:t>
            </a:r>
            <a:r>
              <a:rPr lang="zh-CN" altLang="zh-CN" sz="1200" dirty="0">
                <a:latin typeface="微软雅黑" panose="020B0503020204020204" pitchFamily="34" charset="-122"/>
                <a:ea typeface="微软雅黑" panose="020B0503020204020204" pitchFamily="34" charset="-122"/>
                <a:cs typeface="Times New Roman" panose="02020603050405020304" pitchFamily="18" charset="0"/>
              </a:rPr>
              <a:t>机组的运行成本函数参数及出力上下限</a:t>
            </a:r>
            <a:endParaRPr lang="zh-CN" altLang="en-US" sz="1200" dirty="0">
              <a:latin typeface="微软雅黑" panose="020B0503020204020204" pitchFamily="34" charset="-122"/>
              <a:ea typeface="微软雅黑" panose="020B0503020204020204" pitchFamily="34" charset="-122"/>
            </a:endParaRPr>
          </a:p>
        </p:txBody>
      </p:sp>
      <p:sp>
        <p:nvSpPr>
          <p:cNvPr id="43" name="矩形 42"/>
          <p:cNvSpPr/>
          <p:nvPr/>
        </p:nvSpPr>
        <p:spPr>
          <a:xfrm>
            <a:off x="9078716" y="4163600"/>
            <a:ext cx="3204723" cy="276999"/>
          </a:xfrm>
          <a:prstGeom prst="rect">
            <a:avLst/>
          </a:prstGeom>
        </p:spPr>
        <p:txBody>
          <a:bodyPr wrap="none">
            <a:spAutoFit/>
          </a:bodyPr>
          <a:lstStyle/>
          <a:p>
            <a:r>
              <a:rPr lang="en-US" altLang="zh-CN" sz="1200" dirty="0" smtClean="0">
                <a:latin typeface="微软雅黑" panose="020B0503020204020204" pitchFamily="34" charset="-122"/>
                <a:ea typeface="微软雅黑" panose="020B0503020204020204" pitchFamily="34" charset="-122"/>
              </a:rPr>
              <a:t>HOU </a:t>
            </a:r>
            <a:r>
              <a:rPr lang="zh-CN" altLang="zh-CN" sz="1200" dirty="0">
                <a:latin typeface="微软雅黑" panose="020B0503020204020204" pitchFamily="34" charset="-122"/>
                <a:ea typeface="微软雅黑" panose="020B0503020204020204" pitchFamily="34" charset="-122"/>
                <a:cs typeface="Times New Roman" panose="02020603050405020304" pitchFamily="18" charset="0"/>
              </a:rPr>
              <a:t>机组的运行成本函数参数及出力上下限</a:t>
            </a:r>
            <a:endParaRPr lang="zh-CN" altLang="en-US" sz="1200" dirty="0">
              <a:latin typeface="微软雅黑" panose="020B0503020204020204" pitchFamily="34" charset="-122"/>
              <a:ea typeface="微软雅黑" panose="020B0503020204020204" pitchFamily="34" charset="-122"/>
            </a:endParaRPr>
          </a:p>
        </p:txBody>
      </p:sp>
      <p:sp>
        <p:nvSpPr>
          <p:cNvPr id="44" name="矩形 43"/>
          <p:cNvSpPr/>
          <p:nvPr/>
        </p:nvSpPr>
        <p:spPr>
          <a:xfrm>
            <a:off x="9117842" y="5388203"/>
            <a:ext cx="3161443" cy="276999"/>
          </a:xfrm>
          <a:prstGeom prst="rect">
            <a:avLst/>
          </a:prstGeom>
        </p:spPr>
        <p:txBody>
          <a:bodyPr wrap="none">
            <a:spAutoFit/>
          </a:bodyPr>
          <a:lstStyle/>
          <a:p>
            <a:r>
              <a:rPr lang="en-US" altLang="zh-CN" sz="1200" dirty="0" smtClean="0">
                <a:latin typeface="微软雅黑" panose="020B0503020204020204" pitchFamily="34" charset="-122"/>
                <a:ea typeface="微软雅黑" panose="020B0503020204020204" pitchFamily="34" charset="-122"/>
              </a:rPr>
              <a:t>CHP </a:t>
            </a:r>
            <a:r>
              <a:rPr lang="zh-CN" altLang="zh-CN" sz="1200" dirty="0">
                <a:latin typeface="微软雅黑" panose="020B0503020204020204" pitchFamily="34" charset="-122"/>
                <a:ea typeface="微软雅黑" panose="020B0503020204020204" pitchFamily="34" charset="-122"/>
                <a:cs typeface="Times New Roman" panose="02020603050405020304" pitchFamily="18" charset="0"/>
              </a:rPr>
              <a:t>机组的运行成本函数参数及出力上下限</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5715"/>
    </mc:Choice>
    <mc:Fallback xmlns="">
      <p:transition advTm="5715"/>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1"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73739" name="标题 1"/>
          <p:cNvSpPr txBox="1"/>
          <p:nvPr/>
        </p:nvSpPr>
        <p:spPr>
          <a:xfrm>
            <a:off x="2620963" y="242888"/>
            <a:ext cx="94059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3.4</a:t>
            </a:r>
            <a:r>
              <a:rPr lang="zh-CN" altLang="en-US" sz="3200" b="1" dirty="0" smtClean="0">
                <a:latin typeface="微软雅黑" panose="020B0503020204020204" pitchFamily="34" charset="-122"/>
                <a:ea typeface="微软雅黑" panose="020B0503020204020204" pitchFamily="34" charset="-122"/>
              </a:rPr>
              <a:t>：算例仿真</a:t>
            </a: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73742"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pic>
        <p:nvPicPr>
          <p:cNvPr id="22" name="图片 21"/>
          <p:cNvPicPr>
            <a:picLocks noChangeAspect="1"/>
          </p:cNvPicPr>
          <p:nvPr/>
        </p:nvPicPr>
        <p:blipFill>
          <a:blip r:embed="rId4"/>
          <a:stretch>
            <a:fillRect/>
          </a:stretch>
        </p:blipFill>
        <p:spPr>
          <a:xfrm>
            <a:off x="1628776" y="3844021"/>
            <a:ext cx="5512432" cy="2372588"/>
          </a:xfrm>
          <a:prstGeom prst="rect">
            <a:avLst/>
          </a:prstGeom>
        </p:spPr>
      </p:pic>
      <p:pic>
        <p:nvPicPr>
          <p:cNvPr id="23" name="图片 22"/>
          <p:cNvPicPr>
            <a:picLocks noChangeAspect="1"/>
          </p:cNvPicPr>
          <p:nvPr/>
        </p:nvPicPr>
        <p:blipFill>
          <a:blip r:embed="rId5"/>
          <a:stretch>
            <a:fillRect/>
          </a:stretch>
        </p:blipFill>
        <p:spPr>
          <a:xfrm>
            <a:off x="1644650" y="1061078"/>
            <a:ext cx="5555451" cy="2447298"/>
          </a:xfrm>
          <a:prstGeom prst="rect">
            <a:avLst/>
          </a:prstGeom>
        </p:spPr>
      </p:pic>
      <p:pic>
        <p:nvPicPr>
          <p:cNvPr id="30" name="图片 29"/>
          <p:cNvPicPr>
            <a:picLocks noChangeAspect="1"/>
          </p:cNvPicPr>
          <p:nvPr/>
        </p:nvPicPr>
        <p:blipFill>
          <a:blip r:embed="rId6"/>
          <a:stretch>
            <a:fillRect/>
          </a:stretch>
        </p:blipFill>
        <p:spPr>
          <a:xfrm>
            <a:off x="6839289" y="1031033"/>
            <a:ext cx="5563235" cy="2420028"/>
          </a:xfrm>
          <a:prstGeom prst="rect">
            <a:avLst/>
          </a:prstGeom>
        </p:spPr>
      </p:pic>
      <p:pic>
        <p:nvPicPr>
          <p:cNvPr id="31" name="图片 30"/>
          <p:cNvPicPr>
            <a:picLocks noChangeAspect="1"/>
          </p:cNvPicPr>
          <p:nvPr/>
        </p:nvPicPr>
        <p:blipFill>
          <a:blip r:embed="rId7"/>
          <a:stretch>
            <a:fillRect/>
          </a:stretch>
        </p:blipFill>
        <p:spPr>
          <a:xfrm>
            <a:off x="6839289" y="3792545"/>
            <a:ext cx="5585198" cy="238759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5715"/>
    </mc:Choice>
    <mc:Fallback xmlns="">
      <p:transition advTm="5715"/>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73739" name="标题 1"/>
          <p:cNvSpPr txBox="1"/>
          <p:nvPr/>
        </p:nvSpPr>
        <p:spPr>
          <a:xfrm>
            <a:off x="2620963" y="242888"/>
            <a:ext cx="94059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内容</a:t>
            </a:r>
            <a:r>
              <a:rPr lang="en-US" altLang="zh-CN" sz="3200" b="1" dirty="0" smtClean="0">
                <a:latin typeface="微软雅黑" panose="020B0503020204020204" pitchFamily="34" charset="-122"/>
                <a:ea typeface="微软雅黑" panose="020B0503020204020204" pitchFamily="34" charset="-122"/>
              </a:rPr>
              <a:t>3.4</a:t>
            </a:r>
            <a:r>
              <a:rPr lang="zh-CN" altLang="en-US" sz="3200" b="1" dirty="0" smtClean="0">
                <a:latin typeface="微软雅黑" panose="020B0503020204020204" pitchFamily="34" charset="-122"/>
                <a:ea typeface="微软雅黑" panose="020B0503020204020204" pitchFamily="34" charset="-122"/>
              </a:rPr>
              <a:t>：算例仿真</a:t>
            </a:r>
            <a:endParaRPr lang="zh-CN" altLang="en-US" sz="32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73742" name="文本框 56"/>
          <p:cNvSpPr txBox="1"/>
          <p:nvPr/>
        </p:nvSpPr>
        <p:spPr>
          <a:xfrm>
            <a:off x="117475" y="5132388"/>
            <a:ext cx="139700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研究内容</a:t>
            </a:r>
            <a:r>
              <a:rPr lang="en-US" altLang="zh-CN" sz="2000" b="1" dirty="0">
                <a:solidFill>
                  <a:schemeClr val="bg1"/>
                </a:solidFill>
                <a:latin typeface="微软雅黑" panose="020B0503020204020204" pitchFamily="34" charset="-122"/>
                <a:ea typeface="微软雅黑" panose="020B0503020204020204" pitchFamily="34" charset="-122"/>
              </a:rPr>
              <a:t>3</a:t>
            </a:r>
          </a:p>
        </p:txBody>
      </p:sp>
      <p:sp>
        <p:nvSpPr>
          <p:cNvPr id="32" name="文本框 31"/>
          <p:cNvSpPr txBox="1"/>
          <p:nvPr/>
        </p:nvSpPr>
        <p:spPr>
          <a:xfrm>
            <a:off x="-71437" y="6180138"/>
            <a:ext cx="1754188"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总结与展望</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142" name="等腰三角形 141"/>
          <p:cNvSpPr/>
          <p:nvPr/>
        </p:nvSpPr>
        <p:spPr>
          <a:xfrm rot="16200000" flipV="1">
            <a:off x="1509713" y="5254625"/>
            <a:ext cx="415925"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pic>
        <p:nvPicPr>
          <p:cNvPr id="26" name="图片 25"/>
          <p:cNvPicPr>
            <a:picLocks noChangeAspect="1"/>
          </p:cNvPicPr>
          <p:nvPr/>
        </p:nvPicPr>
        <p:blipFill>
          <a:blip r:embed="rId4"/>
          <a:stretch>
            <a:fillRect/>
          </a:stretch>
        </p:blipFill>
        <p:spPr>
          <a:xfrm>
            <a:off x="1866107" y="766040"/>
            <a:ext cx="5761989" cy="4766398"/>
          </a:xfrm>
          <a:prstGeom prst="rect">
            <a:avLst/>
          </a:prstGeom>
        </p:spPr>
      </p:pic>
      <p:graphicFrame>
        <p:nvGraphicFramePr>
          <p:cNvPr id="2" name="表格 1"/>
          <p:cNvGraphicFramePr>
            <a:graphicFrameLocks noGrp="1"/>
          </p:cNvGraphicFramePr>
          <p:nvPr>
            <p:extLst>
              <p:ext uri="{D42A27DB-BD31-4B8C-83A1-F6EECF244321}">
                <p14:modId xmlns:p14="http://schemas.microsoft.com/office/powerpoint/2010/main" val="3196193287"/>
              </p:ext>
            </p:extLst>
          </p:nvPr>
        </p:nvGraphicFramePr>
        <p:xfrm>
          <a:off x="1866107" y="5542490"/>
          <a:ext cx="5488305" cy="1165654"/>
        </p:xfrm>
        <a:graphic>
          <a:graphicData uri="http://schemas.openxmlformats.org/drawingml/2006/table">
            <a:tbl>
              <a:tblPr firstRow="1" firstCol="1" bandRow="1">
                <a:tableStyleId>{5940675A-B579-460E-94D1-54222C63F5DA}</a:tableStyleId>
              </a:tblPr>
              <a:tblGrid>
                <a:gridCol w="1527175">
                  <a:extLst>
                    <a:ext uri="{9D8B030D-6E8A-4147-A177-3AD203B41FA5}">
                      <a16:colId xmlns:a16="http://schemas.microsoft.com/office/drawing/2014/main" val="695658816"/>
                    </a:ext>
                  </a:extLst>
                </a:gridCol>
                <a:gridCol w="815340">
                  <a:extLst>
                    <a:ext uri="{9D8B030D-6E8A-4147-A177-3AD203B41FA5}">
                      <a16:colId xmlns:a16="http://schemas.microsoft.com/office/drawing/2014/main" val="382025764"/>
                    </a:ext>
                  </a:extLst>
                </a:gridCol>
                <a:gridCol w="903605">
                  <a:extLst>
                    <a:ext uri="{9D8B030D-6E8A-4147-A177-3AD203B41FA5}">
                      <a16:colId xmlns:a16="http://schemas.microsoft.com/office/drawing/2014/main" val="2055258696"/>
                    </a:ext>
                  </a:extLst>
                </a:gridCol>
                <a:gridCol w="1166495">
                  <a:extLst>
                    <a:ext uri="{9D8B030D-6E8A-4147-A177-3AD203B41FA5}">
                      <a16:colId xmlns:a16="http://schemas.microsoft.com/office/drawing/2014/main" val="2159651625"/>
                    </a:ext>
                  </a:extLst>
                </a:gridCol>
                <a:gridCol w="1075690">
                  <a:extLst>
                    <a:ext uri="{9D8B030D-6E8A-4147-A177-3AD203B41FA5}">
                      <a16:colId xmlns:a16="http://schemas.microsoft.com/office/drawing/2014/main" val="1930496268"/>
                    </a:ext>
                  </a:extLst>
                </a:gridCol>
              </a:tblGrid>
              <a:tr h="606854">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 </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2200"/>
                        </a:lnSpc>
                        <a:spcAft>
                          <a:spcPts val="0"/>
                        </a:spcAft>
                      </a:pPr>
                      <a:r>
                        <a:rPr lang="zh-CN" sz="1200" kern="0" dirty="0">
                          <a:effectLst/>
                          <a:latin typeface="微软雅黑" panose="020B0503020204020204" pitchFamily="34" charset="-122"/>
                          <a:ea typeface="微软雅黑" panose="020B0503020204020204" pitchFamily="34" charset="-122"/>
                        </a:rPr>
                        <a:t>本文方法</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2200"/>
                        </a:lnSpc>
                        <a:spcAft>
                          <a:spcPts val="0"/>
                        </a:spcAft>
                      </a:pPr>
                      <a:r>
                        <a:rPr lang="zh-CN" sz="1200" kern="0" dirty="0">
                          <a:effectLst/>
                          <a:latin typeface="微软雅黑" panose="020B0503020204020204" pitchFamily="34" charset="-122"/>
                          <a:ea typeface="微软雅黑" panose="020B0503020204020204" pitchFamily="34" charset="-122"/>
                        </a:rPr>
                        <a:t>攻击后未退出隐私保护</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2200"/>
                        </a:lnSpc>
                        <a:spcAft>
                          <a:spcPts val="0"/>
                        </a:spcAft>
                      </a:pPr>
                      <a:r>
                        <a:rPr lang="zh-CN" sz="1200" kern="0" dirty="0">
                          <a:effectLst/>
                          <a:latin typeface="微软雅黑" panose="020B0503020204020204" pitchFamily="34" charset="-122"/>
                          <a:ea typeface="微软雅黑" panose="020B0503020204020204" pitchFamily="34" charset="-122"/>
                        </a:rPr>
                        <a:t>仅有隐私保护</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ts val="2200"/>
                        </a:lnSpc>
                        <a:spcAft>
                          <a:spcPts val="0"/>
                        </a:spcAft>
                      </a:pPr>
                      <a:r>
                        <a:rPr lang="zh-CN" sz="1200" kern="0" dirty="0">
                          <a:effectLst/>
                          <a:latin typeface="微软雅黑" panose="020B0503020204020204" pitchFamily="34" charset="-122"/>
                          <a:ea typeface="微软雅黑" panose="020B0503020204020204" pitchFamily="34" charset="-122"/>
                        </a:rPr>
                        <a:t>无保护</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808532"/>
                  </a:ext>
                </a:extLst>
              </a:tr>
              <a:tr h="261352">
                <a:tc>
                  <a:txBody>
                    <a:bodyPr/>
                    <a:lstStyle/>
                    <a:p>
                      <a:pPr algn="ctr">
                        <a:lnSpc>
                          <a:spcPts val="2200"/>
                        </a:lnSpc>
                        <a:spcAft>
                          <a:spcPts val="0"/>
                        </a:spcAft>
                      </a:pPr>
                      <a:r>
                        <a:rPr lang="zh-CN" sz="1200" kern="0" dirty="0">
                          <a:effectLst/>
                          <a:latin typeface="微软雅黑" panose="020B0503020204020204" pitchFamily="34" charset="-122"/>
                          <a:ea typeface="微软雅黑" panose="020B0503020204020204" pitchFamily="34" charset="-122"/>
                        </a:rPr>
                        <a:t>受攻击后</a:t>
                      </a:r>
                      <a:r>
                        <a:rPr lang="en-US" sz="1200" kern="100" dirty="0">
                          <a:effectLst/>
                          <a:latin typeface="微软雅黑" panose="020B0503020204020204" pitchFamily="34" charset="-122"/>
                          <a:ea typeface="微软雅黑" panose="020B0503020204020204" pitchFamily="34" charset="-122"/>
                        </a:rPr>
                        <a:t> </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31.4192</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31.459</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31.4744</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31.4507</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8531848"/>
                  </a:ext>
                </a:extLst>
              </a:tr>
              <a:tr h="261352">
                <a:tc>
                  <a:txBody>
                    <a:bodyPr/>
                    <a:lstStyle/>
                    <a:p>
                      <a:pPr algn="ctr">
                        <a:lnSpc>
                          <a:spcPts val="2200"/>
                        </a:lnSpc>
                        <a:spcAft>
                          <a:spcPts val="0"/>
                        </a:spcAft>
                      </a:pPr>
                      <a:r>
                        <a:rPr lang="zh-CN" sz="1200" kern="0">
                          <a:effectLst/>
                          <a:latin typeface="微软雅黑" panose="020B0503020204020204" pitchFamily="34" charset="-122"/>
                          <a:ea typeface="微软雅黑" panose="020B0503020204020204" pitchFamily="34" charset="-122"/>
                        </a:rPr>
                        <a:t>对比正常情况增长率</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2200"/>
                        </a:lnSpc>
                        <a:spcAft>
                          <a:spcPts val="0"/>
                        </a:spcAft>
                      </a:pPr>
                      <a:r>
                        <a:rPr lang="en-US" sz="1200" kern="0">
                          <a:effectLst/>
                          <a:latin typeface="微软雅黑" panose="020B0503020204020204" pitchFamily="34" charset="-122"/>
                          <a:ea typeface="微软雅黑" panose="020B0503020204020204" pitchFamily="34" charset="-122"/>
                        </a:rPr>
                        <a:t>12.21%</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12.35%</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12.40%</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ts val="2200"/>
                        </a:lnSpc>
                        <a:spcAft>
                          <a:spcPts val="0"/>
                        </a:spcAft>
                      </a:pPr>
                      <a:r>
                        <a:rPr lang="en-US" sz="1200" kern="0" dirty="0">
                          <a:effectLst/>
                          <a:latin typeface="微软雅黑" panose="020B0503020204020204" pitchFamily="34" charset="-122"/>
                          <a:ea typeface="微软雅黑" panose="020B0503020204020204" pitchFamily="34" charset="-122"/>
                        </a:rPr>
                        <a:t>12.32%</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41484646"/>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050108728"/>
              </p:ext>
            </p:extLst>
          </p:nvPr>
        </p:nvGraphicFramePr>
        <p:xfrm>
          <a:off x="7528560" y="925513"/>
          <a:ext cx="4609465" cy="5772408"/>
        </p:xfrm>
        <a:graphic>
          <a:graphicData uri="http://schemas.openxmlformats.org/drawingml/2006/table">
            <a:tbl>
              <a:tblPr firstRow="1" firstCol="1" bandRow="1">
                <a:tableStyleId>{5940675A-B579-460E-94D1-54222C63F5DA}</a:tableStyleId>
              </a:tblPr>
              <a:tblGrid>
                <a:gridCol w="1026067">
                  <a:extLst>
                    <a:ext uri="{9D8B030D-6E8A-4147-A177-3AD203B41FA5}">
                      <a16:colId xmlns:a16="http://schemas.microsoft.com/office/drawing/2014/main" val="1091653820"/>
                    </a:ext>
                  </a:extLst>
                </a:gridCol>
                <a:gridCol w="1351495">
                  <a:extLst>
                    <a:ext uri="{9D8B030D-6E8A-4147-A177-3AD203B41FA5}">
                      <a16:colId xmlns:a16="http://schemas.microsoft.com/office/drawing/2014/main" val="4016304743"/>
                    </a:ext>
                  </a:extLst>
                </a:gridCol>
                <a:gridCol w="1204914">
                  <a:extLst>
                    <a:ext uri="{9D8B030D-6E8A-4147-A177-3AD203B41FA5}">
                      <a16:colId xmlns:a16="http://schemas.microsoft.com/office/drawing/2014/main" val="430073974"/>
                    </a:ext>
                  </a:extLst>
                </a:gridCol>
                <a:gridCol w="1026989">
                  <a:extLst>
                    <a:ext uri="{9D8B030D-6E8A-4147-A177-3AD203B41FA5}">
                      <a16:colId xmlns:a16="http://schemas.microsoft.com/office/drawing/2014/main" val="3056236071"/>
                    </a:ext>
                  </a:extLst>
                </a:gridCol>
              </a:tblGrid>
              <a:tr h="215664">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 </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25000"/>
                        </a:lnSpc>
                        <a:spcAft>
                          <a:spcPts val="0"/>
                        </a:spcAft>
                      </a:pPr>
                      <a:r>
                        <a:rPr lang="zh-CN" sz="1200" kern="0" dirty="0">
                          <a:effectLst/>
                          <a:latin typeface="微软雅黑" panose="020B0503020204020204" pitchFamily="34" charset="-122"/>
                          <a:ea typeface="微软雅黑" panose="020B0503020204020204" pitchFamily="34" charset="-122"/>
                        </a:rPr>
                        <a:t>本文方法</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25000"/>
                        </a:lnSpc>
                        <a:spcAft>
                          <a:spcPts val="0"/>
                        </a:spcAft>
                      </a:pPr>
                      <a:r>
                        <a:rPr lang="zh-CN" sz="1200" kern="0" dirty="0">
                          <a:effectLst/>
                          <a:latin typeface="微软雅黑" panose="020B0503020204020204" pitchFamily="34" charset="-122"/>
                          <a:ea typeface="微软雅黑" panose="020B0503020204020204" pitchFamily="34" charset="-122"/>
                        </a:rPr>
                        <a:t>单隐私保护</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25000"/>
                        </a:lnSpc>
                        <a:spcAft>
                          <a:spcPts val="0"/>
                        </a:spcAft>
                      </a:pPr>
                      <a:r>
                        <a:rPr lang="zh-CN" sz="1200" kern="0" dirty="0">
                          <a:effectLst/>
                          <a:latin typeface="微软雅黑" panose="020B0503020204020204" pitchFamily="34" charset="-122"/>
                          <a:ea typeface="微软雅黑" panose="020B0503020204020204" pitchFamily="34" charset="-122"/>
                        </a:rPr>
                        <a:t>无保护</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0184594"/>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31.4217</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31.4711</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31.4334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204555082"/>
                  </a:ext>
                </a:extLst>
              </a:tr>
              <a:tr h="231096">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2</a:t>
                      </a:r>
                      <a:r>
                        <a:rPr lang="zh-CN" sz="1200" kern="0" dirty="0">
                          <a:effectLst/>
                          <a:latin typeface="微软雅黑" panose="020B0503020204020204" pitchFamily="34" charset="-122"/>
                          <a:ea typeface="微软雅黑" panose="020B0503020204020204" pitchFamily="34" charset="-122"/>
                        </a:rPr>
                        <a:t>：</a:t>
                      </a:r>
                      <a:r>
                        <a:rPr lang="en-US" sz="1200" kern="0" dirty="0">
                          <a:effectLst/>
                          <a:latin typeface="微软雅黑" panose="020B0503020204020204" pitchFamily="34" charset="-122"/>
                          <a:ea typeface="微软雅黑" panose="020B0503020204020204" pitchFamily="34" charset="-122"/>
                        </a:rPr>
                        <a:t>00</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31.4214</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31.4709</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31.4319</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145341241"/>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31.4218</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31.4707</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31.4312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11136900"/>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4</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31.4211</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31.4703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31.4290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66261957"/>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5</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31.4255</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31.4752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31.4546</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55669865"/>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6</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31.4254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31.4752</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31.4547</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44359290"/>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7</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31.4253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31.4749</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31.4532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225263688"/>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8</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31.4242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31.4751</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31.4544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19071737"/>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9</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31.4245</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31.4761</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31.4594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80535382"/>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10</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31.4241</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31.4761</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31.4596</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109472152"/>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11</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31.4233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31.4762</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31.4598</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810185775"/>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12</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31.4215</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31.4759</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31.4583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6392265"/>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13</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31.4194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31.4789</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31.4744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09014524"/>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14</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31.4262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31.4873</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31.5182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772631670"/>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15</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31.4290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31.4880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31.5223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83103696"/>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16</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31.4309</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31.4884</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31.5243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385884881"/>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17</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31.4334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31.4889</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31.5268</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03966558"/>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18</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31.4267</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31.4879</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31.5214</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501203601"/>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19</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31.4314</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31.4891</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31.5275</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210747543"/>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20</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31.4360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31.4893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31.5290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5156728"/>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21</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31.4296</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31.4892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31.5282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9692237"/>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22</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31.4149</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31.4836</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31.4989</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874265289"/>
                  </a:ext>
                </a:extLst>
              </a:tr>
              <a:tr h="215664">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23</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31.4215</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31.4807</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31.4834</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65834311"/>
                  </a:ext>
                </a:extLst>
              </a:tr>
              <a:tr h="231096">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24</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00</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31.4162</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ct val="125000"/>
                        </a:lnSpc>
                        <a:spcAft>
                          <a:spcPts val="0"/>
                        </a:spcAft>
                      </a:pPr>
                      <a:r>
                        <a:rPr lang="en-US" sz="1200" kern="0">
                          <a:effectLst/>
                          <a:latin typeface="微软雅黑" panose="020B0503020204020204" pitchFamily="34" charset="-122"/>
                          <a:ea typeface="微软雅黑" panose="020B0503020204020204" pitchFamily="34" charset="-122"/>
                        </a:rPr>
                        <a:t>31.4783</a:t>
                      </a:r>
                      <a:endParaRPr lang="zh-CN" sz="1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lnSpc>
                          <a:spcPct val="125000"/>
                        </a:lnSpc>
                        <a:spcAft>
                          <a:spcPts val="0"/>
                        </a:spcAft>
                      </a:pPr>
                      <a:r>
                        <a:rPr lang="en-US" sz="1200" kern="0" dirty="0">
                          <a:effectLst/>
                          <a:latin typeface="微软雅黑" panose="020B0503020204020204" pitchFamily="34" charset="-122"/>
                          <a:ea typeface="微软雅黑" panose="020B0503020204020204" pitchFamily="34" charset="-122"/>
                        </a:rPr>
                        <a:t>31.4710</a:t>
                      </a:r>
                      <a:endParaRPr 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9675" marR="5967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61919693"/>
                  </a:ext>
                </a:extLst>
              </a:tr>
            </a:tbl>
          </a:graphicData>
        </a:graphic>
      </p:graphicFrame>
    </p:spTree>
    <p:extLst>
      <p:ext uri="{BB962C8B-B14F-4D97-AF65-F5344CB8AC3E}">
        <p14:creationId xmlns:p14="http://schemas.microsoft.com/office/powerpoint/2010/main" val="4161964965"/>
      </p:ext>
    </p:extLst>
  </p:cSld>
  <p:clrMapOvr>
    <a:masterClrMapping/>
  </p:clrMapOvr>
  <mc:AlternateContent xmlns:mc="http://schemas.openxmlformats.org/markup-compatibility/2006" xmlns:p14="http://schemas.microsoft.com/office/powerpoint/2010/main">
    <mc:Choice Requires="p14">
      <p:transition p14:dur="0" advTm="5715"/>
    </mc:Choice>
    <mc:Fallback xmlns="">
      <p:transition advTm="5715"/>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标题 1"/>
          <p:cNvSpPr txBox="1"/>
          <p:nvPr/>
        </p:nvSpPr>
        <p:spPr>
          <a:xfrm>
            <a:off x="1284288" y="3382963"/>
            <a:ext cx="9623425" cy="814387"/>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buFontTx/>
              <a:buNone/>
            </a:pPr>
            <a:r>
              <a:rPr lang="zh-CN" altLang="en-US" sz="4400" b="1" dirty="0">
                <a:solidFill>
                  <a:srgbClr val="1C4885"/>
                </a:solidFill>
                <a:latin typeface="微软雅黑" panose="020B0503020204020204" pitchFamily="34" charset="-122"/>
                <a:ea typeface="微软雅黑" panose="020B0503020204020204" pitchFamily="34" charset="-122"/>
              </a:rPr>
              <a:t>总结与展望</a:t>
            </a:r>
          </a:p>
        </p:txBody>
      </p:sp>
      <p:pic>
        <p:nvPicPr>
          <p:cNvPr id="77827" name="图片 19"/>
          <p:cNvPicPr>
            <a:picLocks noChangeAspect="1"/>
          </p:cNvPicPr>
          <p:nvPr/>
        </p:nvPicPr>
        <p:blipFill>
          <a:blip r:embed="rId3"/>
          <a:stretch>
            <a:fillRect/>
          </a:stretch>
        </p:blipFill>
        <p:spPr>
          <a:xfrm>
            <a:off x="419100" y="393700"/>
            <a:ext cx="1976438" cy="735013"/>
          </a:xfrm>
          <a:prstGeom prst="rect">
            <a:avLst/>
          </a:prstGeom>
          <a:noFill/>
          <a:ln w="9525">
            <a:noFill/>
          </a:ln>
        </p:spPr>
      </p:pic>
      <p:sp>
        <p:nvSpPr>
          <p:cNvPr id="77828" name="Freeform 5"/>
          <p:cNvSpPr>
            <a:spLocks noEditPoints="1"/>
          </p:cNvSpPr>
          <p:nvPr/>
        </p:nvSpPr>
        <p:spPr>
          <a:xfrm>
            <a:off x="5538788" y="2087563"/>
            <a:ext cx="1114425" cy="99695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275"/>
    </mc:Choice>
    <mc:Fallback xmlns="">
      <p:transition advTm="275"/>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MH_SubTitle_1"/>
          <p:cNvSpPr txBox="1">
            <a:spLocks noChangeArrowheads="1"/>
          </p:cNvSpPr>
          <p:nvPr>
            <p:custDataLst>
              <p:tags r:id="rId2"/>
            </p:custDataLst>
          </p:nvPr>
        </p:nvSpPr>
        <p:spPr bwMode="auto">
          <a:xfrm>
            <a:off x="2407920" y="2603500"/>
            <a:ext cx="2425065" cy="3576320"/>
          </a:xfrm>
          <a:prstGeom prst="rect">
            <a:avLst/>
          </a:prstGeom>
          <a:noFill/>
          <a:ln>
            <a:noFill/>
          </a:ln>
        </p:spPr>
        <p:txBody>
          <a:bodyPr lIns="0" tIns="0" rIns="0" bIns="0"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just" defTabSz="914400" rtl="0" eaLnBrk="1" fontAlgn="auto" latinLnBrk="0" hangingPunct="1">
              <a:lnSpc>
                <a:spcPct val="110000"/>
              </a:lnSpc>
              <a:spcBef>
                <a:spcPts val="0"/>
              </a:spcBef>
              <a:spcAft>
                <a:spcPts val="0"/>
              </a:spcAft>
              <a:buClrTx/>
              <a:buSzTx/>
              <a:buFontTx/>
              <a:buNone/>
              <a:defRPr/>
            </a:pPr>
            <a:r>
              <a:rPr kumimoji="0" lang="zh-CN" altLang="en-US" sz="18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本文针对聚合商可能面对的</a:t>
            </a:r>
            <a:r>
              <a:rPr kumimoji="0" lang="zh-CN" altLang="en-US" sz="180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内部不确定</a:t>
            </a:r>
            <a:r>
              <a:rPr kumimoji="0" lang="zh-CN" altLang="en-US" sz="18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使用</a:t>
            </a:r>
            <a:r>
              <a:rPr kumimoji="0" lang="zh-CN" altLang="en-US" sz="180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CVaR</a:t>
            </a:r>
            <a:r>
              <a:rPr kumimoji="0" lang="zh-CN" altLang="en-US" sz="18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进行度量并加入</a:t>
            </a:r>
            <a:r>
              <a:rPr kumimoji="0" lang="zh-CN" altLang="en-US" sz="180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聚合商成本</a:t>
            </a:r>
            <a:r>
              <a:rPr kumimoji="0" lang="zh-CN" altLang="en-US" sz="18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中，使聚合商能够合理规避内部不确定性带来的</a:t>
            </a:r>
            <a:r>
              <a:rPr kumimoji="0" lang="zh-CN" altLang="en-US" sz="180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风险损失</a:t>
            </a:r>
            <a:r>
              <a:rPr kumimoji="0" lang="zh-CN" altLang="en-US" sz="18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。加入不确定性风险后，聚合商能够直观看到风险对自身成本的影响，并可以通过自身</a:t>
            </a:r>
            <a:r>
              <a:rPr kumimoji="0" lang="zh-CN" altLang="en-US" sz="180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风险偏好</a:t>
            </a:r>
            <a:r>
              <a:rPr kumimoji="0" lang="zh-CN" altLang="en-US" sz="18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选择不同的</a:t>
            </a:r>
            <a:r>
              <a:rPr kumimoji="0" lang="zh-CN" altLang="en-US" sz="180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风险系数</a:t>
            </a:r>
            <a:r>
              <a:rPr kumimoji="0" lang="zh-CN" altLang="en-US" sz="180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来控制内部风险的影响</a:t>
            </a:r>
            <a:r>
              <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79875"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15" cstate="print"/>
          <a:srcRect l="8888" t="6664" r="8957" b="5601"/>
          <a:stretch>
            <a:fillRect/>
          </a:stretch>
        </p:blipFill>
        <p:spPr>
          <a:xfrm>
            <a:off x="370755" y="206065"/>
            <a:ext cx="879623" cy="909956"/>
          </a:xfrm>
          <a:prstGeom prst="ellipse">
            <a:avLst/>
          </a:prstGeom>
        </p:spPr>
      </p:pic>
      <p:sp>
        <p:nvSpPr>
          <p:cNvPr id="79883" name="标题 1"/>
          <p:cNvSpPr txBox="1"/>
          <p:nvPr/>
        </p:nvSpPr>
        <p:spPr>
          <a:xfrm>
            <a:off x="2620963" y="242888"/>
            <a:ext cx="76025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全文总结</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142" name="等腰三角形 141"/>
          <p:cNvSpPr/>
          <p:nvPr/>
        </p:nvSpPr>
        <p:spPr>
          <a:xfrm rot="16200000" flipV="1">
            <a:off x="1499394" y="6311106"/>
            <a:ext cx="417513"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58" name="文本框 57"/>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79889" name="文本框 27"/>
          <p:cNvSpPr txBox="1"/>
          <p:nvPr/>
        </p:nvSpPr>
        <p:spPr>
          <a:xfrm>
            <a:off x="-71437" y="6180138"/>
            <a:ext cx="1754187"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总结与展望</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59" name="MH_Other_3"/>
          <p:cNvSpPr/>
          <p:nvPr>
            <p:custDataLst>
              <p:tags r:id="rId3"/>
            </p:custDataLst>
          </p:nvPr>
        </p:nvSpPr>
        <p:spPr>
          <a:xfrm>
            <a:off x="2222500" y="6375400"/>
            <a:ext cx="3189288" cy="212725"/>
          </a:xfrm>
          <a:custGeom>
            <a:avLst/>
            <a:gdLst>
              <a:gd name="connsiteX0" fmla="*/ 0 w 2401677"/>
              <a:gd name="connsiteY0" fmla="*/ 0 h 275422"/>
              <a:gd name="connsiteX1" fmla="*/ 2401677 w 2401677"/>
              <a:gd name="connsiteY1" fmla="*/ 0 h 275422"/>
              <a:gd name="connsiteX2" fmla="*/ 2401677 w 2401677"/>
              <a:gd name="connsiteY2" fmla="*/ 275422 h 275422"/>
              <a:gd name="connsiteX3" fmla="*/ 0 w 2401677"/>
              <a:gd name="connsiteY3" fmla="*/ 275422 h 275422"/>
              <a:gd name="connsiteX4" fmla="*/ 0 w 2401677"/>
              <a:gd name="connsiteY4" fmla="*/ 0 h 275422"/>
              <a:gd name="connsiteX0-1" fmla="*/ 0 w 2401677"/>
              <a:gd name="connsiteY0-2" fmla="*/ 0 h 275422"/>
              <a:gd name="connsiteX1-3" fmla="*/ 2401677 w 2401677"/>
              <a:gd name="connsiteY1-4" fmla="*/ 0 h 275422"/>
              <a:gd name="connsiteX2-5" fmla="*/ 2401677 w 2401677"/>
              <a:gd name="connsiteY2-6" fmla="*/ 275422 h 275422"/>
              <a:gd name="connsiteX3-7" fmla="*/ 2076450 w 2401677"/>
              <a:gd name="connsiteY3-8" fmla="*/ 273127 h 275422"/>
              <a:gd name="connsiteX4-9" fmla="*/ 0 w 2401677"/>
              <a:gd name="connsiteY4-10" fmla="*/ 275422 h 275422"/>
              <a:gd name="connsiteX5" fmla="*/ 0 w 2401677"/>
              <a:gd name="connsiteY5" fmla="*/ 0 h 275422"/>
              <a:gd name="connsiteX0-11" fmla="*/ 0 w 2401677"/>
              <a:gd name="connsiteY0-12" fmla="*/ 0 h 275422"/>
              <a:gd name="connsiteX1-13" fmla="*/ 2401677 w 2401677"/>
              <a:gd name="connsiteY1-14" fmla="*/ 0 h 275422"/>
              <a:gd name="connsiteX2-15" fmla="*/ 2076450 w 2401677"/>
              <a:gd name="connsiteY2-16" fmla="*/ 273127 h 275422"/>
              <a:gd name="connsiteX3-17" fmla="*/ 0 w 2401677"/>
              <a:gd name="connsiteY3-18" fmla="*/ 275422 h 275422"/>
              <a:gd name="connsiteX4-19" fmla="*/ 0 w 2401677"/>
              <a:gd name="connsiteY4-20" fmla="*/ 0 h 275422"/>
              <a:gd name="connsiteX0-21" fmla="*/ 0 w 2376277"/>
              <a:gd name="connsiteY0-22" fmla="*/ 0 h 275422"/>
              <a:gd name="connsiteX1-23" fmla="*/ 2376277 w 2376277"/>
              <a:gd name="connsiteY1-24" fmla="*/ 0 h 275422"/>
              <a:gd name="connsiteX2-25" fmla="*/ 2076450 w 2376277"/>
              <a:gd name="connsiteY2-26" fmla="*/ 273127 h 275422"/>
              <a:gd name="connsiteX3-27" fmla="*/ 0 w 2376277"/>
              <a:gd name="connsiteY3-28" fmla="*/ 275422 h 275422"/>
              <a:gd name="connsiteX4-29" fmla="*/ 0 w 2376277"/>
              <a:gd name="connsiteY4-30" fmla="*/ 0 h 27542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76277" h="275422">
                <a:moveTo>
                  <a:pt x="0" y="0"/>
                </a:moveTo>
                <a:lnTo>
                  <a:pt x="2376277" y="0"/>
                </a:lnTo>
                <a:lnTo>
                  <a:pt x="2076450" y="273127"/>
                </a:lnTo>
                <a:lnTo>
                  <a:pt x="0" y="275422"/>
                </a:lnTo>
                <a:lnTo>
                  <a:pt x="0" y="0"/>
                </a:lnTo>
                <a:close/>
              </a:path>
            </a:pathLst>
          </a:custGeom>
          <a:solidFill>
            <a:schemeClr val="accent1"/>
          </a:solidFill>
          <a:ln>
            <a:noFill/>
          </a:ln>
          <a:effectLst>
            <a:outerShdw blurRad="63500" algn="ctr" rotWithShape="0">
              <a:srgbClr val="ECECE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MH_Other_8"/>
          <p:cNvSpPr txBox="1">
            <a:spLocks noChangeArrowheads="1"/>
          </p:cNvSpPr>
          <p:nvPr>
            <p:custDataLst>
              <p:tags r:id="rId4"/>
            </p:custDataLst>
          </p:nvPr>
        </p:nvSpPr>
        <p:spPr bwMode="auto">
          <a:xfrm>
            <a:off x="2778125" y="1782763"/>
            <a:ext cx="1684338" cy="423863"/>
          </a:xfrm>
          <a:prstGeom prst="rect">
            <a:avLst/>
          </a:prstGeom>
          <a:noFill/>
          <a:ln>
            <a:noFill/>
          </a:ln>
        </p:spPr>
        <p:txBody>
          <a:bodyPr lIns="0" rIns="0" bIns="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4000" b="0" i="0" u="none" strike="noStrike" kern="1200" cap="none" spc="0" normalizeH="0" baseline="0" noProof="0" dirty="0">
                <a:ln>
                  <a:noFill/>
                </a:ln>
                <a:solidFill>
                  <a:schemeClr val="accent1">
                    <a:lumMod val="75000"/>
                  </a:schemeClr>
                </a:solidFill>
                <a:effectLst/>
                <a:uLnTx/>
                <a:uFillTx/>
                <a:latin typeface="Impact" panose="020B0806030902050204" pitchFamily="34" charset="0"/>
                <a:ea typeface="Adobe Gothic Std B" panose="020B0800000000000000" pitchFamily="34" charset="-128"/>
                <a:cs typeface="+mn-cs"/>
              </a:rPr>
              <a:t>01</a:t>
            </a:r>
            <a:endParaRPr kumimoji="0" lang="zh-CN" altLang="en-US" sz="4000" b="0" i="0" u="none" strike="noStrike" kern="1200" cap="none" spc="0" normalizeH="0" baseline="0" noProof="0" dirty="0">
              <a:ln>
                <a:noFill/>
              </a:ln>
              <a:solidFill>
                <a:schemeClr val="accent1">
                  <a:lumMod val="75000"/>
                </a:schemeClr>
              </a:solidFill>
              <a:effectLst/>
              <a:uLnTx/>
              <a:uFillTx/>
              <a:latin typeface="Impact" panose="020B0806030902050204" pitchFamily="34" charset="0"/>
              <a:ea typeface="宋体" panose="02010600030101010101" pitchFamily="2" charset="-122"/>
              <a:cs typeface="+mn-cs"/>
            </a:endParaRPr>
          </a:p>
        </p:txBody>
      </p:sp>
      <p:sp>
        <p:nvSpPr>
          <p:cNvPr id="61" name="MH_Other_9"/>
          <p:cNvSpPr txBox="1">
            <a:spLocks noChangeArrowheads="1"/>
          </p:cNvSpPr>
          <p:nvPr>
            <p:custDataLst>
              <p:tags r:id="rId5"/>
            </p:custDataLst>
          </p:nvPr>
        </p:nvSpPr>
        <p:spPr bwMode="auto">
          <a:xfrm>
            <a:off x="5973763" y="1268413"/>
            <a:ext cx="1684338" cy="425450"/>
          </a:xfrm>
          <a:prstGeom prst="rect">
            <a:avLst/>
          </a:prstGeom>
          <a:noFill/>
          <a:ln>
            <a:noFill/>
          </a:ln>
        </p:spPr>
        <p:txBody>
          <a:bodyPr lIns="0" rIns="0" bIns="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4000" b="0" i="0" u="none" strike="noStrike" kern="1200" cap="none" spc="0" normalizeH="0" baseline="0" noProof="0" dirty="0">
                <a:ln>
                  <a:noFill/>
                </a:ln>
                <a:solidFill>
                  <a:schemeClr val="accent1">
                    <a:lumMod val="75000"/>
                  </a:schemeClr>
                </a:solidFill>
                <a:effectLst/>
                <a:uLnTx/>
                <a:uFillTx/>
                <a:latin typeface="Impact" panose="020B0806030902050204" pitchFamily="34" charset="0"/>
                <a:ea typeface="Adobe Gothic Std B" panose="020B0800000000000000" pitchFamily="34" charset="-128"/>
                <a:cs typeface="+mn-cs"/>
              </a:rPr>
              <a:t>02</a:t>
            </a:r>
            <a:endParaRPr kumimoji="0" lang="zh-CN" altLang="en-US" sz="4000" b="0" i="0" u="none" strike="noStrike" kern="1200" cap="none" spc="0" normalizeH="0" baseline="0" noProof="0" dirty="0">
              <a:ln>
                <a:noFill/>
              </a:ln>
              <a:solidFill>
                <a:schemeClr val="accent1">
                  <a:lumMod val="75000"/>
                </a:schemeClr>
              </a:solidFill>
              <a:effectLst/>
              <a:uLnTx/>
              <a:uFillTx/>
              <a:latin typeface="Impact" panose="020B0806030902050204" pitchFamily="34" charset="0"/>
              <a:ea typeface="宋体" panose="02010600030101010101" pitchFamily="2" charset="-122"/>
              <a:cs typeface="+mn-cs"/>
            </a:endParaRPr>
          </a:p>
        </p:txBody>
      </p:sp>
      <p:sp>
        <p:nvSpPr>
          <p:cNvPr id="62" name="MH_Other_10"/>
          <p:cNvSpPr txBox="1">
            <a:spLocks noChangeArrowheads="1"/>
          </p:cNvSpPr>
          <p:nvPr>
            <p:custDataLst>
              <p:tags r:id="rId6"/>
            </p:custDataLst>
          </p:nvPr>
        </p:nvSpPr>
        <p:spPr bwMode="auto">
          <a:xfrm>
            <a:off x="9263063" y="571500"/>
            <a:ext cx="1684338" cy="423863"/>
          </a:xfrm>
          <a:prstGeom prst="rect">
            <a:avLst/>
          </a:prstGeom>
          <a:noFill/>
          <a:ln>
            <a:noFill/>
          </a:ln>
        </p:spPr>
        <p:txBody>
          <a:bodyPr lIns="0" rIns="0" bIns="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4000" b="0" i="0" u="none" strike="noStrike" kern="1200" cap="none" spc="0" normalizeH="0" baseline="0" noProof="0" dirty="0">
                <a:ln>
                  <a:noFill/>
                </a:ln>
                <a:solidFill>
                  <a:schemeClr val="accent1">
                    <a:lumMod val="75000"/>
                  </a:schemeClr>
                </a:solidFill>
                <a:effectLst/>
                <a:uLnTx/>
                <a:uFillTx/>
                <a:latin typeface="Impact" panose="020B0806030902050204" pitchFamily="34" charset="0"/>
                <a:ea typeface="Adobe Gothic Std B" panose="020B0800000000000000" pitchFamily="34" charset="-128"/>
                <a:cs typeface="+mn-cs"/>
              </a:rPr>
              <a:t>03</a:t>
            </a:r>
            <a:endParaRPr kumimoji="0" lang="zh-CN" altLang="en-US" sz="4000" b="0" i="0" u="none" strike="noStrike" kern="1200" cap="none" spc="0" normalizeH="0" baseline="0" noProof="0" dirty="0">
              <a:ln>
                <a:noFill/>
              </a:ln>
              <a:solidFill>
                <a:schemeClr val="accent1">
                  <a:lumMod val="75000"/>
                </a:schemeClr>
              </a:solidFill>
              <a:effectLst/>
              <a:uLnTx/>
              <a:uFillTx/>
              <a:latin typeface="Impact" panose="020B0806030902050204" pitchFamily="34" charset="0"/>
              <a:ea typeface="宋体" panose="02010600030101010101" pitchFamily="2" charset="-122"/>
              <a:cs typeface="+mn-cs"/>
            </a:endParaRPr>
          </a:p>
        </p:txBody>
      </p:sp>
      <p:sp>
        <p:nvSpPr>
          <p:cNvPr id="64" name="MH_SubTitle_2"/>
          <p:cNvSpPr txBox="1">
            <a:spLocks noChangeArrowheads="1"/>
          </p:cNvSpPr>
          <p:nvPr>
            <p:custDataLst>
              <p:tags r:id="rId7"/>
            </p:custDataLst>
          </p:nvPr>
        </p:nvSpPr>
        <p:spPr bwMode="auto">
          <a:xfrm>
            <a:off x="5433695" y="1858010"/>
            <a:ext cx="2649220" cy="3757295"/>
          </a:xfrm>
          <a:prstGeom prst="rect">
            <a:avLst/>
          </a:prstGeom>
          <a:noFill/>
          <a:ln>
            <a:noFill/>
          </a:ln>
        </p:spPr>
        <p:txBody>
          <a:bodyPr lIns="0" tIns="0" rIns="0" bIns="0"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R="0" lvl="0" algn="just" defTabSz="914400" rtl="0" eaLnBrk="1" fontAlgn="auto" hangingPunct="1">
              <a:lnSpc>
                <a:spcPct val="110000"/>
              </a:lnSpc>
              <a:spcBef>
                <a:spcPts val="0"/>
              </a:spcBef>
              <a:spcAft>
                <a:spcPts val="0"/>
              </a:spcAft>
              <a:buClrTx/>
              <a:buSzTx/>
              <a:buFontTx/>
              <a:buNone/>
              <a:defRPr/>
            </a:pP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本文</a:t>
            </a:r>
            <a:r>
              <a:rPr lang="zh-CN" altLang="en-US" sz="1800" noProof="0" dirty="0">
                <a:ln>
                  <a:noFill/>
                </a:ln>
                <a:effectLst/>
                <a:uLnTx/>
                <a:uFillTx/>
                <a:latin typeface="微软雅黑" panose="020B0503020204020204" pitchFamily="34" charset="-122"/>
                <a:ea typeface="微软雅黑" panose="020B0503020204020204" pitchFamily="34" charset="-122"/>
                <a:sym typeface="+mn-ea"/>
              </a:rPr>
              <a:t>站在攻击者角度</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对影响聚合商的外部风险中的虚假数据注入攻击进行了详细分析和建模，通过剖析攻击机理，为聚合商和系统后续的风险防御提供参考。本文分别对</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攻击者的成本收益</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以及</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聚合商和用户的交互过程</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进行建模，然后构建</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双层攻击规划模型</a:t>
            </a: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模拟攻击者对聚合商的恶意攻击。</a:t>
            </a:r>
            <a:endPar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65" name="MH_SubTitle_3"/>
          <p:cNvSpPr txBox="1">
            <a:spLocks noChangeArrowheads="1"/>
          </p:cNvSpPr>
          <p:nvPr>
            <p:custDataLst>
              <p:tags r:id="rId8"/>
            </p:custDataLst>
          </p:nvPr>
        </p:nvSpPr>
        <p:spPr bwMode="auto">
          <a:xfrm>
            <a:off x="8682990" y="1115695"/>
            <a:ext cx="3077210" cy="3971290"/>
          </a:xfrm>
          <a:prstGeom prst="rect">
            <a:avLst/>
          </a:prstGeom>
          <a:noFill/>
          <a:ln>
            <a:noFill/>
          </a:ln>
        </p:spPr>
        <p:txBody>
          <a:bodyPr lIns="0" tIns="0" rIns="0" bIns="0"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R="0" lvl="0" algn="just" defTabSz="914400" rtl="0" eaLnBrk="1" fontAlgn="auto" hangingPunct="1">
              <a:lnSpc>
                <a:spcPct val="110000"/>
              </a:lnSpc>
              <a:spcBef>
                <a:spcPts val="0"/>
              </a:spcBef>
              <a:spcAft>
                <a:spcPts val="0"/>
              </a:spcAft>
              <a:buClrTx/>
              <a:buSzTx/>
              <a:buFontTx/>
              <a:buNone/>
              <a:defRPr/>
            </a:pP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本文针对前两章风险，尤其是第三章所提</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攻击风险</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，从系统层面提出了一种含</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双重保护机制</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的多能信息物理系统分布式优化调度方法。该方法对</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未发动的攻击</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，从第三章的攻击路径入手，</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切断</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了攻击者对聚合商</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成本信息的嗅探</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，从源头解决了攻击者的信息篡改；对</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已发动的攻击</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，利用</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邻里监测隔离机制</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，减少攻击对系统调度的损害，实现了多能信息物理系统的安全</a:t>
            </a:r>
            <a:r>
              <a:rPr kumimoji="0" lang="zh-CN" altLang="en-US" sz="18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经济调度</a:t>
            </a: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p>
        </p:txBody>
      </p:sp>
      <p:sp>
        <p:nvSpPr>
          <p:cNvPr id="66" name="MH_Other_3"/>
          <p:cNvSpPr/>
          <p:nvPr>
            <p:custDataLst>
              <p:tags r:id="rId9"/>
            </p:custDataLst>
          </p:nvPr>
        </p:nvSpPr>
        <p:spPr>
          <a:xfrm>
            <a:off x="5414963" y="5738813"/>
            <a:ext cx="3187700" cy="212725"/>
          </a:xfrm>
          <a:custGeom>
            <a:avLst/>
            <a:gdLst>
              <a:gd name="connsiteX0" fmla="*/ 0 w 2401677"/>
              <a:gd name="connsiteY0" fmla="*/ 0 h 275422"/>
              <a:gd name="connsiteX1" fmla="*/ 2401677 w 2401677"/>
              <a:gd name="connsiteY1" fmla="*/ 0 h 275422"/>
              <a:gd name="connsiteX2" fmla="*/ 2401677 w 2401677"/>
              <a:gd name="connsiteY2" fmla="*/ 275422 h 275422"/>
              <a:gd name="connsiteX3" fmla="*/ 0 w 2401677"/>
              <a:gd name="connsiteY3" fmla="*/ 275422 h 275422"/>
              <a:gd name="connsiteX4" fmla="*/ 0 w 2401677"/>
              <a:gd name="connsiteY4" fmla="*/ 0 h 275422"/>
              <a:gd name="connsiteX0-1" fmla="*/ 0 w 2401677"/>
              <a:gd name="connsiteY0-2" fmla="*/ 0 h 275422"/>
              <a:gd name="connsiteX1-3" fmla="*/ 2401677 w 2401677"/>
              <a:gd name="connsiteY1-4" fmla="*/ 0 h 275422"/>
              <a:gd name="connsiteX2-5" fmla="*/ 2401677 w 2401677"/>
              <a:gd name="connsiteY2-6" fmla="*/ 275422 h 275422"/>
              <a:gd name="connsiteX3-7" fmla="*/ 2076450 w 2401677"/>
              <a:gd name="connsiteY3-8" fmla="*/ 273127 h 275422"/>
              <a:gd name="connsiteX4-9" fmla="*/ 0 w 2401677"/>
              <a:gd name="connsiteY4-10" fmla="*/ 275422 h 275422"/>
              <a:gd name="connsiteX5" fmla="*/ 0 w 2401677"/>
              <a:gd name="connsiteY5" fmla="*/ 0 h 275422"/>
              <a:gd name="connsiteX0-11" fmla="*/ 0 w 2401677"/>
              <a:gd name="connsiteY0-12" fmla="*/ 0 h 275422"/>
              <a:gd name="connsiteX1-13" fmla="*/ 2401677 w 2401677"/>
              <a:gd name="connsiteY1-14" fmla="*/ 0 h 275422"/>
              <a:gd name="connsiteX2-15" fmla="*/ 2076450 w 2401677"/>
              <a:gd name="connsiteY2-16" fmla="*/ 273127 h 275422"/>
              <a:gd name="connsiteX3-17" fmla="*/ 0 w 2401677"/>
              <a:gd name="connsiteY3-18" fmla="*/ 275422 h 275422"/>
              <a:gd name="connsiteX4-19" fmla="*/ 0 w 2401677"/>
              <a:gd name="connsiteY4-20" fmla="*/ 0 h 275422"/>
              <a:gd name="connsiteX0-21" fmla="*/ 0 w 2376277"/>
              <a:gd name="connsiteY0-22" fmla="*/ 0 h 275422"/>
              <a:gd name="connsiteX1-23" fmla="*/ 2376277 w 2376277"/>
              <a:gd name="connsiteY1-24" fmla="*/ 0 h 275422"/>
              <a:gd name="connsiteX2-25" fmla="*/ 2076450 w 2376277"/>
              <a:gd name="connsiteY2-26" fmla="*/ 273127 h 275422"/>
              <a:gd name="connsiteX3-27" fmla="*/ 0 w 2376277"/>
              <a:gd name="connsiteY3-28" fmla="*/ 275422 h 275422"/>
              <a:gd name="connsiteX4-29" fmla="*/ 0 w 2376277"/>
              <a:gd name="connsiteY4-30" fmla="*/ 0 h 27542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76277" h="275422">
                <a:moveTo>
                  <a:pt x="0" y="0"/>
                </a:moveTo>
                <a:lnTo>
                  <a:pt x="2376277" y="0"/>
                </a:lnTo>
                <a:lnTo>
                  <a:pt x="2076450" y="273127"/>
                </a:lnTo>
                <a:lnTo>
                  <a:pt x="0" y="275422"/>
                </a:lnTo>
                <a:lnTo>
                  <a:pt x="0" y="0"/>
                </a:lnTo>
                <a:close/>
              </a:path>
            </a:pathLst>
          </a:custGeom>
          <a:solidFill>
            <a:schemeClr val="accent1"/>
          </a:solidFill>
          <a:ln>
            <a:noFill/>
          </a:ln>
          <a:effectLst>
            <a:outerShdw blurRad="63500" algn="ctr" rotWithShape="0">
              <a:srgbClr val="ECECE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7" name="MH_Other_5"/>
          <p:cNvSpPr/>
          <p:nvPr>
            <p:custDataLst>
              <p:tags r:id="rId10"/>
            </p:custDataLst>
          </p:nvPr>
        </p:nvSpPr>
        <p:spPr>
          <a:xfrm rot="16200000" flipV="1">
            <a:off x="4794250" y="5970588"/>
            <a:ext cx="849313" cy="385763"/>
          </a:xfrm>
          <a:custGeom>
            <a:avLst/>
            <a:gdLst>
              <a:gd name="connsiteX0" fmla="*/ 0 w 1389960"/>
              <a:gd name="connsiteY0" fmla="*/ 317655 h 317655"/>
              <a:gd name="connsiteX1" fmla="*/ 282614 w 1389960"/>
              <a:gd name="connsiteY1" fmla="*/ 0 h 317655"/>
              <a:gd name="connsiteX2" fmla="*/ 1107346 w 1389960"/>
              <a:gd name="connsiteY2" fmla="*/ 0 h 317655"/>
              <a:gd name="connsiteX3" fmla="*/ 1389960 w 1389960"/>
              <a:gd name="connsiteY3" fmla="*/ 317655 h 317655"/>
              <a:gd name="connsiteX4" fmla="*/ 0 w 1389960"/>
              <a:gd name="connsiteY4" fmla="*/ 317655 h 317655"/>
              <a:gd name="connsiteX0-1" fmla="*/ 0 w 1393096"/>
              <a:gd name="connsiteY0-2" fmla="*/ 317655 h 317655"/>
              <a:gd name="connsiteX1-3" fmla="*/ 282614 w 1393096"/>
              <a:gd name="connsiteY1-4" fmla="*/ 0 h 317655"/>
              <a:gd name="connsiteX2-5" fmla="*/ 1393096 w 1393096"/>
              <a:gd name="connsiteY2-6" fmla="*/ 3 h 317655"/>
              <a:gd name="connsiteX3-7" fmla="*/ 1389960 w 1393096"/>
              <a:gd name="connsiteY3-8" fmla="*/ 317655 h 317655"/>
              <a:gd name="connsiteX4-9" fmla="*/ 0 w 1393096"/>
              <a:gd name="connsiteY4-10" fmla="*/ 317655 h 317655"/>
              <a:gd name="connsiteX0-11" fmla="*/ 0 w 1393096"/>
              <a:gd name="connsiteY0-12" fmla="*/ 317655 h 325226"/>
              <a:gd name="connsiteX1-13" fmla="*/ 282614 w 1393096"/>
              <a:gd name="connsiteY1-14" fmla="*/ 0 h 325226"/>
              <a:gd name="connsiteX2-15" fmla="*/ 1393096 w 1393096"/>
              <a:gd name="connsiteY2-16" fmla="*/ 3 h 325226"/>
              <a:gd name="connsiteX3-17" fmla="*/ 1389960 w 1393096"/>
              <a:gd name="connsiteY3-18" fmla="*/ 317655 h 325226"/>
              <a:gd name="connsiteX4-19" fmla="*/ 1126244 w 1393096"/>
              <a:gd name="connsiteY4-20" fmla="*/ 325226 h 325226"/>
              <a:gd name="connsiteX5" fmla="*/ 0 w 1393096"/>
              <a:gd name="connsiteY5" fmla="*/ 317655 h 325226"/>
              <a:gd name="connsiteX0-21" fmla="*/ 0 w 1443372"/>
              <a:gd name="connsiteY0-22" fmla="*/ 317655 h 325226"/>
              <a:gd name="connsiteX1-23" fmla="*/ 282614 w 1443372"/>
              <a:gd name="connsiteY1-24" fmla="*/ 0 h 325226"/>
              <a:gd name="connsiteX2-25" fmla="*/ 1393096 w 1443372"/>
              <a:gd name="connsiteY2-26" fmla="*/ 3 h 325226"/>
              <a:gd name="connsiteX3-27" fmla="*/ 1126244 w 1443372"/>
              <a:gd name="connsiteY3-28" fmla="*/ 325226 h 325226"/>
              <a:gd name="connsiteX4-29" fmla="*/ 0 w 1443372"/>
              <a:gd name="connsiteY4-30" fmla="*/ 317655 h 325226"/>
              <a:gd name="connsiteX0-31" fmla="*/ 0 w 1393096"/>
              <a:gd name="connsiteY0-32" fmla="*/ 317655 h 325226"/>
              <a:gd name="connsiteX1-33" fmla="*/ 282614 w 1393096"/>
              <a:gd name="connsiteY1-34" fmla="*/ 0 h 325226"/>
              <a:gd name="connsiteX2-35" fmla="*/ 1393096 w 1393096"/>
              <a:gd name="connsiteY2-36" fmla="*/ 3 h 325226"/>
              <a:gd name="connsiteX3-37" fmla="*/ 1126244 w 1393096"/>
              <a:gd name="connsiteY3-38" fmla="*/ 325226 h 325226"/>
              <a:gd name="connsiteX4-39" fmla="*/ 0 w 1393096"/>
              <a:gd name="connsiteY4-40" fmla="*/ 317655 h 325226"/>
              <a:gd name="connsiteX0-41" fmla="*/ 0 w 1393096"/>
              <a:gd name="connsiteY0-42" fmla="*/ 317655 h 325226"/>
              <a:gd name="connsiteX1-43" fmla="*/ 282614 w 1393096"/>
              <a:gd name="connsiteY1-44" fmla="*/ 0 h 325226"/>
              <a:gd name="connsiteX2-45" fmla="*/ 1393096 w 1393096"/>
              <a:gd name="connsiteY2-46" fmla="*/ 3 h 325226"/>
              <a:gd name="connsiteX3-47" fmla="*/ 1126244 w 1393096"/>
              <a:gd name="connsiteY3-48" fmla="*/ 325226 h 325226"/>
              <a:gd name="connsiteX4-49" fmla="*/ 0 w 1393096"/>
              <a:gd name="connsiteY4-50" fmla="*/ 317655 h 32522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93096" h="325226">
                <a:moveTo>
                  <a:pt x="0" y="317655"/>
                </a:moveTo>
                <a:lnTo>
                  <a:pt x="282614" y="0"/>
                </a:lnTo>
                <a:lnTo>
                  <a:pt x="1393096" y="3"/>
                </a:lnTo>
                <a:lnTo>
                  <a:pt x="1126244" y="325226"/>
                </a:lnTo>
                <a:lnTo>
                  <a:pt x="0" y="317655"/>
                </a:lnTo>
                <a:close/>
              </a:path>
            </a:pathLst>
          </a:custGeom>
          <a:solidFill>
            <a:schemeClr val="accent1">
              <a:lumMod val="60000"/>
              <a:lumOff val="40000"/>
            </a:schemeClr>
          </a:solidFill>
          <a:ln>
            <a:noFill/>
          </a:ln>
          <a:effectLst>
            <a:outerShdw blurRad="63500" sx="102000" sy="102000" algn="ctr" rotWithShape="0">
              <a:srgbClr val="ECECE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8" name="MH_Other_3"/>
          <p:cNvSpPr/>
          <p:nvPr>
            <p:custDataLst>
              <p:tags r:id="rId11"/>
            </p:custDataLst>
          </p:nvPr>
        </p:nvSpPr>
        <p:spPr>
          <a:xfrm>
            <a:off x="8602663" y="5094288"/>
            <a:ext cx="3187700" cy="212725"/>
          </a:xfrm>
          <a:custGeom>
            <a:avLst/>
            <a:gdLst>
              <a:gd name="connsiteX0" fmla="*/ 0 w 2401677"/>
              <a:gd name="connsiteY0" fmla="*/ 0 h 275422"/>
              <a:gd name="connsiteX1" fmla="*/ 2401677 w 2401677"/>
              <a:gd name="connsiteY1" fmla="*/ 0 h 275422"/>
              <a:gd name="connsiteX2" fmla="*/ 2401677 w 2401677"/>
              <a:gd name="connsiteY2" fmla="*/ 275422 h 275422"/>
              <a:gd name="connsiteX3" fmla="*/ 0 w 2401677"/>
              <a:gd name="connsiteY3" fmla="*/ 275422 h 275422"/>
              <a:gd name="connsiteX4" fmla="*/ 0 w 2401677"/>
              <a:gd name="connsiteY4" fmla="*/ 0 h 275422"/>
              <a:gd name="connsiteX0-1" fmla="*/ 0 w 2401677"/>
              <a:gd name="connsiteY0-2" fmla="*/ 0 h 275422"/>
              <a:gd name="connsiteX1-3" fmla="*/ 2401677 w 2401677"/>
              <a:gd name="connsiteY1-4" fmla="*/ 0 h 275422"/>
              <a:gd name="connsiteX2-5" fmla="*/ 2401677 w 2401677"/>
              <a:gd name="connsiteY2-6" fmla="*/ 275422 h 275422"/>
              <a:gd name="connsiteX3-7" fmla="*/ 2076450 w 2401677"/>
              <a:gd name="connsiteY3-8" fmla="*/ 273127 h 275422"/>
              <a:gd name="connsiteX4-9" fmla="*/ 0 w 2401677"/>
              <a:gd name="connsiteY4-10" fmla="*/ 275422 h 275422"/>
              <a:gd name="connsiteX5" fmla="*/ 0 w 2401677"/>
              <a:gd name="connsiteY5" fmla="*/ 0 h 275422"/>
              <a:gd name="connsiteX0-11" fmla="*/ 0 w 2401677"/>
              <a:gd name="connsiteY0-12" fmla="*/ 0 h 275422"/>
              <a:gd name="connsiteX1-13" fmla="*/ 2401677 w 2401677"/>
              <a:gd name="connsiteY1-14" fmla="*/ 0 h 275422"/>
              <a:gd name="connsiteX2-15" fmla="*/ 2076450 w 2401677"/>
              <a:gd name="connsiteY2-16" fmla="*/ 273127 h 275422"/>
              <a:gd name="connsiteX3-17" fmla="*/ 0 w 2401677"/>
              <a:gd name="connsiteY3-18" fmla="*/ 275422 h 275422"/>
              <a:gd name="connsiteX4-19" fmla="*/ 0 w 2401677"/>
              <a:gd name="connsiteY4-20" fmla="*/ 0 h 275422"/>
              <a:gd name="connsiteX0-21" fmla="*/ 0 w 2376277"/>
              <a:gd name="connsiteY0-22" fmla="*/ 0 h 275422"/>
              <a:gd name="connsiteX1-23" fmla="*/ 2376277 w 2376277"/>
              <a:gd name="connsiteY1-24" fmla="*/ 0 h 275422"/>
              <a:gd name="connsiteX2-25" fmla="*/ 2076450 w 2376277"/>
              <a:gd name="connsiteY2-26" fmla="*/ 273127 h 275422"/>
              <a:gd name="connsiteX3-27" fmla="*/ 0 w 2376277"/>
              <a:gd name="connsiteY3-28" fmla="*/ 275422 h 275422"/>
              <a:gd name="connsiteX4-29" fmla="*/ 0 w 2376277"/>
              <a:gd name="connsiteY4-30" fmla="*/ 0 h 27542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76277" h="275422">
                <a:moveTo>
                  <a:pt x="0" y="0"/>
                </a:moveTo>
                <a:lnTo>
                  <a:pt x="2376277" y="0"/>
                </a:lnTo>
                <a:lnTo>
                  <a:pt x="2076450" y="273127"/>
                </a:lnTo>
                <a:lnTo>
                  <a:pt x="0" y="275422"/>
                </a:lnTo>
                <a:lnTo>
                  <a:pt x="0" y="0"/>
                </a:lnTo>
                <a:close/>
              </a:path>
            </a:pathLst>
          </a:custGeom>
          <a:solidFill>
            <a:schemeClr val="accent1"/>
          </a:solidFill>
          <a:ln>
            <a:noFill/>
          </a:ln>
          <a:effectLst>
            <a:outerShdw blurRad="63500" algn="ctr" rotWithShape="0">
              <a:srgbClr val="ECECE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9" name="MH_Other_5"/>
          <p:cNvSpPr/>
          <p:nvPr>
            <p:custDataLst>
              <p:tags r:id="rId12"/>
            </p:custDataLst>
          </p:nvPr>
        </p:nvSpPr>
        <p:spPr>
          <a:xfrm rot="16200000" flipV="1">
            <a:off x="7985125" y="5326063"/>
            <a:ext cx="849313" cy="385763"/>
          </a:xfrm>
          <a:custGeom>
            <a:avLst/>
            <a:gdLst>
              <a:gd name="connsiteX0" fmla="*/ 0 w 1389960"/>
              <a:gd name="connsiteY0" fmla="*/ 317655 h 317655"/>
              <a:gd name="connsiteX1" fmla="*/ 282614 w 1389960"/>
              <a:gd name="connsiteY1" fmla="*/ 0 h 317655"/>
              <a:gd name="connsiteX2" fmla="*/ 1107346 w 1389960"/>
              <a:gd name="connsiteY2" fmla="*/ 0 h 317655"/>
              <a:gd name="connsiteX3" fmla="*/ 1389960 w 1389960"/>
              <a:gd name="connsiteY3" fmla="*/ 317655 h 317655"/>
              <a:gd name="connsiteX4" fmla="*/ 0 w 1389960"/>
              <a:gd name="connsiteY4" fmla="*/ 317655 h 317655"/>
              <a:gd name="connsiteX0-1" fmla="*/ 0 w 1393096"/>
              <a:gd name="connsiteY0-2" fmla="*/ 317655 h 317655"/>
              <a:gd name="connsiteX1-3" fmla="*/ 282614 w 1393096"/>
              <a:gd name="connsiteY1-4" fmla="*/ 0 h 317655"/>
              <a:gd name="connsiteX2-5" fmla="*/ 1393096 w 1393096"/>
              <a:gd name="connsiteY2-6" fmla="*/ 3 h 317655"/>
              <a:gd name="connsiteX3-7" fmla="*/ 1389960 w 1393096"/>
              <a:gd name="connsiteY3-8" fmla="*/ 317655 h 317655"/>
              <a:gd name="connsiteX4-9" fmla="*/ 0 w 1393096"/>
              <a:gd name="connsiteY4-10" fmla="*/ 317655 h 317655"/>
              <a:gd name="connsiteX0-11" fmla="*/ 0 w 1393096"/>
              <a:gd name="connsiteY0-12" fmla="*/ 317655 h 325226"/>
              <a:gd name="connsiteX1-13" fmla="*/ 282614 w 1393096"/>
              <a:gd name="connsiteY1-14" fmla="*/ 0 h 325226"/>
              <a:gd name="connsiteX2-15" fmla="*/ 1393096 w 1393096"/>
              <a:gd name="connsiteY2-16" fmla="*/ 3 h 325226"/>
              <a:gd name="connsiteX3-17" fmla="*/ 1389960 w 1393096"/>
              <a:gd name="connsiteY3-18" fmla="*/ 317655 h 325226"/>
              <a:gd name="connsiteX4-19" fmla="*/ 1126244 w 1393096"/>
              <a:gd name="connsiteY4-20" fmla="*/ 325226 h 325226"/>
              <a:gd name="connsiteX5" fmla="*/ 0 w 1393096"/>
              <a:gd name="connsiteY5" fmla="*/ 317655 h 325226"/>
              <a:gd name="connsiteX0-21" fmla="*/ 0 w 1443372"/>
              <a:gd name="connsiteY0-22" fmla="*/ 317655 h 325226"/>
              <a:gd name="connsiteX1-23" fmla="*/ 282614 w 1443372"/>
              <a:gd name="connsiteY1-24" fmla="*/ 0 h 325226"/>
              <a:gd name="connsiteX2-25" fmla="*/ 1393096 w 1443372"/>
              <a:gd name="connsiteY2-26" fmla="*/ 3 h 325226"/>
              <a:gd name="connsiteX3-27" fmla="*/ 1126244 w 1443372"/>
              <a:gd name="connsiteY3-28" fmla="*/ 325226 h 325226"/>
              <a:gd name="connsiteX4-29" fmla="*/ 0 w 1443372"/>
              <a:gd name="connsiteY4-30" fmla="*/ 317655 h 325226"/>
              <a:gd name="connsiteX0-31" fmla="*/ 0 w 1393096"/>
              <a:gd name="connsiteY0-32" fmla="*/ 317655 h 325226"/>
              <a:gd name="connsiteX1-33" fmla="*/ 282614 w 1393096"/>
              <a:gd name="connsiteY1-34" fmla="*/ 0 h 325226"/>
              <a:gd name="connsiteX2-35" fmla="*/ 1393096 w 1393096"/>
              <a:gd name="connsiteY2-36" fmla="*/ 3 h 325226"/>
              <a:gd name="connsiteX3-37" fmla="*/ 1126244 w 1393096"/>
              <a:gd name="connsiteY3-38" fmla="*/ 325226 h 325226"/>
              <a:gd name="connsiteX4-39" fmla="*/ 0 w 1393096"/>
              <a:gd name="connsiteY4-40" fmla="*/ 317655 h 325226"/>
              <a:gd name="connsiteX0-41" fmla="*/ 0 w 1393096"/>
              <a:gd name="connsiteY0-42" fmla="*/ 317655 h 325226"/>
              <a:gd name="connsiteX1-43" fmla="*/ 282614 w 1393096"/>
              <a:gd name="connsiteY1-44" fmla="*/ 0 h 325226"/>
              <a:gd name="connsiteX2-45" fmla="*/ 1393096 w 1393096"/>
              <a:gd name="connsiteY2-46" fmla="*/ 3 h 325226"/>
              <a:gd name="connsiteX3-47" fmla="*/ 1126244 w 1393096"/>
              <a:gd name="connsiteY3-48" fmla="*/ 325226 h 325226"/>
              <a:gd name="connsiteX4-49" fmla="*/ 0 w 1393096"/>
              <a:gd name="connsiteY4-50" fmla="*/ 317655 h 32522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93096" h="325226">
                <a:moveTo>
                  <a:pt x="0" y="317655"/>
                </a:moveTo>
                <a:lnTo>
                  <a:pt x="282614" y="0"/>
                </a:lnTo>
                <a:lnTo>
                  <a:pt x="1393096" y="3"/>
                </a:lnTo>
                <a:lnTo>
                  <a:pt x="1126244" y="325226"/>
                </a:lnTo>
                <a:lnTo>
                  <a:pt x="0" y="317655"/>
                </a:lnTo>
                <a:close/>
              </a:path>
            </a:pathLst>
          </a:custGeom>
          <a:solidFill>
            <a:schemeClr val="accent1">
              <a:lumMod val="60000"/>
              <a:lumOff val="40000"/>
            </a:schemeClr>
          </a:solidFill>
          <a:ln>
            <a:noFill/>
          </a:ln>
          <a:effectLst>
            <a:outerShdw blurRad="63500" sx="102000" sy="102000" algn="ctr" rotWithShape="0">
              <a:srgbClr val="ECECE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35660"/>
    </mc:Choice>
    <mc:Fallback xmlns="">
      <p:transition advTm="3566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Freeform 5"/>
          <p:cNvSpPr>
            <a:spLocks noEditPoints="1"/>
          </p:cNvSpPr>
          <p:nvPr/>
        </p:nvSpPr>
        <p:spPr>
          <a:xfrm>
            <a:off x="1870075" y="20637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
        <p:nvSpPr>
          <p:cNvPr id="3" name="矩形 2"/>
          <p:cNvSpPr/>
          <p:nvPr/>
        </p:nvSpPr>
        <p:spPr>
          <a:xfrm>
            <a:off x="0" y="0"/>
            <a:ext cx="1636713" cy="6858000"/>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3" name="直接连接符 12"/>
          <p:cNvCxnSpPr/>
          <p:nvPr/>
        </p:nvCxnSpPr>
        <p:spPr>
          <a:xfrm>
            <a:off x="0" y="260350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37" y="36528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7720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37" y="585152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148113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rotWithShape="1">
          <a:blip r:embed="rId3" cstate="print"/>
          <a:srcRect l="8888" t="6664" r="8957" b="5601"/>
          <a:stretch>
            <a:fillRect/>
          </a:stretch>
        </p:blipFill>
        <p:spPr>
          <a:xfrm>
            <a:off x="370755" y="206065"/>
            <a:ext cx="879623" cy="909956"/>
          </a:xfrm>
          <a:prstGeom prst="ellipse">
            <a:avLst/>
          </a:prstGeom>
        </p:spPr>
      </p:pic>
      <p:sp>
        <p:nvSpPr>
          <p:cNvPr id="81930" name="标题 1"/>
          <p:cNvSpPr txBox="1"/>
          <p:nvPr/>
        </p:nvSpPr>
        <p:spPr>
          <a:xfrm>
            <a:off x="2620963" y="242888"/>
            <a:ext cx="76025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未来展望</a:t>
            </a:r>
          </a:p>
        </p:txBody>
      </p:sp>
      <p:sp>
        <p:nvSpPr>
          <p:cNvPr id="54" name="文本框 53"/>
          <p:cNvSpPr txBox="1"/>
          <p:nvPr/>
        </p:nvSpPr>
        <p:spPr>
          <a:xfrm>
            <a:off x="120650" y="29305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1</a:t>
            </a:r>
          </a:p>
        </p:txBody>
      </p:sp>
      <p:sp>
        <p:nvSpPr>
          <p:cNvPr id="55" name="文本框 54"/>
          <p:cNvSpPr txBox="1"/>
          <p:nvPr/>
        </p:nvSpPr>
        <p:spPr>
          <a:xfrm>
            <a:off x="120650" y="4010025"/>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2</a:t>
            </a:r>
          </a:p>
        </p:txBody>
      </p:sp>
      <p:sp>
        <p:nvSpPr>
          <p:cNvPr id="57" name="文本框 56"/>
          <p:cNvSpPr txBox="1"/>
          <p:nvPr/>
        </p:nvSpPr>
        <p:spPr>
          <a:xfrm>
            <a:off x="117475" y="5132388"/>
            <a:ext cx="1397000" cy="40005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研究内容</a:t>
            </a:r>
            <a:r>
              <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3</a:t>
            </a:r>
          </a:p>
        </p:txBody>
      </p:sp>
      <p:sp>
        <p:nvSpPr>
          <p:cNvPr id="142" name="等腰三角形 141"/>
          <p:cNvSpPr/>
          <p:nvPr/>
        </p:nvSpPr>
        <p:spPr>
          <a:xfrm rot="16200000" flipV="1">
            <a:off x="1499394" y="6311106"/>
            <a:ext cx="417513" cy="155575"/>
          </a:xfrm>
          <a:prstGeom prst="triangl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81935" name="文本框 27"/>
          <p:cNvSpPr txBox="1"/>
          <p:nvPr/>
        </p:nvSpPr>
        <p:spPr>
          <a:xfrm>
            <a:off x="-71437" y="6180138"/>
            <a:ext cx="1754187"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zh-CN" altLang="en-US" sz="2000" b="1" dirty="0">
                <a:solidFill>
                  <a:schemeClr val="bg1"/>
                </a:solidFill>
                <a:latin typeface="微软雅黑" panose="020B0503020204020204" pitchFamily="34" charset="-122"/>
                <a:ea typeface="微软雅黑" panose="020B0503020204020204" pitchFamily="34" charset="-122"/>
              </a:rPr>
              <a:t>总结与展望</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42863" y="1857375"/>
            <a:ext cx="1517650" cy="400050"/>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rPr>
              <a:t>背景及框架</a:t>
            </a:r>
            <a:endParaRPr kumimoji="0" lang="en-US" altLang="zh-CN" sz="2000" b="1" kern="1200" cap="none" spc="0" normalizeH="0" baseline="0" noProof="0" dirty="0">
              <a:solidFill>
                <a:schemeClr val="bg1">
                  <a:lumMod val="50000"/>
                </a:schemeClr>
              </a:solidFill>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2442007" y="2015650"/>
            <a:ext cx="8998989" cy="3748719"/>
          </a:xfrm>
          <a:prstGeom prst="rect">
            <a:avLst/>
          </a:prstGeom>
        </p:spPr>
        <p:txBody>
          <a:bodyPr wrap="square">
            <a:spAutoFit/>
          </a:bodyPr>
          <a:lstStyle/>
          <a:p>
            <a:pPr indent="304800" algn="just" defTabSz="266700">
              <a:lnSpc>
                <a:spcPct val="110000"/>
              </a:lnSpc>
              <a:spcBef>
                <a:spcPct val="0"/>
              </a:spcBef>
              <a:spcAft>
                <a:spcPct val="0"/>
              </a:spcAft>
            </a:pPr>
            <a:r>
              <a:rPr lang="zh-CN" altLang="en-US" sz="1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1. 多能聚合商的类型和存在方式可以进一步扩展，本文考虑的仅仅为独立的电聚合商和热聚合商，这和目前存在的聚合商形式一致。但未来出现气聚合商，以及电热气聚合商是否会对聚合的分布式资源进行统一管理是值得思考的问题。</a:t>
            </a:r>
          </a:p>
          <a:p>
            <a:pPr indent="304800" algn="just" defTabSz="266700">
              <a:lnSpc>
                <a:spcPct val="110000"/>
              </a:lnSpc>
              <a:spcBef>
                <a:spcPct val="0"/>
              </a:spcBef>
              <a:spcAft>
                <a:spcPct val="0"/>
              </a:spcAft>
            </a:pPr>
            <a:r>
              <a:rPr lang="zh-CN" altLang="en-US" sz="1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2. 影响聚合商的不确定性因素可以进一步扩展。本文主要考虑了风光不确定因素、用户行为因素以及外部攻击对聚合商的影响，但影响聚合商的因素还包括气象因素、设备因素乃至政策因素等，建立一个全面的聚合商风险评估体系是一个重要的工作。</a:t>
            </a:r>
          </a:p>
          <a:p>
            <a:pPr indent="304800" algn="just" defTabSz="266700">
              <a:lnSpc>
                <a:spcPct val="110000"/>
              </a:lnSpc>
              <a:spcBef>
                <a:spcPct val="0"/>
              </a:spcBef>
              <a:spcAft>
                <a:spcPct val="0"/>
              </a:spcAft>
            </a:pPr>
            <a:r>
              <a:rPr lang="zh-CN" altLang="en-US" sz="1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3. 本文构建的攻击模型针对的为仅进行负荷管理的聚合商，但由于聚合商在多能信息物理系统中的作用越来越重要，考虑将负荷聚合商替换为其他分布式资源管理的聚合商是合理和必要的，通过进一步细化攻击机理以便聚合商和运营商进行更完善的防御。</a:t>
            </a:r>
          </a:p>
          <a:p>
            <a:pPr indent="304800" algn="just" defTabSz="266700">
              <a:lnSpc>
                <a:spcPct val="110000"/>
              </a:lnSpc>
              <a:spcBef>
                <a:spcPct val="0"/>
              </a:spcBef>
              <a:spcAft>
                <a:spcPct val="0"/>
              </a:spcAft>
            </a:pPr>
            <a:r>
              <a:rPr lang="zh-CN" altLang="en-US" sz="1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4. 本文提出的基于状态分解的分布式调度方法能够从源头上防御此类篡改攻击方法，但如果攻击者采用其他攻击方法，该方法的防御效果可能并不明显，因此该方法只能作为防御攻击的一道防线，后续基于此方法研究对其他网络攻击的防御是有意义的。</a:t>
            </a:r>
          </a:p>
        </p:txBody>
      </p:sp>
      <p:sp>
        <p:nvSpPr>
          <p:cNvPr id="4" name="矩形: 圆角 1"/>
          <p:cNvSpPr/>
          <p:nvPr/>
        </p:nvSpPr>
        <p:spPr>
          <a:xfrm>
            <a:off x="2203450" y="1362075"/>
            <a:ext cx="9476105" cy="5055870"/>
          </a:xfrm>
          <a:prstGeom prst="roundRect">
            <a:avLst>
              <a:gd name="adj" fmla="val 8028"/>
            </a:avLst>
          </a:prstGeom>
          <a:noFill/>
          <a:ln w="254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advTm="1711"/>
    </mc:Choice>
    <mc:Fallback xmlns="">
      <p:transition advTm="1711"/>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Freeform 5"/>
          <p:cNvSpPr>
            <a:spLocks noEditPoints="1"/>
          </p:cNvSpPr>
          <p:nvPr/>
        </p:nvSpPr>
        <p:spPr>
          <a:xfrm>
            <a:off x="137795" y="169545"/>
            <a:ext cx="639763" cy="655638"/>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cxnSp>
        <p:nvCxnSpPr>
          <p:cNvPr id="13" name="直接连接符 12"/>
          <p:cNvCxnSpPr/>
          <p:nvPr>
            <p:custDataLst>
              <p:tags r:id="rId1"/>
            </p:custDataLst>
          </p:nvPr>
        </p:nvCxnSpPr>
        <p:spPr>
          <a:xfrm>
            <a:off x="-10160" y="276669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2"/>
            </p:custDataLst>
          </p:nvPr>
        </p:nvCxnSpPr>
        <p:spPr>
          <a:xfrm>
            <a:off x="4705668" y="4392613"/>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3"/>
            </p:custDataLst>
          </p:nvPr>
        </p:nvCxnSpPr>
        <p:spPr>
          <a:xfrm>
            <a:off x="-39370" y="450596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4"/>
            </p:custDataLst>
          </p:nvPr>
        </p:nvCxnSpPr>
        <p:spPr>
          <a:xfrm>
            <a:off x="13018" y="605409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5"/>
            </p:custDataLst>
          </p:nvPr>
        </p:nvCxnSpPr>
        <p:spPr>
          <a:xfrm>
            <a:off x="-10160" y="1644333"/>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3978" name="标题 1"/>
          <p:cNvSpPr txBox="1"/>
          <p:nvPr/>
        </p:nvSpPr>
        <p:spPr>
          <a:xfrm>
            <a:off x="888683" y="206058"/>
            <a:ext cx="7602537" cy="6826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3200" b="1" dirty="0">
                <a:latin typeface="微软雅黑" panose="020B0503020204020204" pitchFamily="34" charset="-122"/>
                <a:ea typeface="微软雅黑" panose="020B0503020204020204" pitchFamily="34" charset="-122"/>
              </a:rPr>
              <a:t>攻读硕士学位期间的所做工作</a:t>
            </a:r>
          </a:p>
        </p:txBody>
      </p:sp>
      <p:sp>
        <p:nvSpPr>
          <p:cNvPr id="83986" name="Freeform 10"/>
          <p:cNvSpPr/>
          <p:nvPr>
            <p:custDataLst>
              <p:tags r:id="rId6"/>
            </p:custDataLst>
          </p:nvPr>
        </p:nvSpPr>
        <p:spPr>
          <a:xfrm>
            <a:off x="412115" y="1006475"/>
            <a:ext cx="11670665" cy="2484120"/>
          </a:xfrm>
          <a:custGeom>
            <a:avLst/>
            <a:gdLst>
              <a:gd name="txL" fmla="*/ 0 w 5228"/>
              <a:gd name="txT" fmla="*/ 0 h 6450"/>
              <a:gd name="txR" fmla="*/ 5228 w 5228"/>
              <a:gd name="txB" fmla="*/ 6450 h 6450"/>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Lst>
            <a:rect l="txL" t="txT" r="txR" b="tx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1">
              <a:alpha val="100000"/>
            </a:schemeClr>
          </a:solidFill>
          <a:ln w="19050" cap="flat" cmpd="sng">
            <a:solidFill>
              <a:schemeClr val="bg2">
                <a:alpha val="100000"/>
              </a:schemeClr>
            </a:solidFill>
            <a:prstDash val="solid"/>
            <a:round/>
            <a:headEnd type="none" w="med" len="med"/>
            <a:tailEnd type="none" w="med" len="med"/>
          </a:ln>
        </p:spPr>
        <p:txBody>
          <a:bodyPr/>
          <a:lstStyle/>
          <a:p>
            <a:endParaRPr lang="zh-CN" altLang="en-US"/>
          </a:p>
        </p:txBody>
      </p:sp>
      <p:sp>
        <p:nvSpPr>
          <p:cNvPr id="83987" name="Freeform 11"/>
          <p:cNvSpPr/>
          <p:nvPr>
            <p:custDataLst>
              <p:tags r:id="rId7"/>
            </p:custDataLst>
          </p:nvPr>
        </p:nvSpPr>
        <p:spPr>
          <a:xfrm>
            <a:off x="302578" y="1054100"/>
            <a:ext cx="139700" cy="485775"/>
          </a:xfrm>
          <a:custGeom>
            <a:avLst/>
            <a:gdLst>
              <a:gd name="txL" fmla="*/ 0 w 139"/>
              <a:gd name="txT" fmla="*/ 0 h 806"/>
              <a:gd name="txR" fmla="*/ 139 w 139"/>
              <a:gd name="txB" fmla="*/ 806 h 806"/>
            </a:gdLst>
            <a:ahLst/>
            <a:cxnLst>
              <a:cxn ang="0">
                <a:pos x="2147483646" y="0"/>
              </a:cxn>
              <a:cxn ang="0">
                <a:pos x="0" y="2147483646"/>
              </a:cxn>
              <a:cxn ang="0">
                <a:pos x="0" y="2147483646"/>
              </a:cxn>
              <a:cxn ang="0">
                <a:pos x="2147483646" y="2147483646"/>
              </a:cxn>
              <a:cxn ang="0">
                <a:pos x="2147483646" y="0"/>
              </a:cxn>
            </a:cxnLst>
            <a:rect l="txL" t="txT" r="txR" b="txB"/>
            <a:pathLst>
              <a:path w="139" h="806">
                <a:moveTo>
                  <a:pt x="139" y="0"/>
                </a:moveTo>
                <a:lnTo>
                  <a:pt x="0" y="110"/>
                </a:lnTo>
                <a:lnTo>
                  <a:pt x="0" y="806"/>
                </a:lnTo>
                <a:lnTo>
                  <a:pt x="139" y="696"/>
                </a:lnTo>
                <a:lnTo>
                  <a:pt x="139" y="0"/>
                </a:lnTo>
                <a:close/>
              </a:path>
            </a:pathLst>
          </a:custGeom>
          <a:solidFill>
            <a:schemeClr val="accent1">
              <a:alpha val="100000"/>
            </a:schemeClr>
          </a:solidFill>
          <a:ln w="9525">
            <a:noFill/>
          </a:ln>
        </p:spPr>
        <p:txBody>
          <a:bodyPr/>
          <a:lstStyle/>
          <a:p>
            <a:endParaRPr lang="zh-CN" altLang="en-US"/>
          </a:p>
        </p:txBody>
      </p:sp>
      <p:sp>
        <p:nvSpPr>
          <p:cNvPr id="32" name="Freeform 12"/>
          <p:cNvSpPr/>
          <p:nvPr>
            <p:custDataLst>
              <p:tags r:id="rId8"/>
            </p:custDataLst>
          </p:nvPr>
        </p:nvSpPr>
        <p:spPr>
          <a:xfrm>
            <a:off x="302578" y="1139825"/>
            <a:ext cx="3614738" cy="419100"/>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3989" name="TextBox 6"/>
          <p:cNvSpPr txBox="1"/>
          <p:nvPr>
            <p:custDataLst>
              <p:tags r:id="rId9"/>
            </p:custDataLst>
          </p:nvPr>
        </p:nvSpPr>
        <p:spPr>
          <a:xfrm>
            <a:off x="586740" y="1096963"/>
            <a:ext cx="2873375" cy="49149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600" b="1" dirty="0">
                <a:solidFill>
                  <a:schemeClr val="bg1"/>
                </a:solidFill>
                <a:latin typeface="微软雅黑" panose="020B0503020204020204" pitchFamily="34" charset="-122"/>
                <a:ea typeface="微软雅黑" panose="020B0503020204020204" pitchFamily="34" charset="-122"/>
              </a:rPr>
              <a:t>论文成果</a:t>
            </a:r>
          </a:p>
        </p:txBody>
      </p:sp>
      <p:sp>
        <p:nvSpPr>
          <p:cNvPr id="2" name="文本框 1"/>
          <p:cNvSpPr txBox="1"/>
          <p:nvPr>
            <p:custDataLst>
              <p:tags r:id="rId10"/>
            </p:custDataLst>
          </p:nvPr>
        </p:nvSpPr>
        <p:spPr>
          <a:xfrm>
            <a:off x="422275" y="1602740"/>
            <a:ext cx="11670665" cy="1784985"/>
          </a:xfrm>
          <a:prstGeom prst="rect">
            <a:avLst/>
          </a:prstGeom>
          <a:noFill/>
        </p:spPr>
        <p:txBody>
          <a:bodyPr wrap="square" rtlCol="0" anchor="t">
            <a:noAutofit/>
          </a:bodyPr>
          <a:lstStyle/>
          <a:p>
            <a:pPr algn="just"/>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1. Liu X R, </a:t>
            </a:r>
            <a:r>
              <a:rPr lang="en-US" altLang="zh-CN" sz="1600" b="1"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Sun S B</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 Wang Y T, Duan Z Y, Li X, Sun Q Y. Modeling and detection of false data injection attacks in cyber-physical distribution system with load aggregator interaction[J]. Sustainable Energy, Grids and Networks, 2024, 40: 101533.</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JCR 1</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区）</a:t>
            </a:r>
          </a:p>
          <a:p>
            <a:pPr algn="just"/>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2. </a:t>
            </a:r>
            <a:r>
              <a:rPr lang="en-US" altLang="zh-CN" sz="1600" b="1"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Sun S B,</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Wang Y T, Chu T F, Liu X R. The sharing transaction mechanism of multi-energy virtual power plant with flexible combined heat and power units[C]. 2024 Second International Conference on Cyber-Energy Systems and Intelligent Energy (ICCSIE).  (EI</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会议</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just"/>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刘鑫蕊</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b="1"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孙书博</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孙秋野</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王睿</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马大中</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胡旭光</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黄博南</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苏涵光</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孙振奥</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杨珺</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《一种基于聚合商双层博弈</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 FDI </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攻击的防御方法及系统》（已实审）</a:t>
            </a:r>
          </a:p>
          <a:p>
            <a:pPr algn="just"/>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4.《</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考虑云端交互的园区综合能源系统改进分布式鲁棒优化调度</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600" kern="1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在投</a:t>
            </a:r>
            <a:r>
              <a:rPr lang="en-US" altLang="zh-CN" sz="1600" kern="100" dirty="0">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cxnSp>
        <p:nvCxnSpPr>
          <p:cNvPr id="4" name="直接连接符 3"/>
          <p:cNvCxnSpPr/>
          <p:nvPr>
            <p:custDataLst>
              <p:tags r:id="rId11"/>
            </p:custDataLst>
          </p:nvPr>
        </p:nvCxnSpPr>
        <p:spPr>
          <a:xfrm>
            <a:off x="20955" y="5380355"/>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12"/>
            </p:custDataLst>
          </p:nvPr>
        </p:nvCxnSpPr>
        <p:spPr>
          <a:xfrm>
            <a:off x="62548" y="6805613"/>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13"/>
            </p:custDataLst>
          </p:nvPr>
        </p:nvCxnSpPr>
        <p:spPr>
          <a:xfrm>
            <a:off x="10160" y="4165283"/>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reeform 10"/>
          <p:cNvSpPr/>
          <p:nvPr>
            <p:custDataLst>
              <p:tags r:id="rId14"/>
            </p:custDataLst>
          </p:nvPr>
        </p:nvSpPr>
        <p:spPr>
          <a:xfrm>
            <a:off x="422275" y="3631565"/>
            <a:ext cx="11670665" cy="1614170"/>
          </a:xfrm>
          <a:custGeom>
            <a:avLst/>
            <a:gdLst>
              <a:gd name="txL" fmla="*/ 0 w 5228"/>
              <a:gd name="txT" fmla="*/ 0 h 6450"/>
              <a:gd name="txR" fmla="*/ 5228 w 5228"/>
              <a:gd name="txB" fmla="*/ 6450 h 6450"/>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Lst>
            <a:rect l="txL" t="txT" r="txR" b="tx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1">
              <a:alpha val="100000"/>
            </a:schemeClr>
          </a:solidFill>
          <a:ln w="19050" cap="flat" cmpd="sng">
            <a:solidFill>
              <a:schemeClr val="bg2">
                <a:alpha val="100000"/>
              </a:schemeClr>
            </a:solidFill>
            <a:prstDash val="solid"/>
            <a:round/>
            <a:headEnd type="none" w="med" len="med"/>
            <a:tailEnd type="none" w="med" len="med"/>
          </a:ln>
        </p:spPr>
        <p:txBody>
          <a:bodyPr/>
          <a:lstStyle/>
          <a:p>
            <a:endParaRPr lang="zh-CN" altLang="en-US"/>
          </a:p>
        </p:txBody>
      </p:sp>
      <p:sp>
        <p:nvSpPr>
          <p:cNvPr id="8" name="Freeform 11"/>
          <p:cNvSpPr/>
          <p:nvPr>
            <p:custDataLst>
              <p:tags r:id="rId15"/>
            </p:custDataLst>
          </p:nvPr>
        </p:nvSpPr>
        <p:spPr>
          <a:xfrm>
            <a:off x="312738" y="3679190"/>
            <a:ext cx="139700" cy="485775"/>
          </a:xfrm>
          <a:custGeom>
            <a:avLst/>
            <a:gdLst>
              <a:gd name="txL" fmla="*/ 0 w 139"/>
              <a:gd name="txT" fmla="*/ 0 h 806"/>
              <a:gd name="txR" fmla="*/ 139 w 139"/>
              <a:gd name="txB" fmla="*/ 806 h 806"/>
            </a:gdLst>
            <a:ahLst/>
            <a:cxnLst>
              <a:cxn ang="0">
                <a:pos x="2147483646" y="0"/>
              </a:cxn>
              <a:cxn ang="0">
                <a:pos x="0" y="2147483646"/>
              </a:cxn>
              <a:cxn ang="0">
                <a:pos x="0" y="2147483646"/>
              </a:cxn>
              <a:cxn ang="0">
                <a:pos x="2147483646" y="2147483646"/>
              </a:cxn>
              <a:cxn ang="0">
                <a:pos x="2147483646" y="0"/>
              </a:cxn>
            </a:cxnLst>
            <a:rect l="txL" t="txT" r="txR" b="txB"/>
            <a:pathLst>
              <a:path w="139" h="806">
                <a:moveTo>
                  <a:pt x="139" y="0"/>
                </a:moveTo>
                <a:lnTo>
                  <a:pt x="0" y="110"/>
                </a:lnTo>
                <a:lnTo>
                  <a:pt x="0" y="806"/>
                </a:lnTo>
                <a:lnTo>
                  <a:pt x="139" y="696"/>
                </a:lnTo>
                <a:lnTo>
                  <a:pt x="139" y="0"/>
                </a:lnTo>
                <a:close/>
              </a:path>
            </a:pathLst>
          </a:custGeom>
          <a:solidFill>
            <a:schemeClr val="accent1">
              <a:alpha val="100000"/>
            </a:schemeClr>
          </a:solidFill>
          <a:ln w="9525">
            <a:noFill/>
          </a:ln>
        </p:spPr>
        <p:txBody>
          <a:bodyPr/>
          <a:lstStyle/>
          <a:p>
            <a:endParaRPr lang="zh-CN" altLang="en-US"/>
          </a:p>
        </p:txBody>
      </p:sp>
      <p:sp>
        <p:nvSpPr>
          <p:cNvPr id="9" name="Freeform 12"/>
          <p:cNvSpPr/>
          <p:nvPr>
            <p:custDataLst>
              <p:tags r:id="rId16"/>
            </p:custDataLst>
          </p:nvPr>
        </p:nvSpPr>
        <p:spPr>
          <a:xfrm>
            <a:off x="312738" y="3764915"/>
            <a:ext cx="3614738" cy="419100"/>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TextBox 6"/>
          <p:cNvSpPr txBox="1"/>
          <p:nvPr>
            <p:custDataLst>
              <p:tags r:id="rId17"/>
            </p:custDataLst>
          </p:nvPr>
        </p:nvSpPr>
        <p:spPr>
          <a:xfrm>
            <a:off x="596900" y="3722053"/>
            <a:ext cx="2873375" cy="49149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600" b="1" dirty="0">
                <a:solidFill>
                  <a:schemeClr val="bg1"/>
                </a:solidFill>
                <a:latin typeface="微软雅黑" panose="020B0503020204020204" pitchFamily="34" charset="-122"/>
                <a:ea typeface="微软雅黑" panose="020B0503020204020204" pitchFamily="34" charset="-122"/>
              </a:rPr>
              <a:t>项目工作</a:t>
            </a:r>
          </a:p>
        </p:txBody>
      </p:sp>
      <p:sp>
        <p:nvSpPr>
          <p:cNvPr id="11" name="文本框 10"/>
          <p:cNvSpPr txBox="1"/>
          <p:nvPr>
            <p:custDataLst>
              <p:tags r:id="rId18"/>
            </p:custDataLst>
          </p:nvPr>
        </p:nvSpPr>
        <p:spPr>
          <a:xfrm>
            <a:off x="274483" y="4260818"/>
            <a:ext cx="11869727" cy="956945"/>
          </a:xfrm>
          <a:prstGeom prst="rect">
            <a:avLst/>
          </a:prstGeom>
          <a:noFill/>
        </p:spPr>
        <p:txBody>
          <a:bodyPr wrap="square" rtlCol="0" anchor="t">
            <a:noAutofit/>
          </a:bodyPr>
          <a:lstStyle/>
          <a:p>
            <a:pPr marL="342900" indent="-180000" algn="just">
              <a:buFont typeface="+mj-lt"/>
              <a:buAutoNum type="arabicPeriod"/>
            </a:pP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 国家电网公司科技项目：配电网故障信息的智能解析和知识型故障处理辅助决策研究与应用。起止时间：</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2022.11-2023.06</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p>
          <a:p>
            <a:pPr marL="342900" indent="-180000" algn="just">
              <a:buFont typeface="+mj-lt"/>
              <a:buAutoNum type="arabicPeriod"/>
            </a:pP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 国家电网公司科技项目：能量与信息交互融合的电</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热</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气</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冷耦合能源系统状态估计与分布式优化运行技术研究。起止时间：    </a:t>
            </a:r>
            <a:r>
              <a:rPr lang="en-US" altLang="zh-CN"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2023.01-2023.12</a:t>
            </a:r>
            <a:r>
              <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a:t>
            </a:r>
          </a:p>
          <a:p>
            <a:pPr algn="just"/>
            <a:endPar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cxnSp>
        <p:nvCxnSpPr>
          <p:cNvPr id="25" name="直接连接符 24"/>
          <p:cNvCxnSpPr/>
          <p:nvPr/>
        </p:nvCxnSpPr>
        <p:spPr>
          <a:xfrm>
            <a:off x="-77470" y="7269480"/>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19"/>
            </p:custDataLst>
          </p:nvPr>
        </p:nvCxnSpPr>
        <p:spPr>
          <a:xfrm>
            <a:off x="-46990" y="6131878"/>
            <a:ext cx="16367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Freeform 10"/>
          <p:cNvSpPr/>
          <p:nvPr>
            <p:custDataLst>
              <p:tags r:id="rId20"/>
            </p:custDataLst>
          </p:nvPr>
        </p:nvSpPr>
        <p:spPr>
          <a:xfrm>
            <a:off x="412750" y="5416550"/>
            <a:ext cx="11670665" cy="1377315"/>
          </a:xfrm>
          <a:custGeom>
            <a:avLst/>
            <a:gdLst>
              <a:gd name="txL" fmla="*/ 0 w 5228"/>
              <a:gd name="txT" fmla="*/ 0 h 6450"/>
              <a:gd name="txR" fmla="*/ 5228 w 5228"/>
              <a:gd name="txB" fmla="*/ 6450 h 6450"/>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Lst>
            <a:rect l="txL" t="txT" r="txR" b="tx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1">
              <a:alpha val="100000"/>
            </a:schemeClr>
          </a:solidFill>
          <a:ln w="19050"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9" name="Freeform 11"/>
          <p:cNvSpPr/>
          <p:nvPr>
            <p:custDataLst>
              <p:tags r:id="rId21"/>
            </p:custDataLst>
          </p:nvPr>
        </p:nvSpPr>
        <p:spPr>
          <a:xfrm>
            <a:off x="303213" y="5464175"/>
            <a:ext cx="139700" cy="485775"/>
          </a:xfrm>
          <a:custGeom>
            <a:avLst/>
            <a:gdLst>
              <a:gd name="txL" fmla="*/ 0 w 139"/>
              <a:gd name="txT" fmla="*/ 0 h 806"/>
              <a:gd name="txR" fmla="*/ 139 w 139"/>
              <a:gd name="txB" fmla="*/ 806 h 806"/>
            </a:gdLst>
            <a:ahLst/>
            <a:cxnLst>
              <a:cxn ang="0">
                <a:pos x="2147483646" y="0"/>
              </a:cxn>
              <a:cxn ang="0">
                <a:pos x="0" y="2147483646"/>
              </a:cxn>
              <a:cxn ang="0">
                <a:pos x="0" y="2147483646"/>
              </a:cxn>
              <a:cxn ang="0">
                <a:pos x="2147483646" y="2147483646"/>
              </a:cxn>
              <a:cxn ang="0">
                <a:pos x="2147483646" y="0"/>
              </a:cxn>
            </a:cxnLst>
            <a:rect l="txL" t="txT" r="txR" b="txB"/>
            <a:pathLst>
              <a:path w="139" h="806">
                <a:moveTo>
                  <a:pt x="139" y="0"/>
                </a:moveTo>
                <a:lnTo>
                  <a:pt x="0" y="110"/>
                </a:lnTo>
                <a:lnTo>
                  <a:pt x="0" y="806"/>
                </a:lnTo>
                <a:lnTo>
                  <a:pt x="139" y="696"/>
                </a:lnTo>
                <a:lnTo>
                  <a:pt x="139" y="0"/>
                </a:lnTo>
                <a:close/>
              </a:path>
            </a:pathLst>
          </a:custGeom>
          <a:solidFill>
            <a:schemeClr val="accent1">
              <a:alpha val="100000"/>
            </a:schemeClr>
          </a:solidFill>
          <a:ln w="9525">
            <a:noFill/>
          </a:ln>
        </p:spPr>
        <p:txBody>
          <a:bodyPr/>
          <a:lstStyle/>
          <a:p>
            <a:endParaRPr lang="zh-CN" altLang="en-US"/>
          </a:p>
        </p:txBody>
      </p:sp>
      <p:sp>
        <p:nvSpPr>
          <p:cNvPr id="30" name="Freeform 12"/>
          <p:cNvSpPr/>
          <p:nvPr>
            <p:custDataLst>
              <p:tags r:id="rId22"/>
            </p:custDataLst>
          </p:nvPr>
        </p:nvSpPr>
        <p:spPr>
          <a:xfrm>
            <a:off x="303213" y="5549900"/>
            <a:ext cx="3614738" cy="419100"/>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1" name="TextBox 6"/>
          <p:cNvSpPr txBox="1"/>
          <p:nvPr>
            <p:custDataLst>
              <p:tags r:id="rId23"/>
            </p:custDataLst>
          </p:nvPr>
        </p:nvSpPr>
        <p:spPr>
          <a:xfrm>
            <a:off x="587375" y="5507038"/>
            <a:ext cx="2873375" cy="49149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600" b="1" dirty="0">
                <a:solidFill>
                  <a:schemeClr val="bg1"/>
                </a:solidFill>
                <a:latin typeface="微软雅黑" panose="020B0503020204020204" pitchFamily="34" charset="-122"/>
                <a:ea typeface="微软雅黑" panose="020B0503020204020204" pitchFamily="34" charset="-122"/>
              </a:rPr>
              <a:t>荣誉奖励</a:t>
            </a:r>
          </a:p>
        </p:txBody>
      </p:sp>
      <p:sp>
        <p:nvSpPr>
          <p:cNvPr id="33" name="文本框 32"/>
          <p:cNvSpPr txBox="1"/>
          <p:nvPr>
            <p:custDataLst>
              <p:tags r:id="rId24"/>
            </p:custDataLst>
          </p:nvPr>
        </p:nvSpPr>
        <p:spPr>
          <a:xfrm>
            <a:off x="442278" y="5992812"/>
            <a:ext cx="11593195" cy="663575"/>
          </a:xfrm>
          <a:prstGeom prst="rect">
            <a:avLst/>
          </a:prstGeom>
          <a:noFill/>
        </p:spPr>
        <p:txBody>
          <a:bodyPr wrap="square" rtlCol="0" anchor="t">
            <a:noAutofit/>
          </a:bodyPr>
          <a:lstStyle/>
          <a:p>
            <a:pPr algn="just">
              <a:lnSpc>
                <a:spcPct val="114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1.  2022.11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东北大学硕士生一等学业奖学金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2.  2023.11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东北大学硕士生一等学业奖学金</a:t>
            </a:r>
          </a:p>
          <a:p>
            <a:pPr algn="just">
              <a:lnSpc>
                <a:spcPct val="114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en-US" altLang="zh-CN" sz="1600" dirty="0" smtClean="0">
                <a:latin typeface="Times New Roman" panose="02020603050405020304" pitchFamily="18" charset="0"/>
                <a:ea typeface="微软雅黑" panose="020B0503020204020204" pitchFamily="34" charset="-122"/>
                <a:cs typeface="Times New Roman" panose="02020603050405020304" pitchFamily="18" charset="0"/>
                <a:sym typeface="+mn-ea"/>
              </a:rPr>
              <a:t>2024.12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信息科学与工程学院优秀团员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4.  2022.07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东北大学硕士生二等学业奖学金</a:t>
            </a:r>
            <a:endParaRPr lang="zh-CN" altLang="en-US" sz="1600" kern="100" dirty="0" smtClean="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1292"/>
    </mc:Choice>
    <mc:Fallback xmlns="">
      <p:transition advTm="1292"/>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标题 1"/>
          <p:cNvSpPr txBox="1"/>
          <p:nvPr/>
        </p:nvSpPr>
        <p:spPr>
          <a:xfrm>
            <a:off x="1524000" y="3415030"/>
            <a:ext cx="9144000" cy="132397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50000"/>
              </a:lnSpc>
              <a:spcBef>
                <a:spcPct val="0"/>
              </a:spcBef>
              <a:buFontTx/>
              <a:buNone/>
            </a:pPr>
            <a:r>
              <a:rPr lang="zh-CN" altLang="en-US" sz="4400" b="1" dirty="0">
                <a:solidFill>
                  <a:srgbClr val="1C4885"/>
                </a:solidFill>
                <a:latin typeface="微软雅黑" panose="020B0503020204020204" pitchFamily="34" charset="-122"/>
                <a:ea typeface="微软雅黑" panose="020B0503020204020204" pitchFamily="34" charset="-122"/>
              </a:rPr>
              <a:t>感 谢 各 位 老 师 的 指 导</a:t>
            </a:r>
            <a:endParaRPr lang="en-US" altLang="zh-CN" sz="4400" b="1" dirty="0">
              <a:solidFill>
                <a:srgbClr val="1C4885"/>
              </a:solidFill>
              <a:latin typeface="微软雅黑" panose="020B0503020204020204" pitchFamily="34" charset="-122"/>
              <a:ea typeface="微软雅黑" panose="020B0503020204020204" pitchFamily="34" charset="-122"/>
            </a:endParaRPr>
          </a:p>
        </p:txBody>
      </p:sp>
      <p:pic>
        <p:nvPicPr>
          <p:cNvPr id="86019" name="图片 2"/>
          <p:cNvPicPr>
            <a:picLocks noChangeAspect="1"/>
          </p:cNvPicPr>
          <p:nvPr/>
        </p:nvPicPr>
        <p:blipFill>
          <a:blip r:embed="rId3"/>
          <a:stretch>
            <a:fillRect/>
          </a:stretch>
        </p:blipFill>
        <p:spPr>
          <a:xfrm>
            <a:off x="419100" y="393700"/>
            <a:ext cx="1976438" cy="735013"/>
          </a:xfrm>
          <a:prstGeom prst="rect">
            <a:avLst/>
          </a:prstGeom>
          <a:noFill/>
          <a:ln w="9525">
            <a:noFill/>
          </a:ln>
        </p:spPr>
      </p:pic>
      <p:sp>
        <p:nvSpPr>
          <p:cNvPr id="86020" name="Freeform 5"/>
          <p:cNvSpPr>
            <a:spLocks noEditPoints="1"/>
          </p:cNvSpPr>
          <p:nvPr/>
        </p:nvSpPr>
        <p:spPr>
          <a:xfrm>
            <a:off x="5538788" y="2235200"/>
            <a:ext cx="1114425" cy="996950"/>
          </a:xfrm>
          <a:custGeom>
            <a:avLst/>
            <a:gdLst>
              <a:gd name="txL" fmla="*/ 0 w 528"/>
              <a:gd name="txT" fmla="*/ 0 h 471"/>
              <a:gd name="txR" fmla="*/ 528 w 528"/>
              <a:gd name="txB" fmla="*/ 471 h 47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rgbClr val="1C4885">
              <a:alpha val="100000"/>
            </a:srgbClr>
          </a:solidFill>
          <a:ln w="9525">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5148"/>
    </mc:Choice>
    <mc:Fallback xmlns="">
      <p:transition advTm="5148"/>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12]}"/>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TIMING" val="|0"/>
  <p:tag name="RESOURCE_RECORD_KEY" val="{&quot;13&quot;:[4364912]}"/>
</p:tagLst>
</file>

<file path=ppt/tags/tag25.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SubTitle"/>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3"/>
</p:tagLst>
</file>

<file path=ppt/tags/tag27.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8"/>
</p:tagLst>
</file>

<file path=ppt/tags/tag28.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9"/>
</p:tagLst>
</file>

<file path=ppt/tags/tag29.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10"/>
</p:tagLst>
</file>

<file path=ppt/tags/tag30.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SubTitle"/>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SubTitle"/>
  <p:tag name="MH_ORDER" val="3"/>
</p:tagLst>
</file>

<file path=ppt/tags/tag32.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3"/>
</p:tagLst>
</file>

<file path=ppt/tags/tag33.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5"/>
</p:tagLst>
</file>

<file path=ppt/tags/tag34.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3"/>
</p:tagLst>
</file>

<file path=ppt/tags/tag35.xml><?xml version="1.0" encoding="utf-8"?>
<p:tagLst xmlns:a="http://schemas.openxmlformats.org/drawingml/2006/main" xmlns:r="http://schemas.openxmlformats.org/officeDocument/2006/relationships" xmlns:p="http://schemas.openxmlformats.org/presentationml/2006/main">
  <p:tag name="MH" val="20160513143149"/>
  <p:tag name="MH_LIBRARY" val="GRAPHIC"/>
  <p:tag name="MH_TYPE" val="Other"/>
  <p:tag name="MH_ORDER" val="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71.25,&quot;left&quot;:-6.1,&quot;top&quot;:66.4,&quot;width&quot;:958.3}"/>
</p:tagLst>
</file>

<file path=ppt/theme/theme1.xml><?xml version="1.0" encoding="utf-8"?>
<a:theme xmlns:a="http://schemas.openxmlformats.org/drawingml/2006/main" name="第一PPT，www.1ppt.com">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5E8C6"/>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1625</TotalTime>
  <Words>4899</Words>
  <Application>Microsoft Office PowerPoint</Application>
  <PresentationFormat>宽屏</PresentationFormat>
  <Paragraphs>629</Paragraphs>
  <Slides>33</Slides>
  <Notes>33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33</vt:i4>
      </vt:variant>
    </vt:vector>
  </HeadingPairs>
  <TitlesOfParts>
    <vt:vector size="50" baseType="lpstr">
      <vt:lpstr>Adobe Gothic Std B</vt:lpstr>
      <vt:lpstr>黑体</vt:lpstr>
      <vt:lpstr>华文细黑</vt:lpstr>
      <vt:lpstr>楷体</vt:lpstr>
      <vt:lpstr>宋体</vt:lpstr>
      <vt:lpstr>微软雅黑</vt:lpstr>
      <vt:lpstr>Arial</vt:lpstr>
      <vt:lpstr>Calibri</vt:lpstr>
      <vt:lpstr>Calibri Light</vt:lpstr>
      <vt:lpstr>Century Gothic</vt:lpstr>
      <vt:lpstr>Impact</vt:lpstr>
      <vt:lpstr>Times New Roman</vt:lpstr>
      <vt:lpstr>第一PPT，www.1ppt.com</vt:lpstr>
      <vt:lpstr>Microsoft Visio 绘图</vt:lpstr>
      <vt:lpstr>Visio</vt:lpstr>
      <vt:lpstr>MathType 7.0 Equation</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孙书博</cp:lastModifiedBy>
  <cp:revision>1049</cp:revision>
  <dcterms:created xsi:type="dcterms:W3CDTF">2016-04-18T02:22:00Z</dcterms:created>
  <dcterms:modified xsi:type="dcterms:W3CDTF">2025-05-13T13:44:10Z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3C94A03EC61B4B36AB2EE76512C2800E_13</vt:lpwstr>
  </property>
</Properties>
</file>